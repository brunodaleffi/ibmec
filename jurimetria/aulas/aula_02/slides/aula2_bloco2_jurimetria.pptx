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</p:sldIdLst>
  <p:sldSz cy="5143500" cx="9144000"/>
  <p:notesSz cx="51435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5oWEV931oxANsAAKpH6PvK4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rialBlack-regular.fntdata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2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JURIMETRIA E ANÁLISE DE DADOS PARA DECISÕES ESTRATÉGICAS</a:t>
            </a:r>
          </a:p>
        </p:txBody>
      </p:sp>
      <p:sp>
        <p:nvSpPr>
          <p:cNvPr id="11" name="rect1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Aula 2 · Bloco 2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97280" y="333756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Ciclo da Ciência de Dados Aplicado ao Direito (Parte 1)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1097280" y="3700000"/>
            <a:ext cx="54864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Etapa 3: coletar com método, ética e cuidado com vieses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Agenda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vamos percorrer nas próximas 1h50min</a:t>
            </a:r>
          </a:p>
        </p:txBody>
      </p:sp>
      <p:sp>
        <p:nvSpPr>
          <p:cNvPr id="50" name="el50"/>
          <p:cNvSpPr/>
          <p:nvPr/>
        </p:nvSpPr>
        <p:spPr>
          <a:xfrm>
            <a:off x="785321" y="17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70945" y="17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3: o que é coletar</a:t>
            </a:r>
          </a:p>
        </p:txBody>
      </p:sp>
      <p:sp>
        <p:nvSpPr>
          <p:cNvPr id="52" name="el52"/>
          <p:cNvSpPr/>
          <p:nvPr/>
        </p:nvSpPr>
        <p:spPr>
          <a:xfrm>
            <a:off x="4640749" y="17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5226372" y="17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3 fontes: pública, interna, externa</a:t>
            </a:r>
          </a:p>
        </p:txBody>
      </p:sp>
      <p:sp>
        <p:nvSpPr>
          <p:cNvPr id="54" name="el54"/>
          <p:cNvSpPr/>
          <p:nvPr/>
        </p:nvSpPr>
        <p:spPr>
          <a:xfrm>
            <a:off x="785321" y="23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70945" y="23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3 tipos: manual, scraping, API</a:t>
            </a:r>
          </a:p>
        </p:txBody>
      </p:sp>
      <p:sp>
        <p:nvSpPr>
          <p:cNvPr id="56" name="el56"/>
          <p:cNvSpPr/>
          <p:nvPr/>
        </p:nvSpPr>
        <p:spPr>
          <a:xfrm>
            <a:off x="4640749" y="23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5226372" y="23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Web scraping e seus limites</a:t>
            </a:r>
          </a:p>
        </p:txBody>
      </p:sp>
      <p:sp>
        <p:nvSpPr>
          <p:cNvPr id="58" name="el58"/>
          <p:cNvSpPr/>
          <p:nvPr/>
        </p:nvSpPr>
        <p:spPr>
          <a:xfrm>
            <a:off x="785321" y="29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70945" y="29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APIs públicas e DataJud</a:t>
            </a:r>
          </a:p>
        </p:txBody>
      </p:sp>
      <p:sp>
        <p:nvSpPr>
          <p:cNvPr id="60" name="el60"/>
          <p:cNvSpPr/>
          <p:nvPr/>
        </p:nvSpPr>
        <p:spPr>
          <a:xfrm>
            <a:off x="4640749" y="29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5226372" y="29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LGPD e vieses de amostragem</a:t>
            </a:r>
          </a:p>
        </p:txBody>
      </p:sp>
      <p:sp>
        <p:nvSpPr>
          <p:cNvPr id="62" name="el62"/>
          <p:cNvSpPr/>
          <p:nvPr/>
        </p:nvSpPr>
        <p:spPr>
          <a:xfrm>
            <a:off x="785321" y="35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1370945" y="35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Como nasceu a base de 16.110 julgados</a:t>
            </a:r>
          </a:p>
        </p:txBody>
      </p:sp>
      <p:sp>
        <p:nvSpPr>
          <p:cNvPr id="64" name="el64"/>
          <p:cNvSpPr/>
          <p:nvPr/>
        </p:nvSpPr>
        <p:spPr>
          <a:xfrm>
            <a:off x="4640749" y="35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8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5226372" y="35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Atividade Prática 2 e fechamento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Objetivos de Aprendizagem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Ao final deste bloco, você será capaz de</a:t>
            </a:r>
          </a:p>
        </p:txBody>
      </p:sp>
      <p:sp>
        <p:nvSpPr>
          <p:cNvPr id="50" name="el50"/>
          <p:cNvSpPr/>
          <p:nvPr/>
        </p:nvSpPr>
        <p:spPr>
          <a:xfrm>
            <a:off x="790000" y="178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1" name="tb51"/>
          <p:cNvSpPr txBox="1"/>
          <p:nvPr/>
        </p:nvSpPr>
        <p:spPr>
          <a:xfrm>
            <a:off x="1060000" y="175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Identificar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900000" y="175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 3 grandes fontes de dados jurídicos no Brasil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30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60000" y="227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Distinguir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2900000" y="227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coleta manual, web scraping e uso de APIs públicas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282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60000" y="279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Avaliar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2900000" y="279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limites legais e éticos da coleta de dados judiciais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34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60000" y="331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Reconhecer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2900000" y="331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vieses de amostragem comuns na prática jurídica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86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60000" y="383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Documentar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2900000" y="383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uma coleta de modo reproduzível e defensável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Voltando do intervalo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pergunta e do mapeamento à coleta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6950000" cy="3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Bloco 1, saímos com uma pergunta investigável e uma tabela analítica mínima como destino.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200000"/>
            <a:ext cx="6950000" cy="20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Agora a tarefa é encher essa tabela com dados reais. É a Etapa 3 do ciclo.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Coletar com método é o que separa um estudo jurimétrico defensável de uma planilha improvisada.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Vamos ver fontes, tipos de coleta, limites legais e como construímos a base de 16.110 julgados do XY&amp;A.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3: coletar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Onde estão os dados e como eles chegam até a tabela analítica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é coletar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Coletar é ir buscar, em fontes confiáveis, os valores que vão preencher cada coluna da tabela analítica desenhada na Etapa 2.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É a etapa em que o plano vira dado. Por isso, depende diretamente da qualidade da pergunta e do mapeamento feitos antes.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Coleta sem pergunta clara é pesca. E peixe demais na rede atrapalha tanto quanto peixe de menos.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Wheelan (2016)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universo a coletar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800000"/>
            <a:ext cx="6950000" cy="140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84,8 mi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3300000"/>
            <a:ext cx="6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processos em tramitação no Judiciário brasileiro em 2023, segundo o Justiça em Números do CNJ. Coletar é, antes de tudo, recortar.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CNJ, Justiça em Números (2024)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Coleta começa pela tabela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Princípio: a tabela do Bloco 1 vira plano de coleta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coluna da tabela analítica é uma busca a ser feita: qual fonte fornece esse dado, em que formato e com que cobertura.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linha é uma unidade de observação: tipicamente um processo, uma sentença ou um movimento processual.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essa correspondência tabela → fontes, a coleta vira improviso e a análise herda o improviso.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grandes fontes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3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Fonte</a:t>
            </a:r>
          </a:p>
        </p:txBody>
      </p:sp>
      <p:sp>
        <p:nvSpPr>
          <p:cNvPr id="51" name="rect51"/>
          <p:cNvSpPr/>
          <p:nvPr/>
        </p:nvSpPr>
        <p:spPr>
          <a:xfrm>
            <a:off x="2050000" y="1780000"/>
            <a:ext cx="27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Exemplos</a:t>
            </a:r>
          </a:p>
        </p:txBody>
      </p:sp>
      <p:sp>
        <p:nvSpPr>
          <p:cNvPr id="52" name="rect52"/>
          <p:cNvSpPr/>
          <p:nvPr/>
        </p:nvSpPr>
        <p:spPr>
          <a:xfrm>
            <a:off x="4750000" y="1780000"/>
            <a:ext cx="29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O que esperar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Pública</a:t>
            </a:r>
          </a:p>
        </p:txBody>
      </p:sp>
      <p:sp>
        <p:nvSpPr>
          <p:cNvPr id="54" name="rect54"/>
          <p:cNvSpPr/>
          <p:nvPr/>
        </p:nvSpPr>
        <p:spPr>
          <a:xfrm>
            <a:off x="2050000" y="2160000"/>
            <a:ext cx="2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DataJud (CNJ), JusBrasil, e-SAJ, PJe, painéis de tribunais</a:t>
            </a:r>
          </a:p>
        </p:txBody>
      </p:sp>
      <p:sp>
        <p:nvSpPr>
          <p:cNvPr id="55" name="rect55"/>
          <p:cNvSpPr/>
          <p:nvPr/>
        </p:nvSpPr>
        <p:spPr>
          <a:xfrm>
            <a:off x="4750000" y="216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Padronizada, com cobertura nacional, mas variável por tribunal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Interna</a:t>
            </a:r>
          </a:p>
        </p:txBody>
      </p:sp>
      <p:sp>
        <p:nvSpPr>
          <p:cNvPr id="57" name="rect57"/>
          <p:cNvSpPr/>
          <p:nvPr/>
        </p:nvSpPr>
        <p:spPr>
          <a:xfrm>
            <a:off x="2050000" y="2480000"/>
            <a:ext cx="2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Sistema do escritório, planilhas de controle, e-mails</a:t>
            </a:r>
          </a:p>
        </p:txBody>
      </p:sp>
      <p:sp>
        <p:nvSpPr>
          <p:cNvPr id="58" name="rect58"/>
          <p:cNvSpPr/>
          <p:nvPr/>
        </p:nvSpPr>
        <p:spPr>
          <a:xfrm>
            <a:off x="4750000" y="2480000"/>
            <a:ext cx="29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Próxima da realidade do caso, porém pouco padronizada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Externa</a:t>
            </a:r>
          </a:p>
        </p:txBody>
      </p:sp>
      <p:sp>
        <p:nvSpPr>
          <p:cNvPr id="60" name="rect60"/>
          <p:cNvSpPr/>
          <p:nvPr/>
        </p:nvSpPr>
        <p:spPr>
          <a:xfrm>
            <a:off x="2050000" y="2800000"/>
            <a:ext cx="2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IBGE, Receita Federal, Bacen, Censo, dados de mercado</a:t>
            </a:r>
          </a:p>
        </p:txBody>
      </p:sp>
      <p:sp>
        <p:nvSpPr>
          <p:cNvPr id="61" name="rect61"/>
          <p:cNvSpPr/>
          <p:nvPr/>
        </p:nvSpPr>
        <p:spPr>
          <a:xfrm>
            <a:off x="4750000" y="280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Contexto socioeconômico para enriquecer a base jurídica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ABJ (relatórios)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Mini-caso XY&amp;A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Combinando fontes em uma única tabela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Fonte interna: planilhas do XY&amp;A com número do processo, cliente e valor da causa estimado.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Fonte pública: DataJud para classe, assunto, vara, datas de movimentos e desfecho oficial.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Fonte externa: Bacen para corrigir valores históricos e IBGE para contextualizar comarcas.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/ DataJud (2024)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Tipos de coleta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Manual, web scraping e APIs públicas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tipos de coleta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Manual: o operador lê e tabula processo a processo. Demorado, mas viável para o advogado sem programação.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Web scraping: um programa visita páginas públicas e extrai informação. Acelera muito, exige cuidado técnico e jurídico.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API: o tribunal ou órgão expõe os dados em formato estruturado e estável. É o caminho mais limpo, quando existe.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Coleta manual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A saída do advogado sem programação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Faz sentido quando o número de processos é pequeno ou quando só uma fração da informação está em texto livre.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Combine com amostragem aleatória, vista na Aula 1: 100 processos bem escolhidos podem responder mais que 10.000 mal lidos.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Padronize a planilha de tabulação antes de começar. Toda mudança de critério no meio do caminho gera dado sujo.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Nunes (2019)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Web scraping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Quando o tribunal não oferece API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Programa abre a página pública de consulta processual, lê o conteúdo e grava em uma tabela. Repete para milhares de processos.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Útil para tribunais que ainda não publicam dados estruturados, mas cuja consulta processual é aberta.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Não é mágica: páginas mudam, captchas aparecem, e o ritmo precisa ser respeitoso para não derrubar o serviço.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APIs públicas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O caminho mais limpo, quando existe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API é um endereço que devolve dados já organizados (JSON), em vez de uma página de consulta.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DataJud, do CNJ, é a principal API jurídica brasileira hoje, com cobertura de todos os tribunais cadastrados.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Tribunais como TJSP e TJRJ também publicam APIs próprias para consultas específicas, com regras de uso e limites.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/ DataJud (2024)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Quando cada tipo faz sentido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4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Cenário</a:t>
            </a:r>
          </a:p>
        </p:txBody>
      </p:sp>
      <p:sp>
        <p:nvSpPr>
          <p:cNvPr id="51" name="rect51"/>
          <p:cNvSpPr/>
          <p:nvPr/>
        </p:nvSpPr>
        <p:spPr>
          <a:xfrm>
            <a:off x="3150000" y="1780000"/>
            <a:ext cx="17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Recomendado</a:t>
            </a:r>
          </a:p>
        </p:txBody>
      </p:sp>
      <p:sp>
        <p:nvSpPr>
          <p:cNvPr id="52" name="rect52"/>
          <p:cNvSpPr/>
          <p:nvPr/>
        </p:nvSpPr>
        <p:spPr>
          <a:xfrm>
            <a:off x="4850000" y="1780000"/>
            <a:ext cx="28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Por quê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2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Até ~200 processos, com leitura de teor</a:t>
            </a:r>
          </a:p>
        </p:txBody>
      </p:sp>
      <p:sp>
        <p:nvSpPr>
          <p:cNvPr id="54" name="rect54"/>
          <p:cNvSpPr/>
          <p:nvPr/>
        </p:nvSpPr>
        <p:spPr>
          <a:xfrm>
            <a:off x="3150000" y="216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Manual + amostragem</a:t>
            </a:r>
          </a:p>
        </p:txBody>
      </p:sp>
      <p:sp>
        <p:nvSpPr>
          <p:cNvPr id="55" name="rect55"/>
          <p:cNvSpPr/>
          <p:nvPr/>
        </p:nvSpPr>
        <p:spPr>
          <a:xfrm>
            <a:off x="4850000" y="2160000"/>
            <a:ext cx="28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Volume cabe na mão; nuances exigem leitura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2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Milhares, sem API, página pública</a:t>
            </a:r>
          </a:p>
        </p:txBody>
      </p:sp>
      <p:sp>
        <p:nvSpPr>
          <p:cNvPr id="57" name="rect57"/>
          <p:cNvSpPr/>
          <p:nvPr/>
        </p:nvSpPr>
        <p:spPr>
          <a:xfrm>
            <a:off x="3150000" y="248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Web scraping responsável</a:t>
            </a:r>
          </a:p>
        </p:txBody>
      </p:sp>
      <p:sp>
        <p:nvSpPr>
          <p:cNvPr id="58" name="rect58"/>
          <p:cNvSpPr/>
          <p:nvPr/>
        </p:nvSpPr>
        <p:spPr>
          <a:xfrm>
            <a:off x="4850000" y="2480000"/>
            <a:ext cx="28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API ausente, mas dado existe em HTML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2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Cobertura nacional ou multi-tribunal</a:t>
            </a:r>
          </a:p>
        </p:txBody>
      </p:sp>
      <p:sp>
        <p:nvSpPr>
          <p:cNvPr id="60" name="rect60"/>
          <p:cNvSpPr/>
          <p:nvPr/>
        </p:nvSpPr>
        <p:spPr>
          <a:xfrm>
            <a:off x="3150000" y="280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API (DataJud)</a:t>
            </a:r>
          </a:p>
        </p:txBody>
      </p:sp>
      <p:sp>
        <p:nvSpPr>
          <p:cNvPr id="61" name="rect61"/>
          <p:cNvSpPr/>
          <p:nvPr/>
        </p:nvSpPr>
        <p:spPr>
          <a:xfrm>
            <a:off x="4850000" y="2800000"/>
            <a:ext cx="28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Padroniza colunas e evita raspar 90 sites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2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Dado interno do escritório</a:t>
            </a:r>
          </a:p>
        </p:txBody>
      </p:sp>
      <p:sp>
        <p:nvSpPr>
          <p:cNvPr id="63" name="rect63"/>
          <p:cNvSpPr/>
          <p:nvPr/>
        </p:nvSpPr>
        <p:spPr>
          <a:xfrm>
            <a:off x="3150000" y="312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Exportação direta</a:t>
            </a:r>
          </a:p>
        </p:txBody>
      </p:sp>
      <p:sp>
        <p:nvSpPr>
          <p:cNvPr id="64" name="rect64"/>
          <p:cNvSpPr/>
          <p:nvPr/>
        </p:nvSpPr>
        <p:spPr>
          <a:xfrm>
            <a:off x="4850000" y="3120000"/>
            <a:ext cx="28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Já está em sistema próprio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ABJ (relatórios)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Scraping e APIs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Como funcionam, quando valem a pena, quais os limites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Web scraping na prática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 robô abre a consulta processual pública, identifica os campos de interesse (vara, partes, datas) e copia para uma planilha.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Para o advogado, raramente é trabalho de fazer sozinho. Mais comum: contratar um time técnico ou uma plataforma especializada.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Mesmo terceirizada, a coleta é responsabilidade do escritório: o que entra na base define a qualidade de tudo que vier depois.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ABJ (relatórios)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Cuidados ao raspar dados públicos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Termos de uso e robots.txt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Páginas públicas podem proibir coleta automatizada. Verifique termos de uso e o arquivo robots.txt antes de raspar.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60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Ritmo e impacto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Raspar rápido demais derruba o serviço público. Use intervalos, paralelismo moderado e identificação clara do robô.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Dados sensíveis pelo caminho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Mesmo em consulta pública, segredo de justiça e dados de pessoas físicas exigem filtros antes de armazenar e compartilhar.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LGPD, Lei 13.709/2018; CNJ (2024)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APIs públicas no Direito brasileiro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DataJud é a base nacional de dados do Poder Judiciário, mantida pelo CNJ, com microdados de processos de quase todos os tribunais.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Permite filtrar por tribunal, classe processual, assunto, datas e movimentos, com cadastro prévio e respeito aos limites de consulta.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Painéis derivados, como o Justiça em Números, mostram o agregado, mas a API entrega o microdado para análise jurimétrica própria.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/ DataJud (2024)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DataJud em números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800000"/>
            <a:ext cx="6950000" cy="140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+90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3300000"/>
            <a:ext cx="6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tribunais brasileiros publicam microdados processuais via DataJud, viabilizando estudos jurimétricos de cobertura nacional.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CNJ, DataJud (2024)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Scraping vs. API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33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Web scraping</a:t>
            </a:r>
          </a:p>
        </p:txBody>
      </p:sp>
      <p:sp>
        <p:nvSpPr>
          <p:cNvPr id="51" name="rect51"/>
          <p:cNvSpPr/>
          <p:nvPr/>
        </p:nvSpPr>
        <p:spPr>
          <a:xfrm>
            <a:off x="4330000" y="1780000"/>
            <a:ext cx="33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API pública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Funciona quando não há API.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Frágil: muda o site, quebra a coleta.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Custo técnico recorrente.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Limites legais e éticos a respeitar.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33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Estável e estruturada.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Dados padronizados, prontos para tabela.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Cobertura definida pelo provedor.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Cadastro e regras de uso explícitas.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ABJ (relatórios)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Ética, LGPD e vieses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que coletar com responsabilidade exige do advogado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LGPD para o jurimetrista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LGPD se aplica a dados pessoais, mesmo quando vêm de fontes públicas como tribunais. Ser público não é sinônimo de ser livre para qualquer uso.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Tratamento legítimo exige base legal, finalidade clara, limitação ao necessário e cuidados de segurança no armazenamento.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Para advogados, o exercício regular do direito e o cumprimento de obrigação legal são bases típicas, mas pesquisa e estudo jurimétrico exigem análise específica.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LGPD, Lei 13.709/2018; CNJ (2024)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cuidados práticos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Anonimizar quando possível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Para análises agregadas (taxas, médias por vara), nomes de partes não agregam valor. Substitua por identificadores antes de compartilhar.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60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Finalidade declarada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Coletar para gestão da carteira é finalidade. Coletar para depois decidir o que fazer não é. Documente a finalidade antes da coleta.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Compartilhamento controlado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Bases jurimétricas circulam por e-mail e nuvem com facilidade. Trate a base como peça processual: acesso restrito e log de quem acessou.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LGPD, Lei 13.709/2018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Vieses de amostragem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Viés de amostragem aparece quando a base que temos não representa o universo sobre o qual queremos concluir.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Muitas vezes não está nos dados em si, e sim em como foram coletados: que processos chegam ao escritório, que decisões aparecem em painel, que casos viram notícia.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juízo, é o equivalente a usar prova testemunhal selecionada apenas pelo lado que convém. O resultado parece sólido, mas não sustenta análise crítica.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vieses clássicos na coleta jurídica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Viés de seleção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A carteira do escritório é resultado de captação, não amostra aleatória do TJSP. Conclusões valem para a carteira, não para o tribunal inteiro.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60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Viés de sobrevivência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Análise só sobre casos transitados em julgado ignora os ainda em curso, que podem ter perfil diferente. A média do que terminou não é a média do que existe.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Viés de publicação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Decisões que viram acórdão e aparecem em painel não são uma amostra neutra. Sentenças de 1º grau, especialmente as não recorridas, somem do radar.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(2013); Nunes (2019)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Mini-caso XY&amp;A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Viés escondido na carteira de renovatórias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Sócio do XY&amp;A afirma: nossa taxa de êxito em renovatória é alta, então o tribunal tende a favorecer locador.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Viés de seleção: os 13.201 processos de renovatória do XY&amp;A vêm de clientes que já chegaram dispostos a litigar, não de uma amostra aleatória do TJSP.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Conclusão correta: a taxa é da carteira do XY&amp;A. Para inferir sobre o tribunal, é preciso comparar com a base nacional, vinda do DataJud.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CNJ (2024)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Como nasceu a base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16.110 julgados de locação do TJSP, 2010 a 2024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Critérios da base do trabalho final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Decisões de coleta que definem a população analítica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Tribunal: TJSP. Recorte permite comparar comarcas e varas dentro de um mesmo regime processual.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Matéria: ações de revisão de aluguel e renovatória de locação, com a parte figurando como pessoa jurídica.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Período: 2010 a 2024. Cobre dois ciclos econômicos relevantes para o mercado de locação comercial.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Natureza: a base é tratada como população completa para fins do exercício, não como amostra.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/ DataJud (2024); TJSP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Filtros aplicados na coleta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5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Filtro</a:t>
            </a:r>
          </a:p>
        </p:txBody>
      </p:sp>
      <p:sp>
        <p:nvSpPr>
          <p:cNvPr id="51" name="rect51"/>
          <p:cNvSpPr/>
          <p:nvPr/>
        </p:nvSpPr>
        <p:spPr>
          <a:xfrm>
            <a:off x="2250000" y="1780000"/>
            <a:ext cx="19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Valor</a:t>
            </a:r>
          </a:p>
        </p:txBody>
      </p:sp>
      <p:sp>
        <p:nvSpPr>
          <p:cNvPr id="52" name="rect52"/>
          <p:cNvSpPr/>
          <p:nvPr/>
        </p:nvSpPr>
        <p:spPr>
          <a:xfrm>
            <a:off x="4150000" y="1780000"/>
            <a:ext cx="35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Por quê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Tribunal</a:t>
            </a:r>
          </a:p>
        </p:txBody>
      </p:sp>
      <p:sp>
        <p:nvSpPr>
          <p:cNvPr id="54" name="rect54"/>
          <p:cNvSpPr/>
          <p:nvPr/>
        </p:nvSpPr>
        <p:spPr>
          <a:xfrm>
            <a:off x="2250000" y="2160000"/>
            <a:ext cx="19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TJSP</a:t>
            </a:r>
          </a:p>
        </p:txBody>
      </p:sp>
      <p:sp>
        <p:nvSpPr>
          <p:cNvPr id="55" name="rect55"/>
          <p:cNvSpPr/>
          <p:nvPr/>
        </p:nvSpPr>
        <p:spPr>
          <a:xfrm>
            <a:off x="4150000" y="2160000"/>
            <a:ext cx="35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Maior volume de locação comercial do país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5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Classe</a:t>
            </a:r>
          </a:p>
        </p:txBody>
      </p:sp>
      <p:sp>
        <p:nvSpPr>
          <p:cNvPr id="57" name="rect57"/>
          <p:cNvSpPr/>
          <p:nvPr/>
        </p:nvSpPr>
        <p:spPr>
          <a:xfrm>
            <a:off x="2250000" y="2480000"/>
            <a:ext cx="19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Revisão e renovatória</a:t>
            </a:r>
          </a:p>
        </p:txBody>
      </p:sp>
      <p:sp>
        <p:nvSpPr>
          <p:cNvPr id="58" name="rect58"/>
          <p:cNvSpPr/>
          <p:nvPr/>
        </p:nvSpPr>
        <p:spPr>
          <a:xfrm>
            <a:off x="4150000" y="2480000"/>
            <a:ext cx="35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Foco da carteira XY&amp;A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Parte</a:t>
            </a:r>
          </a:p>
        </p:txBody>
      </p:sp>
      <p:sp>
        <p:nvSpPr>
          <p:cNvPr id="60" name="rect60"/>
          <p:cNvSpPr/>
          <p:nvPr/>
        </p:nvSpPr>
        <p:spPr>
          <a:xfrm>
            <a:off x="2250000" y="2800000"/>
            <a:ext cx="19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Pessoa jurídica</a:t>
            </a:r>
          </a:p>
        </p:txBody>
      </p:sp>
      <p:sp>
        <p:nvSpPr>
          <p:cNvPr id="61" name="rect61"/>
          <p:cNvSpPr/>
          <p:nvPr/>
        </p:nvSpPr>
        <p:spPr>
          <a:xfrm>
            <a:off x="4150000" y="2800000"/>
            <a:ext cx="35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Recorte do contencioso de massa do XY&amp;A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15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Período</a:t>
            </a:r>
          </a:p>
        </p:txBody>
      </p:sp>
      <p:sp>
        <p:nvSpPr>
          <p:cNvPr id="63" name="rect63"/>
          <p:cNvSpPr/>
          <p:nvPr/>
        </p:nvSpPr>
        <p:spPr>
          <a:xfrm>
            <a:off x="2250000" y="3120000"/>
            <a:ext cx="19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2010 a 2024</a:t>
            </a:r>
          </a:p>
        </p:txBody>
      </p:sp>
      <p:sp>
        <p:nvSpPr>
          <p:cNvPr id="64" name="rect64"/>
          <p:cNvSpPr/>
          <p:nvPr/>
        </p:nvSpPr>
        <p:spPr>
          <a:xfrm>
            <a:off x="4150000" y="3120000"/>
            <a:ext cx="35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15 anos cobrem ciclos de mercado</a:t>
            </a:r>
          </a:p>
        </p:txBody>
      </p:sp>
      <p:sp>
        <p:nvSpPr>
          <p:cNvPr id="65" name="rect65"/>
          <p:cNvSpPr/>
          <p:nvPr/>
        </p:nvSpPr>
        <p:spPr>
          <a:xfrm>
            <a:off x="750000" y="344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Status</a:t>
            </a:r>
          </a:p>
        </p:txBody>
      </p:sp>
      <p:sp>
        <p:nvSpPr>
          <p:cNvPr id="66" name="rect66"/>
          <p:cNvSpPr/>
          <p:nvPr/>
        </p:nvSpPr>
        <p:spPr>
          <a:xfrm>
            <a:off x="2250000" y="3440000"/>
            <a:ext cx="19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Com sentença</a:t>
            </a:r>
          </a:p>
        </p:txBody>
      </p:sp>
      <p:sp>
        <p:nvSpPr>
          <p:cNvPr id="67" name="rect67"/>
          <p:cNvSpPr/>
          <p:nvPr/>
        </p:nvSpPr>
        <p:spPr>
          <a:xfrm>
            <a:off x="4150000" y="3440000"/>
            <a:ext cx="35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Permite analisar desfecho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/ DataJud (2024); TJSP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Checklist de documentação da coleta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Reproduzível e defensável: o que registrar antes de analisar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695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1.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Fonte: nome do sistema ou API consultada e data de extração.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2.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Filtros: cada parâmetro aplicado, com o valor exato.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3.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Volume: total bruto coletado e total final após limpeza.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4.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Exclusões: critérios de descarte e quantos casos foram descartados.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5.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Limitações: o que a base permite e o que ela não permite responder.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Quando a pergunta muda no caminho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Replanejar é parte do método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Acontece: durante a coleta, surgem variáveis novas, ou a pergunta original se mostra inviável com os dados disponíveis.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Não vale ajustar a pergunta para encaixar no que já se tem. Isso é torcer o teste para concluir o que se queria.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Vale registrar a mudança no caderno da coleta, refazer o mapeamento da Etapa 2 e voltar ao plano com a pergunta nova.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Silver (2013)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dirigido em sala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10 minutos · em duplas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Retomem a pergunta investigável escolhida no Bloco 1 (slide 22 do bloco anterior, ou nova).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Para cada variável da tabela analítica, indiquem fonte (interna XY&amp;A, DataJud, scraping) e tipo de coleta (manual, automatizada).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Apontem 1 risco de LGPD e 1 risco de viés que vocês teriam que vigiar nessa coleta.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Síntese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Cinco pontos para levar para casa</a:t>
            </a:r>
          </a:p>
        </p:txBody>
      </p:sp>
      <p:sp>
        <p:nvSpPr>
          <p:cNvPr id="50" name="el50"/>
          <p:cNvSpPr/>
          <p:nvPr/>
        </p:nvSpPr>
        <p:spPr>
          <a:xfrm>
            <a:off x="750000" y="175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471034" y="181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Coletar é encher de dado real a tabela analítica desenhada na Etapa 2.</a:t>
            </a:r>
          </a:p>
        </p:txBody>
      </p:sp>
      <p:sp>
        <p:nvSpPr>
          <p:cNvPr id="52" name="el52"/>
          <p:cNvSpPr/>
          <p:nvPr/>
        </p:nvSpPr>
        <p:spPr>
          <a:xfrm>
            <a:off x="750000" y="232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1471034" y="238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Três fontes (pública, interna, externa) e três tipos (manual, scraping, API) cobrem o repertório.</a:t>
            </a:r>
          </a:p>
        </p:txBody>
      </p:sp>
      <p:sp>
        <p:nvSpPr>
          <p:cNvPr id="54" name="el54"/>
          <p:cNvSpPr/>
          <p:nvPr/>
        </p:nvSpPr>
        <p:spPr>
          <a:xfrm>
            <a:off x="750000" y="289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471034" y="295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DataJud é o caminho mais limpo para coleta multi-tribunal no Brasil.</a:t>
            </a:r>
          </a:p>
        </p:txBody>
      </p:sp>
      <p:sp>
        <p:nvSpPr>
          <p:cNvPr id="56" name="el56"/>
          <p:cNvSpPr/>
          <p:nvPr/>
        </p:nvSpPr>
        <p:spPr>
          <a:xfrm>
            <a:off x="750000" y="346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1471034" y="352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LGPD e vieses de amostragem são vigias permanentes da Etapa 3.</a:t>
            </a:r>
          </a:p>
        </p:txBody>
      </p:sp>
      <p:sp>
        <p:nvSpPr>
          <p:cNvPr id="58" name="el58"/>
          <p:cNvSpPr/>
          <p:nvPr/>
        </p:nvSpPr>
        <p:spPr>
          <a:xfrm>
            <a:off x="750000" y="403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471034" y="409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Documentar a coleta hoje é o que defende a análise amanhã.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Prática 2 (entrega até a Aula 3)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Compõe o Instrumento 1 (média das 4 atividades, peso 3,0)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6950000" cy="3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Aplique as Etapas 1 a 3 do ciclo a uma pergunta para o trabalho final do grupo.</a:t>
            </a:r>
          </a:p>
        </p:txBody>
      </p:sp>
      <p:sp>
        <p:nvSpPr>
          <p:cNvPr id="60" name="rect60"/>
          <p:cNvSpPr/>
          <p:nvPr/>
        </p:nvSpPr>
        <p:spPr>
          <a:xfrm>
            <a:off x="750000" y="2120000"/>
            <a:ext cx="6950000" cy="7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61" name="rect61"/>
          <p:cNvSpPr/>
          <p:nvPr/>
        </p:nvSpPr>
        <p:spPr>
          <a:xfrm>
            <a:off x="810000" y="2180000"/>
            <a:ext cx="900000" cy="580000"/>
          </a:xfrm>
          <a:prstGeom prst="roundRect">
            <a:avLst>
              <a:gd name="adj" fmla="val 6500"/>
            </a:avLst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Q1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1890000" y="2180000"/>
            <a:ext cx="5730000" cy="58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Q1. Escreva uma pergunta investigável sobre a base de locação do TJSP, com tema, recorte (período e jurisdição), variável central e ponto de comparação.</a:t>
            </a:r>
          </a:p>
        </p:txBody>
      </p:sp>
      <p:sp>
        <p:nvSpPr>
          <p:cNvPr id="63" name="rect63"/>
          <p:cNvSpPr/>
          <p:nvPr/>
        </p:nvSpPr>
        <p:spPr>
          <a:xfrm>
            <a:off x="750000" y="2860000"/>
            <a:ext cx="6950000" cy="7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64" name="rect64"/>
          <p:cNvSpPr/>
          <p:nvPr/>
        </p:nvSpPr>
        <p:spPr>
          <a:xfrm>
            <a:off x="810000" y="2920000"/>
            <a:ext cx="900000" cy="580000"/>
          </a:xfrm>
          <a:prstGeom prst="roundRect">
            <a:avLst>
              <a:gd name="adj" fmla="val 6500"/>
            </a:avLst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Q2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1890000" y="2920000"/>
            <a:ext cx="5730000" cy="58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Q2. Esboce a tabela analítica mínima da Etapa 2: 1 linha por processo e ao menos 5 colunas, classificando cada coluna como categórica, numérica ou temporal.</a:t>
            </a:r>
          </a:p>
        </p:txBody>
      </p:sp>
      <p:sp>
        <p:nvSpPr>
          <p:cNvPr id="66" name="rect66"/>
          <p:cNvSpPr/>
          <p:nvPr/>
        </p:nvSpPr>
        <p:spPr>
          <a:xfrm>
            <a:off x="750000" y="3600000"/>
            <a:ext cx="6950000" cy="7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67" name="rect67"/>
          <p:cNvSpPr/>
          <p:nvPr/>
        </p:nvSpPr>
        <p:spPr>
          <a:xfrm>
            <a:off x="810000" y="3660000"/>
            <a:ext cx="900000" cy="580000"/>
          </a:xfrm>
          <a:prstGeom prst="roundRect">
            <a:avLst>
              <a:gd name="adj" fmla="val 6500"/>
            </a:avLst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Q3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1890000" y="3660000"/>
            <a:ext cx="5730000" cy="58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Q3. Monte um plano de coleta de no máximo 5 linhas: para cada variável, qual fonte (interna, DataJud, scraping) e 1 cuidado de LGPD ou de viés a vigiar.</a:t>
            </a:r>
          </a:p>
        </p:txBody>
      </p:sp>
      <p:sp>
        <p:nvSpPr>
          <p:cNvPr id="90" name="tb90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(2024); LGPD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Ponte para a Aula 3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vem a seguir na próxima semana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585100"/>
            <a:ext cx="1500000" cy="594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0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➜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2200000" y="1780000"/>
            <a:ext cx="450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 coleta à análise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200000" y="2100000"/>
            <a:ext cx="4500000" cy="3999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Percorremos as Etapas 4, 5 e 6 do ciclo no Excel, sobre a base de 16.110 julgados.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65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75695" y="260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4: tratar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3822762" y="260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Padronizar datas, valores, categorias e textos da base.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308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75695" y="303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5: analisar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3822762" y="303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Estatística descritiva no Excel, com tabelas dinâmicas.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51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75695" y="346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6: apresentar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3822762" y="346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Gráficos certos para responder cada tipo de pergunta.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94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75695" y="389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Atividade 2 corrigida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3822762" y="389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sala, no início do Bloco 1 da Aula 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Referências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Fontes citadas ao longo do conteúdo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7025100" cy="23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NUNES, Marcelo Guedes. Jurimetria: como a estatística pode reinventar o Direito. 2. ed. São Paulo: Revista dos Tribunais, 2019.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WHEELAN, Charles. Estatística: o que é, para que serve, como funciona. Rio de Janeiro: Zahar,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HUFF, Darrell. Como mentir com estatística. Rio de Janeiro: Intrínseca,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SILVER, Nate. O sinal e o ruído. Rio de Janeiro: Intrínseca,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CONSELHO NACIONAL DE JUSTIÇA (CNJ). Justiça em Números e DataJud, 2024. Disponível em cnj.jus.br.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BRASIL. Lei nº 13.709, de 14 de agosto de 2018. Lei Geral de Proteção de Dados Pessoais (LGPD).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ASSOCIAÇÃO BRASILEIRA DE JURIMETRIA (ABJ). Relatórios e publicações em abj.org.br.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KATZ, Daniel Martin; BOMMARITO, Michael J. Quantitative Legal Prediction. Emory Law Journal, v. 62,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SUSSKIND, Richard. Tomorrow's Lawyers. 3rd ed. Oxford University Press, 2023.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250000"/>
            <a:ext cx="695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Leituras complementares estarão indicadas ao longo dos próximos blocos.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822950" y="914400"/>
            <a:ext cx="5486400" cy="7314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Fim da Aula 2</a:t>
            </a:r>
          </a:p>
        </p:txBody>
      </p:sp>
      <p:sp>
        <p:nvSpPr>
          <p:cNvPr id="31" name="rect31"/>
          <p:cNvSpPr/>
          <p:nvPr/>
        </p:nvSpPr>
        <p:spPr>
          <a:xfrm>
            <a:off x="822950" y="1691640"/>
            <a:ext cx="1828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32" name="tb32"/>
          <p:cNvSpPr txBox="1"/>
          <p:nvPr/>
        </p:nvSpPr>
        <p:spPr>
          <a:xfrm>
            <a:off x="822950" y="2391995"/>
            <a:ext cx="5486400" cy="5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8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Atividade Prática 2 · entrega até a Aula 3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822945" y="2920000"/>
            <a:ext cx="54864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Próxima aula: Aula 3 · Tratar, analisar e apresentar (Etapas 4 a 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