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</p:sldIdLst>
  <p:sldSz cy="5143500" cx="9144000"/>
  <p:notesSz cx="5143500" cy="9144000"/>
  <p:embeddedFontLst>
    <p:embeddedFont>
      <p:font typeface="Arial Black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5oWEV931oxANsAAKpH6PvK4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rialBlack-regular.fntdata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2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JURIMETRIA E ANÁLISE DE DADOS PARA DECISÕES ESTRATÉGICAS</a:t>
            </a:r>
          </a:p>
        </p:txBody>
      </p:sp>
      <p:sp>
        <p:nvSpPr>
          <p:cNvPr id="11" name="rect1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Aula 2 · Bloco 1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97280" y="333756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Ciclo da Ciência de Dados Aplicado ao Direito (Parte 1)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1097280" y="3700000"/>
            <a:ext cx="54864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Do problema à coleta: perguntar e mapear no modo raiz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Agenda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vamos percorrer nas próximas 1h50min</a:t>
            </a:r>
          </a:p>
        </p:txBody>
      </p:sp>
      <p:sp>
        <p:nvSpPr>
          <p:cNvPr id="50" name="el50"/>
          <p:cNvSpPr/>
          <p:nvPr/>
        </p:nvSpPr>
        <p:spPr>
          <a:xfrm>
            <a:off x="785321" y="17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370945" y="17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Correção das 3 questões da Atividade 1</a:t>
            </a:r>
          </a:p>
        </p:txBody>
      </p:sp>
      <p:sp>
        <p:nvSpPr>
          <p:cNvPr id="52" name="el52"/>
          <p:cNvSpPr/>
          <p:nvPr/>
        </p:nvSpPr>
        <p:spPr>
          <a:xfrm>
            <a:off x="4640749" y="17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5226372" y="17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Visão geral das 6 etapas do ciclo</a:t>
            </a:r>
          </a:p>
        </p:txBody>
      </p:sp>
      <p:sp>
        <p:nvSpPr>
          <p:cNvPr id="54" name="el54"/>
          <p:cNvSpPr/>
          <p:nvPr/>
        </p:nvSpPr>
        <p:spPr>
          <a:xfrm>
            <a:off x="785321" y="23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370945" y="23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Por que pensar em ciclo importa</a:t>
            </a:r>
          </a:p>
        </p:txBody>
      </p:sp>
      <p:sp>
        <p:nvSpPr>
          <p:cNvPr id="56" name="el56"/>
          <p:cNvSpPr/>
          <p:nvPr/>
        </p:nvSpPr>
        <p:spPr>
          <a:xfrm>
            <a:off x="4640749" y="23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5226372" y="23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1: pergunta jurídica em investigável</a:t>
            </a:r>
          </a:p>
        </p:txBody>
      </p:sp>
      <p:sp>
        <p:nvSpPr>
          <p:cNvPr id="58" name="el58"/>
          <p:cNvSpPr/>
          <p:nvPr/>
        </p:nvSpPr>
        <p:spPr>
          <a:xfrm>
            <a:off x="785321" y="29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370945" y="29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Critérios de boa pergunta e exemplos</a:t>
            </a:r>
          </a:p>
        </p:txBody>
      </p:sp>
      <p:sp>
        <p:nvSpPr>
          <p:cNvPr id="60" name="el60"/>
          <p:cNvSpPr/>
          <p:nvPr/>
        </p:nvSpPr>
        <p:spPr>
          <a:xfrm>
            <a:off x="4640749" y="29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5226372" y="29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2: mapear as informações</a:t>
            </a:r>
          </a:p>
        </p:txBody>
      </p:sp>
      <p:sp>
        <p:nvSpPr>
          <p:cNvPr id="62" name="el62"/>
          <p:cNvSpPr/>
          <p:nvPr/>
        </p:nvSpPr>
        <p:spPr>
          <a:xfrm>
            <a:off x="785321" y="35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7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1370945" y="35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Variáveis na base de locação do TJSP</a:t>
            </a:r>
          </a:p>
        </p:txBody>
      </p:sp>
      <p:sp>
        <p:nvSpPr>
          <p:cNvPr id="64" name="el64"/>
          <p:cNvSpPr/>
          <p:nvPr/>
        </p:nvSpPr>
        <p:spPr>
          <a:xfrm>
            <a:off x="4640749" y="3500000"/>
            <a:ext cx="4731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Arial Black"/>
              </a:rPr>
              <a:t>8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5226372" y="3560000"/>
            <a:ext cx="2703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Exercício dirigido e fechamento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Objetivos de Aprendizagem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Ao final deste bloco, você será capaz de</a:t>
            </a:r>
          </a:p>
        </p:txBody>
      </p:sp>
      <p:sp>
        <p:nvSpPr>
          <p:cNvPr id="50" name="el50"/>
          <p:cNvSpPr/>
          <p:nvPr/>
        </p:nvSpPr>
        <p:spPr>
          <a:xfrm>
            <a:off x="790000" y="178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1" name="tb51"/>
          <p:cNvSpPr txBox="1"/>
          <p:nvPr/>
        </p:nvSpPr>
        <p:spPr>
          <a:xfrm>
            <a:off x="1060000" y="175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Compreender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900000" y="175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ciclo da ciência de dados aplicado ao Direito em suas 6 etapas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30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60000" y="227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Reconhecer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2900000" y="227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os critérios de uma pergunta jurimétrica investigável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282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60000" y="279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Reescrever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2900000" y="279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uma pergunta jurídica vaga em pergunta de dados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34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60000" y="331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Mapear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2900000" y="331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 variáveis e fontes necessárias a partir de uma pergunta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86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60000" y="383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Construir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2900000" y="383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uma tabela analítica mínima como ponto de partida da análise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Onde estamos no curso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Da fundamentação ao método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6950000" cy="3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Na Aula 1, vimos por que dados importam para o operador do Direito e o que é Jurimetria.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200000"/>
            <a:ext cx="6950000" cy="20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Agora começa o método: o ciclo da ciência de dados em modo raiz, percorrido nas Aulas 2 e 3.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Toda a aula opera sobre a base do trabalho final (16.110 julgados de locação do TJSP) e sobre o caso XY&amp;A.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Depois, na Aula 5, o mesmo ciclo será revisitado com IA generativa em cada etapa.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1: revisão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Correção comentada das 3 questões e ponte para o método desta aula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Recap da Atividade 1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Atividade Prática 1 (Bloco 2 da Aula 1) · 3 questões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6950000" cy="25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Pano de fundo: caso XY&amp;A e a base de 16.110 julgados de locação do TJSP, sobre os fundamentos da Aula 1.</a:t>
            </a:r>
          </a:p>
          <a:p>
            <a:pPr lvl="0"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Q1. </a:t>
            </a: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Listar 3 perguntas jurimétricas do XY&amp;A em ao menos 2 áreas (contencioso, gestão, provisionamento).</a:t>
            </a:r>
          </a:p>
          <a:p>
            <a:pPr lvl="0"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Q2. </a:t>
            </a: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Reescrever uma das 3 perguntas em formato investigável: tema, recorte, variável central e comparação.</a:t>
            </a:r>
          </a:p>
          <a:p>
            <a:pPr lvl="0" marL="0" indent="0" algn="l">
              <a:lnSpc>
                <a:spcPct val="125000"/>
              </a:lnSpc>
              <a:spcBef>
                <a:spcPts val="60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Q3. </a:t>
            </a: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Apontar que decisão concreta do escritório a resposta apoiaria, e por quê.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1 · Questão 1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esperado e armadilhas observadas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6950000" cy="72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FFFFFF"/>
                </a:solidFill>
                <a:latin typeface="Arial Black"/>
              </a:rPr>
              <a:t>Q1. Listar 3 perguntas jurimétricas do XY&amp;A em ao menos 2 áreas (contencioso, gestão, provisionamento).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560000"/>
            <a:ext cx="6950000" cy="1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Caminho de resposta: cobrir pelo menos 2 das 3 áreas e dar a cada pergunta um recorte mínimo (matéria, jurisdição ou período).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Exemplos no XY&amp;A: contencioso, 'taxa de procedência por vara em revisão'; gestão, 'concentração de despejos por comarca'; provisão, 'valor mediano de condenação'.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Armadilhas frequentes: 3 perguntas todas no mesmo plano operacional, perguntas de opinião sem variável, ou perguntas grandes demais sem ancoragem.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ABJ (relatórios)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1 · Questão 2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esperado e armadilhas observadas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6950000" cy="72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FFFFFF"/>
                </a:solidFill>
                <a:latin typeface="Arial Black"/>
              </a:rPr>
              <a:t>Q2. Reescrever uma das 3 perguntas em formato investigável: tema, recorte, variável central e comparação.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560000"/>
            <a:ext cx="6950000" cy="1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Caminho de resposta: tema (matéria e tipo de ação), recorte (jurisdição e período), variável central (taxa, mediana, valor) e ponto de comparação (média ou outro grupo).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Exemplo XY&amp;A: 'Em renovatórias do TJSP, parte PJ, 2018 a 2024, qual a taxa de procedência em favor do locador comparada à média do tribunal?'.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Armadilhas frequentes: pergunta investigável que ainda mistura opinião e métrica, ausência de ponto de comparação ou recorte vago.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Katz e Bommarito (2013)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Atividade 1 · Questão 3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esperado e armadilhas observadas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6950000" cy="72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FFFFFF"/>
                </a:solidFill>
                <a:latin typeface="Arial Black"/>
              </a:rPr>
              <a:t>Q3. Que decisão concreta do escritório a resposta apoiaria, e por quê.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560000"/>
            <a:ext cx="6950000" cy="1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Caminho de resposta: nomear uma decisão específica que mudaria com a resposta. Exemplos: política de acordo, recalibrar provisão, redistribuir equipe, mudar tese.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Exemplo XY&amp;A: se a taxa de procedência em renovatórias caiu, a decisão pode ser revisar a estratégia de litígio e priorizar acordos por faixa de valor.</a:t>
            </a:r>
          </a:p>
          <a:p>
            <a:pPr lvl="0" marL="0" indent="0"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pt-BR" sz="1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Armadilhas frequentes: respostas vagas como 'a empresa fica mais informada', sem nomear a decisão concreta que muda com o número.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Susskind (2023); Nunes (2019)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 intuição à pergunta de dados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Insight da correção e ponte para o ciclo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6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Toda intuição jurídica relevante pode ser convertida em uma pergunta investigável.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a pergunta é boa, a sequência fica clara: variáveis, fonte, coleta, análise e entrega. É o ciclo da próxima seção.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a pergunta é ruim, qualquer dado parece interessante. É aí que estatística vira marketing.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Ciclo da ciência de dados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Visão geral das 6 etapas que estruturam o resto do curso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é o ciclo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É a espinha dorsal metodológica da disciplina: 6 etapas executadas em sequência, com idas e voltas controladas.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Será percorrido duas vezes: primeiro no modo raiz (Aulas 2 e 3, com Excel) e depois no modo com IA (Aula 5).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sala, sempre que abrirmos uma análise, vamos identificar em que etapa estamos.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James et al. (2021)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As 6 etapas do ciclo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el50"/>
          <p:cNvSpPr/>
          <p:nvPr/>
        </p:nvSpPr>
        <p:spPr>
          <a:xfrm>
            <a:off x="75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50" name="rect150"/>
          <p:cNvSpPr/>
          <p:nvPr/>
        </p:nvSpPr>
        <p:spPr>
          <a:xfrm>
            <a:off x="1480000" y="2325000"/>
            <a:ext cx="4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0" name="tb250"/>
          <p:cNvSpPr txBox="1"/>
          <p:nvPr/>
        </p:nvSpPr>
        <p:spPr>
          <a:xfrm>
            <a:off x="750000" y="2780000"/>
            <a:ext cx="11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Pergunta</a:t>
            </a:r>
          </a:p>
        </p:txBody>
      </p:sp>
      <p:sp>
        <p:nvSpPr>
          <p:cNvPr id="51" name="el51"/>
          <p:cNvSpPr/>
          <p:nvPr/>
        </p:nvSpPr>
        <p:spPr>
          <a:xfrm>
            <a:off x="200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51" name="rect151"/>
          <p:cNvSpPr/>
          <p:nvPr/>
        </p:nvSpPr>
        <p:spPr>
          <a:xfrm>
            <a:off x="2730000" y="2325000"/>
            <a:ext cx="4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1" name="tb251"/>
          <p:cNvSpPr txBox="1"/>
          <p:nvPr/>
        </p:nvSpPr>
        <p:spPr>
          <a:xfrm>
            <a:off x="1800000" y="2780000"/>
            <a:ext cx="11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Mapear</a:t>
            </a:r>
          </a:p>
        </p:txBody>
      </p:sp>
      <p:sp>
        <p:nvSpPr>
          <p:cNvPr id="52" name="el52"/>
          <p:cNvSpPr/>
          <p:nvPr/>
        </p:nvSpPr>
        <p:spPr>
          <a:xfrm>
            <a:off x="325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52" name="rect152"/>
          <p:cNvSpPr/>
          <p:nvPr/>
        </p:nvSpPr>
        <p:spPr>
          <a:xfrm>
            <a:off x="3980000" y="2325000"/>
            <a:ext cx="4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2" name="tb252"/>
          <p:cNvSpPr txBox="1"/>
          <p:nvPr/>
        </p:nvSpPr>
        <p:spPr>
          <a:xfrm>
            <a:off x="3050000" y="2780000"/>
            <a:ext cx="11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Coletar</a:t>
            </a:r>
          </a:p>
        </p:txBody>
      </p:sp>
      <p:sp>
        <p:nvSpPr>
          <p:cNvPr id="53" name="el53"/>
          <p:cNvSpPr/>
          <p:nvPr/>
        </p:nvSpPr>
        <p:spPr>
          <a:xfrm>
            <a:off x="450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53" name="rect153"/>
          <p:cNvSpPr/>
          <p:nvPr/>
        </p:nvSpPr>
        <p:spPr>
          <a:xfrm>
            <a:off x="5230000" y="2325000"/>
            <a:ext cx="4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3" name="tb253"/>
          <p:cNvSpPr txBox="1"/>
          <p:nvPr/>
        </p:nvSpPr>
        <p:spPr>
          <a:xfrm>
            <a:off x="4300000" y="2780000"/>
            <a:ext cx="11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Tratar</a:t>
            </a:r>
          </a:p>
        </p:txBody>
      </p:sp>
      <p:sp>
        <p:nvSpPr>
          <p:cNvPr id="54" name="el54"/>
          <p:cNvSpPr/>
          <p:nvPr/>
        </p:nvSpPr>
        <p:spPr>
          <a:xfrm>
            <a:off x="575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154" name="rect154"/>
          <p:cNvSpPr/>
          <p:nvPr/>
        </p:nvSpPr>
        <p:spPr>
          <a:xfrm>
            <a:off x="6480000" y="2325000"/>
            <a:ext cx="490000" cy="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54" name="tb254"/>
          <p:cNvSpPr txBox="1"/>
          <p:nvPr/>
        </p:nvSpPr>
        <p:spPr>
          <a:xfrm>
            <a:off x="5550000" y="2780000"/>
            <a:ext cx="11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Analisar</a:t>
            </a:r>
          </a:p>
        </p:txBody>
      </p:sp>
      <p:sp>
        <p:nvSpPr>
          <p:cNvPr id="55" name="el55"/>
          <p:cNvSpPr/>
          <p:nvPr/>
        </p:nvSpPr>
        <p:spPr>
          <a:xfrm>
            <a:off x="7000000" y="2000000"/>
            <a:ext cx="700000" cy="7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255" name="tb255"/>
          <p:cNvSpPr txBox="1"/>
          <p:nvPr/>
        </p:nvSpPr>
        <p:spPr>
          <a:xfrm>
            <a:off x="6800000" y="2780000"/>
            <a:ext cx="1100000" cy="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1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Apresentar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Etapas 1 e 2 do ciclo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Pergunta e mapeamento: onde tudo começa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1, transformar a pergunta jurídica em pergunta investigável: foco do bloco de hoje.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2, mapear as informações necessárias: identificar quais variáveis e fontes responderiam à pergunta.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essas duas etapas bem feitas, todo o resto do ciclo fica frágil ou enviesado.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Etapas 3 e 4 do ciclo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Coletar e tratar: construindo a base analítica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3, coletar: fontes públicas (DataJud, tribunais), internas (sistemas) e, quando preciso, scraping.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4, tratar: padronizar datas, valores, classificações e textos em uma TABELA estruturada e saneada.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Veremos as duas em detalhe no Bloco 2 (coleta) e na Aula 3 (tratamento).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Etapas 5 e 6 do ciclo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Analisar e apresentar: da TABELA ao insight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5, analisar: estatística descritiva no Excel. Medidas de posição, dispersão e gráficos.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6, apresentar: gráficos e tabelas com boas práticas de visualização para o público jurídico.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Aprofundamos as duas na Aula 3 e voltamos a elas na Aula 5 com IA generativa.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Por que pensar em ciclo?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33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Sem método (pura intuição)</a:t>
            </a:r>
          </a:p>
        </p:txBody>
      </p:sp>
      <p:sp>
        <p:nvSpPr>
          <p:cNvPr id="51" name="rect51"/>
          <p:cNvSpPr/>
          <p:nvPr/>
        </p:nvSpPr>
        <p:spPr>
          <a:xfrm>
            <a:off x="4330000" y="1780000"/>
            <a:ext cx="33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Com ciclo (método reproduzível)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33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Resultado depende da pessoa, não do processo.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Difícil de replicar e auditar.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Indefensável quando contestado em juízo.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Decisões aleatórias, sem rastro.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330000" y="2260000"/>
            <a:ext cx="33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Mesmo procedimento gera mesma resposta.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etapa documentada e revisável.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Defensável: mostra como se chegou ao número.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Permite escalar para a equipe inteira.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Susskind (2023)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Cadeia de custódia analítica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Analogia jurídica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6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processo penal, a cadeia de custódia garante que a prova chegue íntegra ao julgamento.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Na Jurimetria, o ciclo cumpre o mesmo papel: cada etapa preserva e documenta a integridade dos dados.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Quem pula etapas perde rastreabilidade. Quem documenta, defende a análise como defenderia uma prova pericial.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 1: a pergunta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 pergunta jurídica vaga à pergunta investigável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Pergunta investigável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É uma pergunta que aponta com clareza para um dado mensurável e para um critério de resposta.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 vez de pedir uma opinião, pede uma comparação, uma proporção, uma frequência ou uma evolução.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pergunta investigável, qualquer análise ou IA tende a produzir um número aparentemente preciso, mas sem ancoragem.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Katz e Bommarito (2013)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Critérios de uma boa pergunta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Quatro critérios não negociáveis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Específica: define matéria, período e jurisdição.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Verificável: aponta para uma variável que existe ou é coletável.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Comparável: traz um ponto de referência (média, outro juízo, outro período).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Útil: a resposta muda alguma decisão concreta de litígio, negociação ou provisão.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Katz e Bommarito (2013)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Antes e depois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33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Pergunta vaga</a:t>
            </a:r>
          </a:p>
        </p:txBody>
      </p:sp>
      <p:sp>
        <p:nvSpPr>
          <p:cNvPr id="51" name="rect51"/>
          <p:cNvSpPr/>
          <p:nvPr/>
        </p:nvSpPr>
        <p:spPr>
          <a:xfrm>
            <a:off x="4330000" y="1780000"/>
            <a:ext cx="33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Pergunta investigável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33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Esse juiz é duro?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Renovatórias demoram mais?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Vale a pena recorrer?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Acordos saem por quanto?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330000" y="2260000"/>
            <a:ext cx="33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Revisões TJSP 2018-2024: procedência do juízo X vs. média?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Renovatórias: tempo mediano até sentença subiu de 2019 a 2024?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Revisão 2020-2024: proporção de reformas a favor do recorrente?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Acordos 2022-2024: valor acordado vs. valor da causa?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ABJ (relatórios)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alcance da pergunta certa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800000"/>
            <a:ext cx="6950000" cy="140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16.110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3300000"/>
            <a:ext cx="6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julgados de revisão e renovatória de locação do TJSP, 2010 a 2024 (parte PJ), à disposição do XY&amp;A para responder boas perguntas.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(2024); TJSP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Armadilhas ao formular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5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Pergunta de mão dupla disfarçada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Pedir 'taxa de êxito' sem definir o que conta como êxito (procedência total, parcial, acordo) inviabiliza a contagem.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60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Comparar sem grupo de controle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'Esse juiz decide pior?' sem referência: pior comparado a quê? Sempre fixe o ponto de comparação antes de coletar.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3450000"/>
            <a:ext cx="6950000" cy="82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Pergunta interessante e impossível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Variáveis necessárias não estão na base nem em fonte pública. Cheque viabilidade na Etapa 2 antes de prometer resposta.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Mini-caso XY&amp;A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Da intuição à pergunta investigável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Intuição do sócio: estamos perdendo mais renovatórias do que antes.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Pergunta investigável: nas renovatórias do TJSP, 2018 a 2024, com parte PJ, qual a evolução anual da taxa de procedência em favor do locador?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Variáveis necessárias (já aparecem na Etapa 2): tipo de ação, ano da sentença, parte, desfecho.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Síntese da Etapa 1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Checklist da boa pergunta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Especifiquei matéria, jurisdição e período?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Defini a variável central da resposta (taxa, mediana, evolução)?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Tenho um ponto de comparação (média, outra vara, outro ano)?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Sei qual decisão concreta vai mudar com a resposta?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 2: mapeamento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Que variáveis responderiam à pergunta?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significa mapear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6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Mapear é traduzir a pergunta em variáveis concretas: cada palavra-chave da pergunta vira uma coluna da futura tabela.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Variáveis vêm de duas perguntas espelhadas: o que precisa estar na linha (cada processo, cada sentença) e o que precisa estar na coluna (cada atributo).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mapeamento, a coleta vira pesca: se traz tudo, complica; se traz pouco, falta para responder.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Wheelan (2016)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Tipos de variável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33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Categóricas</a:t>
            </a:r>
          </a:p>
        </p:txBody>
      </p:sp>
      <p:sp>
        <p:nvSpPr>
          <p:cNvPr id="51" name="rect51"/>
          <p:cNvSpPr/>
          <p:nvPr/>
        </p:nvSpPr>
        <p:spPr>
          <a:xfrm>
            <a:off x="4330000" y="1780000"/>
            <a:ext cx="33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Numéricas e temporais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33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Tipo de ação: revisão ou renovatória.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Comarca, vara, classe processual.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Desfecho: procedência, improcedência, acordo, extinção.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Parte: pessoa jurídica ou física.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330000" y="2260000"/>
            <a:ext cx="33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Valor da causa, valor de condenação, valor acordado.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 de distribuição, data da sentença, data de baixa.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Tempo de tramitação, em dias.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Quantidade de recursos, partes, audiências.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Variáveis na base TJSP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17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Variável</a:t>
            </a:r>
          </a:p>
        </p:txBody>
      </p:sp>
      <p:sp>
        <p:nvSpPr>
          <p:cNvPr id="51" name="rect51"/>
          <p:cNvSpPr/>
          <p:nvPr/>
        </p:nvSpPr>
        <p:spPr>
          <a:xfrm>
            <a:off x="2450000" y="1780000"/>
            <a:ext cx="13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Tipo</a:t>
            </a:r>
          </a:p>
        </p:txBody>
      </p:sp>
      <p:sp>
        <p:nvSpPr>
          <p:cNvPr id="52" name="rect52"/>
          <p:cNvSpPr/>
          <p:nvPr/>
        </p:nvSpPr>
        <p:spPr>
          <a:xfrm>
            <a:off x="3750000" y="1780000"/>
            <a:ext cx="295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O que ela permite responder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Tipo de ação</a:t>
            </a:r>
          </a:p>
        </p:txBody>
      </p:sp>
      <p:sp>
        <p:nvSpPr>
          <p:cNvPr id="54" name="rect54"/>
          <p:cNvSpPr/>
          <p:nvPr/>
        </p:nvSpPr>
        <p:spPr>
          <a:xfrm>
            <a:off x="2450000" y="216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Categórica</a:t>
            </a:r>
          </a:p>
        </p:txBody>
      </p:sp>
      <p:sp>
        <p:nvSpPr>
          <p:cNvPr id="55" name="rect55"/>
          <p:cNvSpPr/>
          <p:nvPr/>
        </p:nvSpPr>
        <p:spPr>
          <a:xfrm>
            <a:off x="3750000" y="2160000"/>
            <a:ext cx="29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Comparar revisão x renovatória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Comarca / vara</a:t>
            </a:r>
          </a:p>
        </p:txBody>
      </p:sp>
      <p:sp>
        <p:nvSpPr>
          <p:cNvPr id="57" name="rect57"/>
          <p:cNvSpPr/>
          <p:nvPr/>
        </p:nvSpPr>
        <p:spPr>
          <a:xfrm>
            <a:off x="2450000" y="248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Categórica</a:t>
            </a:r>
          </a:p>
        </p:txBody>
      </p:sp>
      <p:sp>
        <p:nvSpPr>
          <p:cNvPr id="58" name="rect58"/>
          <p:cNvSpPr/>
          <p:nvPr/>
        </p:nvSpPr>
        <p:spPr>
          <a:xfrm>
            <a:off x="3750000" y="2480000"/>
            <a:ext cx="29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Concentração geográfica e por juízo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Data de distribuição</a:t>
            </a:r>
          </a:p>
        </p:txBody>
      </p:sp>
      <p:sp>
        <p:nvSpPr>
          <p:cNvPr id="60" name="rect60"/>
          <p:cNvSpPr/>
          <p:nvPr/>
        </p:nvSpPr>
        <p:spPr>
          <a:xfrm>
            <a:off x="2450000" y="280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Temporal</a:t>
            </a:r>
          </a:p>
        </p:txBody>
      </p:sp>
      <p:sp>
        <p:nvSpPr>
          <p:cNvPr id="61" name="rect61"/>
          <p:cNvSpPr/>
          <p:nvPr/>
        </p:nvSpPr>
        <p:spPr>
          <a:xfrm>
            <a:off x="3750000" y="2800000"/>
            <a:ext cx="29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Volume e sazonalidade ao longo do tempo</a:t>
            </a:r>
          </a:p>
        </p:txBody>
      </p:sp>
      <p:sp>
        <p:nvSpPr>
          <p:cNvPr id="62" name="rect62"/>
          <p:cNvSpPr/>
          <p:nvPr/>
        </p:nvSpPr>
        <p:spPr>
          <a:xfrm>
            <a:off x="750000" y="312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Data da sentença</a:t>
            </a:r>
          </a:p>
        </p:txBody>
      </p:sp>
      <p:sp>
        <p:nvSpPr>
          <p:cNvPr id="63" name="rect63"/>
          <p:cNvSpPr/>
          <p:nvPr/>
        </p:nvSpPr>
        <p:spPr>
          <a:xfrm>
            <a:off x="2450000" y="312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Temporal</a:t>
            </a:r>
          </a:p>
        </p:txBody>
      </p:sp>
      <p:sp>
        <p:nvSpPr>
          <p:cNvPr id="64" name="rect64"/>
          <p:cNvSpPr/>
          <p:nvPr/>
        </p:nvSpPr>
        <p:spPr>
          <a:xfrm>
            <a:off x="3750000" y="3120000"/>
            <a:ext cx="29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Tempo de tramitação</a:t>
            </a:r>
          </a:p>
        </p:txBody>
      </p:sp>
      <p:sp>
        <p:nvSpPr>
          <p:cNvPr id="65" name="rect65"/>
          <p:cNvSpPr/>
          <p:nvPr/>
        </p:nvSpPr>
        <p:spPr>
          <a:xfrm>
            <a:off x="750000" y="344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Desfecho</a:t>
            </a:r>
          </a:p>
        </p:txBody>
      </p:sp>
      <p:sp>
        <p:nvSpPr>
          <p:cNvPr id="66" name="rect66"/>
          <p:cNvSpPr/>
          <p:nvPr/>
        </p:nvSpPr>
        <p:spPr>
          <a:xfrm>
            <a:off x="2450000" y="344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Categórica</a:t>
            </a:r>
          </a:p>
        </p:txBody>
      </p:sp>
      <p:sp>
        <p:nvSpPr>
          <p:cNvPr id="67" name="rect67"/>
          <p:cNvSpPr/>
          <p:nvPr/>
        </p:nvSpPr>
        <p:spPr>
          <a:xfrm>
            <a:off x="3750000" y="3440000"/>
            <a:ext cx="29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Taxa de êxito por recorte</a:t>
            </a:r>
          </a:p>
        </p:txBody>
      </p:sp>
      <p:sp>
        <p:nvSpPr>
          <p:cNvPr id="68" name="rect68"/>
          <p:cNvSpPr/>
          <p:nvPr/>
        </p:nvSpPr>
        <p:spPr>
          <a:xfrm>
            <a:off x="750000" y="376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Valor da causa</a:t>
            </a:r>
          </a:p>
        </p:txBody>
      </p:sp>
      <p:sp>
        <p:nvSpPr>
          <p:cNvPr id="69" name="rect69"/>
          <p:cNvSpPr/>
          <p:nvPr/>
        </p:nvSpPr>
        <p:spPr>
          <a:xfrm>
            <a:off x="2450000" y="376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Numérica</a:t>
            </a:r>
          </a:p>
        </p:txBody>
      </p:sp>
      <p:sp>
        <p:nvSpPr>
          <p:cNvPr id="70" name="rect70"/>
          <p:cNvSpPr/>
          <p:nvPr/>
        </p:nvSpPr>
        <p:spPr>
          <a:xfrm>
            <a:off x="3750000" y="3760000"/>
            <a:ext cx="29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Distribuição financeira da carteira</a:t>
            </a:r>
          </a:p>
        </p:txBody>
      </p:sp>
      <p:sp>
        <p:nvSpPr>
          <p:cNvPr id="71" name="tb7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/ DataJud (2024); TJSP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De pergunta a variáveis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Exemplo prático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Pergunta: o tempo mediano até a sentença em renovatórias do TJSP cresceu de 2019 a 2024?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Variáveis necessárias: tipo de ação (renovatória), data de distribuição, data de sentença, ano da sentença.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Operação derivada: tempo de tramitação = data de sentença − data de distribuição. Mediana por ano da sentença.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(2024); Wheelan (2016)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Três exemplos de mapeamento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Da pergunta às variáveis necessárias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6950000" cy="27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1.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Existe diferença entre acordos e sentenças no valor envolvido? → tipo de ação, desfecho, valor da causa, valor de condenação ou acordado.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2.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Há concentração de ações em poucas varas? → comarca, vara, ano de distribuição.</a:t>
            </a:r>
          </a:p>
          <a:p>
            <a:pPr lvl="0"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pt-BR" sz="13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 3.  </a:t>
            </a:r>
            <a:r>
              <a:rPr lang="pt-BR"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taxa de procedência mudou após 2020? → tipo de ação, ano da sentença, desfecho.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ABJ (relatórios)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dirigido em sala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60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10 minutos · em duplas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69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Escolha uma das 4 perguntas investigáveis do slide 'Antes e depois' (slide 22).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Liste em uma folha as variáveis necessárias para respondê-la, separando categóricas, numéricas e temporais.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Indique se cada variável existe na base do XY&amp;A, se viria de fonte pública (DataJud, CNJ) ou se precisaria ser construída.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Tudo começa com uma TABELA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Insight da Etapa 2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6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Para iniciar a análise, basta uma tabela: 1 linha por unidade de observação (em geral, um processo) e 1 coluna por variável.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Linhas comparáveis e colunas com valores no mesmo formato. Datas como datas, valores como números, categorias como categorias.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Toda análise descritiva da Aula 3, e todos os modelos da Aula 4, partem dessa mesma forma: linhas e colunas saneadas.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Nunes (2019)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 tabela é a petição inicial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Analogia jurídica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6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petição inicial define o que está em juízo. Tudo o que não estiver nela, em regra, não pode ser decidido.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tabela analítica define o que pode ser respondido. Tudo o que não estiver nela, em regra, não pode ser analisado.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Por isso, mapear bem na Etapa 2 é desenhar a competência da análise, antes de qualquer coleta.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Mini-caso completo · XY&amp;A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500000"/>
            <a:ext cx="6950000" cy="275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1" name="rect51"/>
          <p:cNvSpPr/>
          <p:nvPr/>
        </p:nvSpPr>
        <p:spPr>
          <a:xfrm>
            <a:off x="830000" y="1580000"/>
            <a:ext cx="6790000" cy="600000"/>
          </a:xfrm>
          <a:prstGeom prst="roundRect">
            <a:avLst>
              <a:gd name="adj" fmla="val 6500"/>
            </a:avLst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Da intuição à tabela em 4 movimentos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50000" y="2330000"/>
            <a:ext cx="6550000" cy="18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Movimento 1 (Etapa 1): intuição vira pergunta. 'Estamos perdendo mais renovatórias' vira 'Nas renovatórias do TJSP, parte PJ, 2018 a 2024, qual a evolução anual da taxa de procedência em favor do locador?'.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Movimento 2 (Etapa 2): pergunta vira variáveis. Tipo de ação, ano da sentença, parte (PJ/PF), desfecho, jurisdição.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Movimento 3 (Etapa 2): variáveis viram tabela. 1 linha por processo, 5 colunas, ano da sentença como recorte temporal e desfecho como variável central.</a:t>
            </a:r>
          </a:p>
          <a:p>
            <a:pPr lvl="0" marL="0" indent="0" algn="l">
              <a:lnSpc>
                <a:spcPct val="125000"/>
              </a:lnSpc>
              <a:spcBef>
                <a:spcPts val="400"/>
              </a:spcBef>
              <a:buNone/>
            </a:pPr>
            <a:r>
              <a:rPr lang="pt-BR" sz="10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Movimento 4 (próximo bloco): tabela viabiliza coleta planejada na DataJud e na base interna do XY&amp;A.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50000" y="4350000"/>
            <a:ext cx="6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Síntese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Cinco pontos para levar para casa</a:t>
            </a:r>
          </a:p>
        </p:txBody>
      </p:sp>
      <p:sp>
        <p:nvSpPr>
          <p:cNvPr id="50" name="el50"/>
          <p:cNvSpPr/>
          <p:nvPr/>
        </p:nvSpPr>
        <p:spPr>
          <a:xfrm>
            <a:off x="750000" y="175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471034" y="181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Toda análise jurimétrica começa por uma pergunta investigável e termina em uma decisão concreta.</a:t>
            </a:r>
          </a:p>
        </p:txBody>
      </p:sp>
      <p:sp>
        <p:nvSpPr>
          <p:cNvPr id="52" name="el52"/>
          <p:cNvSpPr/>
          <p:nvPr/>
        </p:nvSpPr>
        <p:spPr>
          <a:xfrm>
            <a:off x="750000" y="232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1471034" y="238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ciclo de 6 etapas é o método reproduzível, rastreável e defensável que sustenta cada análise.</a:t>
            </a:r>
          </a:p>
        </p:txBody>
      </p:sp>
      <p:sp>
        <p:nvSpPr>
          <p:cNvPr id="54" name="el54"/>
          <p:cNvSpPr/>
          <p:nvPr/>
        </p:nvSpPr>
        <p:spPr>
          <a:xfrm>
            <a:off x="750000" y="289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471034" y="295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1: pergunta específica, verificável, comparável e útil.</a:t>
            </a:r>
          </a:p>
        </p:txBody>
      </p:sp>
      <p:sp>
        <p:nvSpPr>
          <p:cNvPr id="56" name="el56"/>
          <p:cNvSpPr/>
          <p:nvPr/>
        </p:nvSpPr>
        <p:spPr>
          <a:xfrm>
            <a:off x="750000" y="346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1471034" y="352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Etapa 2: tabela com 1 linha por processo e 1 coluna por variável, saneada e completa.</a:t>
            </a:r>
          </a:p>
        </p:txBody>
      </p:sp>
      <p:sp>
        <p:nvSpPr>
          <p:cNvPr id="58" name="el58"/>
          <p:cNvSpPr/>
          <p:nvPr/>
        </p:nvSpPr>
        <p:spPr>
          <a:xfrm>
            <a:off x="750000" y="4030000"/>
            <a:ext cx="600900" cy="5001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20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471034" y="4090000"/>
            <a:ext cx="6369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Etapa 1 e 2 bem feitas, análise vira opinião com cara de número.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Ponte para o Bloco 2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vem a seguir, depois do intervalo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585100"/>
            <a:ext cx="1500000" cy="594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0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➜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2200000" y="1780000"/>
            <a:ext cx="450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 Etapa 2 à coleta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200000" y="2100000"/>
            <a:ext cx="4500000" cy="3999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 próximo bloco entramos na Etapa 3: como obter os dados em fontes públicas e internas.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65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75695" y="260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DataJud, CNJ e tribunais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3822762" y="260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Fontes públicas e como ler os campos dos microdados.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308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75695" y="303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Coleta interna e scraping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3822762" y="303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construir, quando comprar e quando raspar.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51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75695" y="346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LGPD e vieses de amostragem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3822762" y="346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Cuidados antes de prometer resposta.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94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75695" y="389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Atividade Prática 2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3822762" y="389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3 questões sobre a base do XY&amp;A, entrega até a Aula 3.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67008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Referências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67008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Fontes citadas ao longo do conteúdo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7025100" cy="23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NUNES, Marcelo Guedes. Jurimetria: como a estatística pode reinventar o Direito. 2. ed. São Paulo: Revista dos Tribunais, 2019.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WHEELAN, Charles. Estatística: o que é, para que serve, como funciona. Rio de Janeiro: Zahar, 2016.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HUFF, Darrell. Como mentir com estatística. Rio de Janeiro: Intrínseca, 2016.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SILVER, Nate. O sinal e o ruído. Rio de Janeiro: Intrínseca, 2013.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KATZ, Daniel Martin; BOMMARITO, Michael J. Quantitative Legal Prediction. Emory Law Journal, v. 62, 2013.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CONSELHO NACIONAL DE JUSTIÇA (CNJ). Justiça em Números e painéis do DataJud, 2024.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ASSOCIAÇÃO BRASILEIRA DE JURIMETRIA (ABJ). Relatórios e publicações em abj.org.br.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SUSSKIND, Richard. Tomorrow's Lawyers. 3rd ed. Oxford University Press, 2023.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JAMES, Gareth et al. An Introduction to Statistical Learning. 2nd ed. Springer, 2021.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250000"/>
            <a:ext cx="695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Leituras complementares estarão indicadas ao longo dos próximos blocos.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822950" y="914400"/>
            <a:ext cx="5486400" cy="7314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Fim do Bloco 1</a:t>
            </a:r>
          </a:p>
        </p:txBody>
      </p:sp>
      <p:sp>
        <p:nvSpPr>
          <p:cNvPr id="31" name="rect31"/>
          <p:cNvSpPr/>
          <p:nvPr/>
        </p:nvSpPr>
        <p:spPr>
          <a:xfrm>
            <a:off x="822950" y="1691640"/>
            <a:ext cx="18288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32" name="tb32"/>
          <p:cNvSpPr txBox="1"/>
          <p:nvPr/>
        </p:nvSpPr>
        <p:spPr>
          <a:xfrm>
            <a:off x="822950" y="2391995"/>
            <a:ext cx="5486400" cy="4572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Intervalo de 15 minutos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822945" y="2849200"/>
            <a:ext cx="54864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 Bloco 2: Etapa 3 (coletar), LGPD, vieses e a Atividade Prática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