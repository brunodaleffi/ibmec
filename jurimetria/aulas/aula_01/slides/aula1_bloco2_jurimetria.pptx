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y="5143500" cx="9144000"/>
  <p:notesSz cx="5143500" cy="9144000"/>
  <p:embeddedFontLst>
    <p:embeddedFont>
      <p:font typeface="Arial Black"/>
      <p:regular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60">
          <p15:clr>
            <a:srgbClr val="747775"/>
          </p15:clr>
        </p15:guide>
      </p15:sldGuideLst>
    </p:ext>
    <p:ext uri="GoogleSlidesCustomDataVersion2">
      <go:slidesCustomData xmlns:go="http://customooxmlschemas.google.com/" r:id="rId49" roundtripDataSignature="AMtx7mhKbLG4NuOx191qdy9AQ7jxCtH+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ArialBlack-regular.fntdata"/><Relationship Id="rId47" Type="http://schemas.openxmlformats.org/officeDocument/2006/relationships/slide" Target="slides/slide42.xml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4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3daede5b08c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5" name="Google Shape;755;g3daede5b08c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56" name="Google Shape;756;g3daede5b08c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 txBox="1"/>
          <p:nvPr/>
        </p:nvSpPr>
        <p:spPr>
          <a:xfrm>
            <a:off x="1097275" y="914400"/>
            <a:ext cx="67905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JURIMETRIA E ANÁLISE DE DADOS PARA DECISÕES ESTRATÉGICAS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097280" y="278892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1097280" y="292608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Aula 1 – Bloco 2</a:t>
            </a:r>
            <a:endParaRPr/>
          </a:p>
        </p:txBody>
      </p:sp>
      <p:sp>
        <p:nvSpPr>
          <p:cNvPr id="19" name="Google Shape;19;p1"/>
          <p:cNvSpPr txBox="1"/>
          <p:nvPr/>
        </p:nvSpPr>
        <p:spPr>
          <a:xfrm>
            <a:off x="1097280" y="3337560"/>
            <a:ext cx="5486400" cy="5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Painéis do Judiciário e a ponte da dúvida jurídica para a pergunta jurimétrica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Agenda do Bloco</a:t>
            </a:r>
            <a:endParaRPr/>
          </a:p>
        </p:txBody>
      </p:sp>
      <p:sp>
        <p:nvSpPr>
          <p:cNvPr id="26" name="Google Shape;26;p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vamos percorrer nas próximas 1h50min</a:t>
            </a: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750000" y="17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28" name="Google Shape;28;p2"/>
          <p:cNvSpPr txBox="1"/>
          <p:nvPr/>
        </p:nvSpPr>
        <p:spPr>
          <a:xfrm>
            <a:off x="1270000" y="18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Panorama do dado público no Judiciário brasileiro</a:t>
            </a: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3750000" y="17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4270000" y="18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Demonstração: painéis do CNJ e DataJud</a:t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750000" y="23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1270000" y="24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Leitura crítica de números jurídicos</a:t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3750000" y="23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270000" y="24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 ponte: dúvida jurídica → pergunta jurimétrica</a:t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750000" y="29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1270000" y="30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5 perguntas que o XY&amp;A deveria estar fazendo</a:t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750000" y="29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6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4270000" y="30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Exercício-ponte para o trabalho final</a:t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750000" y="35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7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1270000" y="36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Interação com a turma</a:t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3750000" y="355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8</a:t>
            </a:r>
            <a:endParaRPr/>
          </a:p>
        </p:txBody>
      </p:sp>
      <p:sp>
        <p:nvSpPr>
          <p:cNvPr id="42" name="Google Shape;42;p2"/>
          <p:cNvSpPr txBox="1"/>
          <p:nvPr/>
        </p:nvSpPr>
        <p:spPr>
          <a:xfrm>
            <a:off x="4270000" y="3610000"/>
            <a:ext cx="24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Atividade Prática 1</a:t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Objetivos de Aprendizagem</a:t>
            </a:r>
            <a:endParaRPr/>
          </a:p>
        </p:txBody>
      </p:sp>
      <p:sp>
        <p:nvSpPr>
          <p:cNvPr id="49" name="Google Shape;49;p3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Ao final deste bloco, você será capaz de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90000" y="173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 txBox="1"/>
          <p:nvPr/>
        </p:nvSpPr>
        <p:spPr>
          <a:xfrm>
            <a:off x="1060000" y="170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Identificar</a:t>
            </a:r>
            <a:endParaRPr/>
          </a:p>
        </p:txBody>
      </p:sp>
      <p:sp>
        <p:nvSpPr>
          <p:cNvPr id="52" name="Google Shape;52;p3"/>
          <p:cNvSpPr txBox="1"/>
          <p:nvPr/>
        </p:nvSpPr>
        <p:spPr>
          <a:xfrm>
            <a:off x="2900000" y="1700000"/>
            <a:ext cx="37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as fontes oficiais de dados do Judiciário brasileiro: CNJ, DataJud e painéis dos tribunais</a:t>
            </a:r>
            <a:endParaRPr/>
          </a:p>
        </p:txBody>
      </p:sp>
      <p:sp>
        <p:nvSpPr>
          <p:cNvPr id="53" name="Google Shape;53;p3"/>
          <p:cNvSpPr/>
          <p:nvPr/>
        </p:nvSpPr>
        <p:spPr>
          <a:xfrm>
            <a:off x="790000" y="225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"/>
          <p:cNvSpPr txBox="1"/>
          <p:nvPr/>
        </p:nvSpPr>
        <p:spPr>
          <a:xfrm>
            <a:off x="1060000" y="222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Navegar</a:t>
            </a:r>
            <a:endParaRPr/>
          </a:p>
        </p:txBody>
      </p:sp>
      <p:sp>
        <p:nvSpPr>
          <p:cNvPr id="55" name="Google Shape;55;p3"/>
          <p:cNvSpPr txBox="1"/>
          <p:nvPr/>
        </p:nvSpPr>
        <p:spPr>
          <a:xfrm>
            <a:off x="2900000" y="2220000"/>
            <a:ext cx="37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pelos painéis do CNJ e DataJud, sabendo o que cada um permite responder</a:t>
            </a:r>
            <a:endParaRPr/>
          </a:p>
        </p:txBody>
      </p:sp>
      <p:sp>
        <p:nvSpPr>
          <p:cNvPr id="56" name="Google Shape;56;p3"/>
          <p:cNvSpPr/>
          <p:nvPr/>
        </p:nvSpPr>
        <p:spPr>
          <a:xfrm>
            <a:off x="790000" y="277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 txBox="1"/>
          <p:nvPr/>
        </p:nvSpPr>
        <p:spPr>
          <a:xfrm>
            <a:off x="1060000" y="274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Ler criticamente</a:t>
            </a:r>
            <a:endParaRPr/>
          </a:p>
        </p:txBody>
      </p:sp>
      <p:sp>
        <p:nvSpPr>
          <p:cNvPr id="58" name="Google Shape;58;p3"/>
          <p:cNvSpPr txBox="1"/>
          <p:nvPr/>
        </p:nvSpPr>
        <p:spPr>
          <a:xfrm>
            <a:off x="2900000" y="2740000"/>
            <a:ext cx="37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qualquer número jurídico, fazendo as cinco perguntas essenciais</a:t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790000" y="329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 txBox="1"/>
          <p:nvPr/>
        </p:nvSpPr>
        <p:spPr>
          <a:xfrm>
            <a:off x="1060000" y="326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Transformar</a:t>
            </a:r>
            <a:endParaRPr/>
          </a:p>
        </p:txBody>
      </p:sp>
      <p:sp>
        <p:nvSpPr>
          <p:cNvPr id="61" name="Google Shape;61;p3"/>
          <p:cNvSpPr txBox="1"/>
          <p:nvPr/>
        </p:nvSpPr>
        <p:spPr>
          <a:xfrm>
            <a:off x="2900000" y="3260000"/>
            <a:ext cx="37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uma dúvida jurídica vaga em uma pergunta jurimétrica investigável</a:t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790000" y="381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 txBox="1"/>
          <p:nvPr/>
        </p:nvSpPr>
        <p:spPr>
          <a:xfrm>
            <a:off x="1060000" y="378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Esboçar</a:t>
            </a:r>
            <a:endParaRPr/>
          </a:p>
        </p:txBody>
      </p:sp>
      <p:sp>
        <p:nvSpPr>
          <p:cNvPr id="64" name="Google Shape;64;p3"/>
          <p:cNvSpPr txBox="1"/>
          <p:nvPr/>
        </p:nvSpPr>
        <p:spPr>
          <a:xfrm>
            <a:off x="2900000" y="3780000"/>
            <a:ext cx="37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primeira pergunta de pesquisa para o trabalho final do grupo</a:t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Voltando do intervalo</a:t>
            </a:r>
            <a:endParaRPr/>
          </a:p>
        </p:txBody>
      </p:sp>
      <p:sp>
        <p:nvSpPr>
          <p:cNvPr id="71" name="Google Shape;71;p4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Onde paramos no Bloco 1</a:t>
            </a:r>
            <a:endParaRPr/>
          </a:p>
        </p:txBody>
      </p:sp>
      <p:sp>
        <p:nvSpPr>
          <p:cNvPr id="72" name="Google Shape;72;p4"/>
          <p:cNvSpPr txBox="1"/>
          <p:nvPr/>
        </p:nvSpPr>
        <p:spPr>
          <a:xfrm>
            <a:off x="750000" y="175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Vimos por que dados importam, o que é Jurimetria e os fundamentos de população, amostra e variáveis. Agora vamos ver de onde vêm os dados.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50000" y="2400000"/>
            <a:ext cx="1900000" cy="18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900000" y="2550000"/>
            <a:ext cx="16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Bloco 1</a:t>
            </a:r>
            <a:endParaRPr/>
          </a:p>
        </p:txBody>
      </p:sp>
      <p:sp>
        <p:nvSpPr>
          <p:cNvPr id="75" name="Google Shape;75;p4"/>
          <p:cNvSpPr txBox="1"/>
          <p:nvPr/>
        </p:nvSpPr>
        <p:spPr>
          <a:xfrm>
            <a:off x="900000" y="286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FUNDAMENTOS</a:t>
            </a:r>
            <a:endParaRPr/>
          </a:p>
        </p:txBody>
      </p:sp>
      <p:sp>
        <p:nvSpPr>
          <p:cNvPr id="76" name="Google Shape;76;p4"/>
          <p:cNvSpPr txBox="1"/>
          <p:nvPr/>
        </p:nvSpPr>
        <p:spPr>
          <a:xfrm>
            <a:off x="900000" y="3400000"/>
            <a:ext cx="16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é Jurimetria, por que importa, e o vocabulário básico de dados.</a:t>
            </a:r>
            <a:endParaRPr/>
          </a:p>
        </p:txBody>
      </p:sp>
      <p:sp>
        <p:nvSpPr>
          <p:cNvPr id="77" name="Google Shape;77;p4"/>
          <p:cNvSpPr/>
          <p:nvPr/>
        </p:nvSpPr>
        <p:spPr>
          <a:xfrm>
            <a:off x="2800000" y="2400000"/>
            <a:ext cx="1900000" cy="185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 txBox="1"/>
          <p:nvPr/>
        </p:nvSpPr>
        <p:spPr>
          <a:xfrm>
            <a:off x="2950000" y="2550000"/>
            <a:ext cx="16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Bloco 2</a:t>
            </a:r>
            <a:endParaRPr/>
          </a:p>
        </p:txBody>
      </p:sp>
      <p:sp>
        <p:nvSpPr>
          <p:cNvPr id="79" name="Google Shape;79;p4"/>
          <p:cNvSpPr txBox="1"/>
          <p:nvPr/>
        </p:nvSpPr>
        <p:spPr>
          <a:xfrm>
            <a:off x="2950000" y="286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DOS DADOS À PERGUNTA</a:t>
            </a:r>
            <a:endParaRPr/>
          </a:p>
        </p:txBody>
      </p:sp>
      <p:sp>
        <p:nvSpPr>
          <p:cNvPr id="80" name="Google Shape;80;p4"/>
          <p:cNvSpPr txBox="1"/>
          <p:nvPr/>
        </p:nvSpPr>
        <p:spPr>
          <a:xfrm>
            <a:off x="2950000" y="3400000"/>
            <a:ext cx="16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Onde encontrar dados, como ler números jurídicos e como fazer a pergunta certa.</a:t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4850000" y="2400000"/>
            <a:ext cx="1900000" cy="18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5000000" y="2550000"/>
            <a:ext cx="16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Aula 2</a:t>
            </a:r>
            <a:endParaRPr/>
          </a:p>
        </p:txBody>
      </p:sp>
      <p:sp>
        <p:nvSpPr>
          <p:cNvPr id="83" name="Google Shape;83;p4"/>
          <p:cNvSpPr txBox="1"/>
          <p:nvPr/>
        </p:nvSpPr>
        <p:spPr>
          <a:xfrm>
            <a:off x="5000000" y="286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MÉTODO</a:t>
            </a:r>
            <a:endParaRPr/>
          </a:p>
        </p:txBody>
      </p:sp>
      <p:sp>
        <p:nvSpPr>
          <p:cNvPr id="84" name="Google Shape;84;p4"/>
          <p:cNvSpPr txBox="1"/>
          <p:nvPr/>
        </p:nvSpPr>
        <p:spPr>
          <a:xfrm>
            <a:off x="5000000" y="3400000"/>
            <a:ext cx="16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ciclo da ciência de dados, em modo raiz, etapa por etapa.</a:t>
            </a: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/>
          </a:p>
        </p:txBody>
      </p:sp>
      <p:sp>
        <p:nvSpPr>
          <p:cNvPr id="91" name="Google Shape;91;p5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Onde estão os dados</a:t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Justiça em Números, DataJud e os painéis dos tribunais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Panorama do dado público</a:t>
            </a:r>
            <a:endParaRPr/>
          </a:p>
        </p:txBody>
      </p:sp>
      <p:sp>
        <p:nvSpPr>
          <p:cNvPr id="99" name="Google Shape;99;p6"/>
          <p:cNvSpPr txBox="1"/>
          <p:nvPr/>
        </p:nvSpPr>
        <p:spPr>
          <a:xfrm>
            <a:off x="750000" y="1063416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Três camadas que o operador do Direito precisa conhecer</a:t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750000" y="1323650"/>
            <a:ext cx="6816300" cy="9207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921842" y="1523646"/>
            <a:ext cx="549900" cy="48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102" name="Google Shape;102;p6"/>
          <p:cNvSpPr txBox="1"/>
          <p:nvPr/>
        </p:nvSpPr>
        <p:spPr>
          <a:xfrm>
            <a:off x="1609209" y="1337398"/>
            <a:ext cx="1031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CNJ</a:t>
            </a:r>
            <a:endParaRPr/>
          </a:p>
        </p:txBody>
      </p:sp>
      <p:sp>
        <p:nvSpPr>
          <p:cNvPr id="103" name="Google Shape;103;p6"/>
          <p:cNvSpPr txBox="1"/>
          <p:nvPr/>
        </p:nvSpPr>
        <p:spPr>
          <a:xfrm>
            <a:off x="1609209" y="1554672"/>
            <a:ext cx="5613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Justiça em Números</a:t>
            </a:r>
            <a:endParaRPr/>
          </a:p>
        </p:txBody>
      </p:sp>
      <p:sp>
        <p:nvSpPr>
          <p:cNvPr id="104" name="Google Shape;104;p6"/>
          <p:cNvSpPr txBox="1"/>
          <p:nvPr/>
        </p:nvSpPr>
        <p:spPr>
          <a:xfrm>
            <a:off x="1609209" y="1825474"/>
            <a:ext cx="57852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Relatório anual macro: produtividade, congestionamento, taxa de recorribilidade por tribunal.</a:t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750000" y="2244225"/>
            <a:ext cx="6816300" cy="80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921842" y="2444225"/>
            <a:ext cx="549900" cy="48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107" name="Google Shape;107;p6"/>
          <p:cNvSpPr txBox="1"/>
          <p:nvPr/>
        </p:nvSpPr>
        <p:spPr>
          <a:xfrm>
            <a:off x="1609212" y="2344225"/>
            <a:ext cx="1031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CNJ</a:t>
            </a:r>
            <a:endParaRPr/>
          </a:p>
        </p:txBody>
      </p:sp>
      <p:sp>
        <p:nvSpPr>
          <p:cNvPr id="108" name="Google Shape;108;p6"/>
          <p:cNvSpPr txBox="1"/>
          <p:nvPr/>
        </p:nvSpPr>
        <p:spPr>
          <a:xfrm>
            <a:off x="1609212" y="2569339"/>
            <a:ext cx="5613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DataJud</a:t>
            </a:r>
            <a:endParaRPr/>
          </a:p>
        </p:txBody>
      </p:sp>
      <p:sp>
        <p:nvSpPr>
          <p:cNvPr id="109" name="Google Shape;109;p6"/>
          <p:cNvSpPr txBox="1"/>
          <p:nvPr/>
        </p:nvSpPr>
        <p:spPr>
          <a:xfrm>
            <a:off x="1609212" y="2847976"/>
            <a:ext cx="5785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Base unificada de processos do Judiciário brasileiro, com microdados estruturados.</a:t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750000" y="3133425"/>
            <a:ext cx="6816300" cy="10506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921842" y="3333416"/>
            <a:ext cx="549900" cy="48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112" name="Google Shape;112;p6"/>
          <p:cNvSpPr txBox="1"/>
          <p:nvPr/>
        </p:nvSpPr>
        <p:spPr>
          <a:xfrm>
            <a:off x="1609212" y="3233415"/>
            <a:ext cx="1031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Tribunais</a:t>
            </a:r>
            <a:endParaRPr/>
          </a:p>
        </p:txBody>
      </p:sp>
      <p:sp>
        <p:nvSpPr>
          <p:cNvPr id="113" name="Google Shape;113;p6"/>
          <p:cNvSpPr txBox="1"/>
          <p:nvPr/>
        </p:nvSpPr>
        <p:spPr>
          <a:xfrm>
            <a:off x="1609212" y="3513419"/>
            <a:ext cx="5613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Painéis próprios</a:t>
            </a:r>
            <a:endParaRPr/>
          </a:p>
        </p:txBody>
      </p:sp>
      <p:sp>
        <p:nvSpPr>
          <p:cNvPr id="114" name="Google Shape;114;p6"/>
          <p:cNvSpPr txBox="1"/>
          <p:nvPr/>
        </p:nvSpPr>
        <p:spPr>
          <a:xfrm>
            <a:off x="1609212" y="3784219"/>
            <a:ext cx="57852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tribunal mantém painéis específicos: TJSP, TJRJ, TST, etc., com recortes locais.</a:t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CNJ, cnj.jus.br; ABJ (2023).</a:t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Justiça em Números</a:t>
            </a:r>
            <a:endParaRPr/>
          </a:p>
        </p:txBody>
      </p:sp>
      <p:sp>
        <p:nvSpPr>
          <p:cNvPr id="122" name="Google Shape;122;p7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panorama anual do CNJ</a:t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750000" y="1750000"/>
            <a:ext cx="2900000" cy="240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900000" y="1850000"/>
            <a:ext cx="270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O QUE É</a:t>
            </a:r>
            <a:endParaRPr/>
          </a:p>
        </p:txBody>
      </p:sp>
      <p:sp>
        <p:nvSpPr>
          <p:cNvPr id="125" name="Google Shape;125;p7"/>
          <p:cNvSpPr txBox="1"/>
          <p:nvPr/>
        </p:nvSpPr>
        <p:spPr>
          <a:xfrm>
            <a:off x="900000" y="2200000"/>
            <a:ext cx="2700000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Relatório anual publicado pelo CNJ desde 2004. Consolida indicadores de todos os tribunais brasileiros: número de processos, tempo, gastos, taxa de produtividade dos magistrados.</a:t>
            </a:r>
            <a:endParaRPr/>
          </a:p>
        </p:txBody>
      </p:sp>
      <p:sp>
        <p:nvSpPr>
          <p:cNvPr id="126" name="Google Shape;126;p7"/>
          <p:cNvSpPr txBox="1"/>
          <p:nvPr/>
        </p:nvSpPr>
        <p:spPr>
          <a:xfrm>
            <a:off x="3850000" y="1750000"/>
            <a:ext cx="300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Principais indicadores</a:t>
            </a:r>
            <a:endParaRPr/>
          </a:p>
        </p:txBody>
      </p:sp>
      <p:sp>
        <p:nvSpPr>
          <p:cNvPr id="127" name="Google Shape;127;p7"/>
          <p:cNvSpPr txBox="1"/>
          <p:nvPr/>
        </p:nvSpPr>
        <p:spPr>
          <a:xfrm>
            <a:off x="3850000" y="2150000"/>
            <a:ext cx="3000000" cy="2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Casos novos por ano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Casos pendentes (estoque)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Tempo médio de tramitação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Taxa de congestionamento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Produtividade dos magistrados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Despesa total do Judiciário</a:t>
            </a:r>
            <a:endParaRPr/>
          </a:p>
        </p:txBody>
      </p:sp>
      <p:sp>
        <p:nvSpPr>
          <p:cNvPr id="128" name="Google Shape;128;p7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CNJ, Justiça em Números, cnj.jus.br/pesquisas-judiciarias.</a:t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DataJud: a porta de entrada</a:t>
            </a:r>
            <a:endParaRPr/>
          </a:p>
        </p:txBody>
      </p:sp>
      <p:sp>
        <p:nvSpPr>
          <p:cNvPr id="135" name="Google Shape;135;p8"/>
          <p:cNvSpPr txBox="1"/>
          <p:nvPr/>
        </p:nvSpPr>
        <p:spPr>
          <a:xfrm>
            <a:off x="750000" y="1181027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 base unificada do Judiciário brasileiro</a:t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750000" y="1601027"/>
            <a:ext cx="5949900" cy="8001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850000" y="1671027"/>
            <a:ext cx="24000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+200 mi</a:t>
            </a:r>
            <a:endParaRPr/>
          </a:p>
        </p:txBody>
      </p:sp>
      <p:sp>
        <p:nvSpPr>
          <p:cNvPr id="138" name="Google Shape;138;p8"/>
          <p:cNvSpPr txBox="1"/>
          <p:nvPr/>
        </p:nvSpPr>
        <p:spPr>
          <a:xfrm>
            <a:off x="3300000" y="1671027"/>
            <a:ext cx="33000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 processos cadastrados, alimentados em fluxo contínuo pelos tribunais.</a:t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750000" y="2601027"/>
            <a:ext cx="2850000" cy="75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880000" y="2881027"/>
            <a:ext cx="200100" cy="2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1150000" y="273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Microdados</a:t>
            </a:r>
            <a:endParaRPr/>
          </a:p>
        </p:txBody>
      </p:sp>
      <p:sp>
        <p:nvSpPr>
          <p:cNvPr id="142" name="Google Shape;142;p8"/>
          <p:cNvSpPr txBox="1"/>
          <p:nvPr/>
        </p:nvSpPr>
        <p:spPr>
          <a:xfrm>
            <a:off x="1150000" y="302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processo é um registro com dezenas de atributos.</a:t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3750000" y="2601027"/>
            <a:ext cx="2850000" cy="75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3880000" y="2881027"/>
            <a:ext cx="200100" cy="2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8"/>
          <p:cNvSpPr txBox="1"/>
          <p:nvPr/>
        </p:nvSpPr>
        <p:spPr>
          <a:xfrm>
            <a:off x="4150000" y="273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Padronizado</a:t>
            </a:r>
            <a:endParaRPr/>
          </a:p>
        </p:txBody>
      </p:sp>
      <p:sp>
        <p:nvSpPr>
          <p:cNvPr id="146" name="Google Shape;146;p8"/>
          <p:cNvSpPr txBox="1"/>
          <p:nvPr/>
        </p:nvSpPr>
        <p:spPr>
          <a:xfrm>
            <a:off x="4150000" y="302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Tabelas Processuais Unificadas (TPU): classes, assuntos, movimentos.</a:t>
            </a:r>
            <a:endParaRPr/>
          </a:p>
        </p:txBody>
      </p:sp>
      <p:sp>
        <p:nvSpPr>
          <p:cNvPr id="147" name="Google Shape;147;p8"/>
          <p:cNvSpPr/>
          <p:nvPr/>
        </p:nvSpPr>
        <p:spPr>
          <a:xfrm>
            <a:off x="750000" y="3451027"/>
            <a:ext cx="2850000" cy="75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880000" y="3731027"/>
            <a:ext cx="200100" cy="2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1150000" y="358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Atualizado</a:t>
            </a:r>
            <a:endParaRPr/>
          </a:p>
        </p:txBody>
      </p:sp>
      <p:sp>
        <p:nvSpPr>
          <p:cNvPr id="150" name="Google Shape;150;p8"/>
          <p:cNvSpPr txBox="1"/>
          <p:nvPr/>
        </p:nvSpPr>
        <p:spPr>
          <a:xfrm>
            <a:off x="1150000" y="387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Tribunais alimentam a base regularmente, com defasagem variável.</a:t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3750000" y="3451027"/>
            <a:ext cx="2850000" cy="75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3880000" y="3731027"/>
            <a:ext cx="200100" cy="2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4150000" y="358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Aberto</a:t>
            </a:r>
            <a:endParaRPr/>
          </a:p>
        </p:txBody>
      </p:sp>
      <p:sp>
        <p:nvSpPr>
          <p:cNvPr id="154" name="Google Shape;154;p8"/>
          <p:cNvSpPr txBox="1"/>
          <p:nvPr/>
        </p:nvSpPr>
        <p:spPr>
          <a:xfrm>
            <a:off x="4150000" y="3871027"/>
            <a:ext cx="23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Acesso público, com algumas camadas para uso institucional.</a:t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CNJ, DataJud, datajud.cnj.jus.br.</a:t>
            </a:r>
            <a:endParaRPr/>
          </a:p>
        </p:txBody>
      </p:sp>
      <p:sp>
        <p:nvSpPr>
          <p:cNvPr id="156" name="Google Shape;156;p8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Painéis dos tribunais</a:t>
            </a:r>
            <a:endParaRPr/>
          </a:p>
        </p:txBody>
      </p:sp>
      <p:sp>
        <p:nvSpPr>
          <p:cNvPr id="162" name="Google Shape;162;p9"/>
          <p:cNvSpPr txBox="1"/>
          <p:nvPr/>
        </p:nvSpPr>
        <p:spPr>
          <a:xfrm>
            <a:off x="750000" y="1330000"/>
            <a:ext cx="6291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 camada local: cada tribunal abre o que faz sentido para o seu público</a:t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750000" y="1750000"/>
            <a:ext cx="5950000" cy="40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830000" y="1810000"/>
            <a:ext cx="9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Tribunal</a:t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1930000" y="1810000"/>
            <a:ext cx="20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Painel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4130000" y="1810000"/>
            <a:ext cx="24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O que entrega</a:t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750000" y="2150000"/>
            <a:ext cx="5950000" cy="40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830000" y="2210000"/>
            <a:ext cx="9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CNJ</a:t>
            </a:r>
            <a:endParaRPr/>
          </a:p>
        </p:txBody>
      </p:sp>
      <p:sp>
        <p:nvSpPr>
          <p:cNvPr id="169" name="Google Shape;169;p9"/>
          <p:cNvSpPr txBox="1"/>
          <p:nvPr/>
        </p:nvSpPr>
        <p:spPr>
          <a:xfrm>
            <a:off x="1930000" y="2210000"/>
            <a:ext cx="20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da Produtividade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4130000" y="2210000"/>
            <a:ext cx="24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Indicadores agregados de magistrados e cartórios</a:t>
            </a:r>
            <a:endParaRPr/>
          </a:p>
        </p:txBody>
      </p:sp>
      <p:sp>
        <p:nvSpPr>
          <p:cNvPr id="171" name="Google Shape;171;p9"/>
          <p:cNvSpPr/>
          <p:nvPr/>
        </p:nvSpPr>
        <p:spPr>
          <a:xfrm>
            <a:off x="750000" y="2550000"/>
            <a:ext cx="595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9"/>
          <p:cNvSpPr txBox="1"/>
          <p:nvPr/>
        </p:nvSpPr>
        <p:spPr>
          <a:xfrm>
            <a:off x="830000" y="2610000"/>
            <a:ext cx="9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CNJ</a:t>
            </a:r>
            <a:endParaRPr/>
          </a:p>
        </p:txBody>
      </p:sp>
      <p:sp>
        <p:nvSpPr>
          <p:cNvPr id="173" name="Google Shape;173;p9"/>
          <p:cNvSpPr txBox="1"/>
          <p:nvPr/>
        </p:nvSpPr>
        <p:spPr>
          <a:xfrm>
            <a:off x="1930000" y="2610000"/>
            <a:ext cx="20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de Acervo</a:t>
            </a:r>
            <a:endParaRPr/>
          </a:p>
        </p:txBody>
      </p:sp>
      <p:sp>
        <p:nvSpPr>
          <p:cNvPr id="174" name="Google Shape;174;p9"/>
          <p:cNvSpPr txBox="1"/>
          <p:nvPr/>
        </p:nvSpPr>
        <p:spPr>
          <a:xfrm>
            <a:off x="4130000" y="2610000"/>
            <a:ext cx="24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Estoque processual por tribunal e classe</a:t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750000" y="2950000"/>
            <a:ext cx="5950000" cy="40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830000" y="3010000"/>
            <a:ext cx="9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TJSP</a:t>
            </a:r>
            <a:endParaRPr/>
          </a:p>
        </p:txBody>
      </p:sp>
      <p:sp>
        <p:nvSpPr>
          <p:cNvPr id="177" name="Google Shape;177;p9"/>
          <p:cNvSpPr txBox="1"/>
          <p:nvPr/>
        </p:nvSpPr>
        <p:spPr>
          <a:xfrm>
            <a:off x="1930000" y="3010000"/>
            <a:ext cx="20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Visualização de Sentenças</a:t>
            </a:r>
            <a:endParaRPr/>
          </a:p>
        </p:txBody>
      </p:sp>
      <p:sp>
        <p:nvSpPr>
          <p:cNvPr id="178" name="Google Shape;178;p9"/>
          <p:cNvSpPr txBox="1"/>
          <p:nvPr/>
        </p:nvSpPr>
        <p:spPr>
          <a:xfrm>
            <a:off x="4130000" y="3010000"/>
            <a:ext cx="24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Consulta a decisões por classe, assunto e período</a:t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750000" y="3350000"/>
            <a:ext cx="595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830000" y="3410000"/>
            <a:ext cx="9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TST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1930000" y="3410000"/>
            <a:ext cx="20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da Justiça do Trabalho</a:t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4130000" y="3410000"/>
            <a:ext cx="24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Reclamatórias, acordos e tempos por região</a:t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750000" y="3750000"/>
            <a:ext cx="5950000" cy="40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9"/>
          <p:cNvSpPr txBox="1"/>
          <p:nvPr/>
        </p:nvSpPr>
        <p:spPr>
          <a:xfrm>
            <a:off x="830000" y="3810000"/>
            <a:ext cx="9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STF</a:t>
            </a:r>
            <a:endParaRPr/>
          </a:p>
        </p:txBody>
      </p:sp>
      <p:sp>
        <p:nvSpPr>
          <p:cNvPr id="185" name="Google Shape;185;p9"/>
          <p:cNvSpPr txBox="1"/>
          <p:nvPr/>
        </p:nvSpPr>
        <p:spPr>
          <a:xfrm>
            <a:off x="1930000" y="3810000"/>
            <a:ext cx="204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de Estatística</a:t>
            </a:r>
            <a:endParaRPr/>
          </a:p>
        </p:txBody>
      </p:sp>
      <p:sp>
        <p:nvSpPr>
          <p:cNvPr id="186" name="Google Shape;186;p9"/>
          <p:cNvSpPr txBox="1"/>
          <p:nvPr/>
        </p:nvSpPr>
        <p:spPr>
          <a:xfrm>
            <a:off x="4130000" y="3810000"/>
            <a:ext cx="249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Acervo e fluxo da Suprema Corte</a:t>
            </a:r>
            <a:endParaRPr/>
          </a:p>
        </p:txBody>
      </p:sp>
      <p:sp>
        <p:nvSpPr>
          <p:cNvPr id="187" name="Google Shape;187;p9"/>
          <p:cNvSpPr txBox="1"/>
          <p:nvPr/>
        </p:nvSpPr>
        <p:spPr>
          <a:xfrm>
            <a:off x="750000" y="4250000"/>
            <a:ext cx="595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Lista ilustrativa. Cada tribunal mantém um conjunto próprio de painéis, atualizados em ritmos diferentes.</a:t>
            </a:r>
            <a:endParaRPr/>
          </a:p>
        </p:txBody>
      </p:sp>
      <p:sp>
        <p:nvSpPr>
          <p:cNvPr id="188" name="Google Shape;188;p9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Cuidados com dados públicos</a:t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olhar antes de confiar em qualquer número</a:t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750000" y="1700000"/>
            <a:ext cx="2850000" cy="12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00000" y="1859778"/>
            <a:ext cx="2550000" cy="3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Defasagem</a:t>
            </a:r>
            <a:endParaRPr/>
          </a:p>
        </p:txBody>
      </p:sp>
      <p:sp>
        <p:nvSpPr>
          <p:cNvPr id="197" name="Google Shape;197;p10"/>
          <p:cNvSpPr txBox="1"/>
          <p:nvPr/>
        </p:nvSpPr>
        <p:spPr>
          <a:xfrm>
            <a:off x="900000" y="2289949"/>
            <a:ext cx="2550000" cy="5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Dados podem estar atrasados em meses. Verifique data da última atualização.</a:t>
            </a:r>
            <a:endParaRPr/>
          </a:p>
        </p:txBody>
      </p:sp>
      <p:sp>
        <p:nvSpPr>
          <p:cNvPr id="198" name="Google Shape;198;p10"/>
          <p:cNvSpPr/>
          <p:nvPr/>
        </p:nvSpPr>
        <p:spPr>
          <a:xfrm>
            <a:off x="3750000" y="1700000"/>
            <a:ext cx="2850000" cy="12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3900000" y="1859778"/>
            <a:ext cx="2550000" cy="3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Cobertura</a:t>
            </a:r>
            <a:endParaRPr/>
          </a:p>
        </p:txBody>
      </p:sp>
      <p:sp>
        <p:nvSpPr>
          <p:cNvPr id="200" name="Google Shape;200;p10"/>
          <p:cNvSpPr txBox="1"/>
          <p:nvPr/>
        </p:nvSpPr>
        <p:spPr>
          <a:xfrm>
            <a:off x="3900000" y="2289949"/>
            <a:ext cx="2550000" cy="5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Nem todo tribunal alimenta com a mesma profundidade. Pode haver lacunas regionais.</a:t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750000" y="3051965"/>
            <a:ext cx="2850000" cy="12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900000" y="3211743"/>
            <a:ext cx="2550000" cy="3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Definições</a:t>
            </a:r>
            <a:endParaRPr/>
          </a:p>
        </p:txBody>
      </p:sp>
      <p:sp>
        <p:nvSpPr>
          <p:cNvPr id="203" name="Google Shape;203;p10"/>
          <p:cNvSpPr txBox="1"/>
          <p:nvPr/>
        </p:nvSpPr>
        <p:spPr>
          <a:xfrm>
            <a:off x="900000" y="3641914"/>
            <a:ext cx="2550000" cy="5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é 'caso novo'? E 'caso pendente'? Cada painel tem regra própria.</a:t>
            </a:r>
            <a:endParaRPr/>
          </a:p>
        </p:txBody>
      </p:sp>
      <p:sp>
        <p:nvSpPr>
          <p:cNvPr id="204" name="Google Shape;204;p10"/>
          <p:cNvSpPr/>
          <p:nvPr/>
        </p:nvSpPr>
        <p:spPr>
          <a:xfrm>
            <a:off x="3750000" y="3051965"/>
            <a:ext cx="2850000" cy="12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0"/>
          <p:cNvSpPr txBox="1"/>
          <p:nvPr/>
        </p:nvSpPr>
        <p:spPr>
          <a:xfrm>
            <a:off x="3900000" y="3211743"/>
            <a:ext cx="2550000" cy="3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Versão</a:t>
            </a:r>
            <a:endParaRPr/>
          </a:p>
        </p:txBody>
      </p:sp>
      <p:sp>
        <p:nvSpPr>
          <p:cNvPr id="206" name="Google Shape;206;p10"/>
          <p:cNvSpPr txBox="1"/>
          <p:nvPr/>
        </p:nvSpPr>
        <p:spPr>
          <a:xfrm>
            <a:off x="3900000" y="3641914"/>
            <a:ext cx="2550000" cy="5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Painéis mudam de cálculo entre relatórios. Compare versões cuidadosamente.</a:t>
            </a:r>
            <a:endParaRPr/>
          </a:p>
        </p:txBody>
      </p:sp>
      <p:sp>
        <p:nvSpPr>
          <p:cNvPr id="207" name="Google Shape;207;p10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Huff (2016); CNJ, Notas técnicas dos painéis.</a:t>
            </a:r>
            <a:endParaRPr/>
          </a:p>
        </p:txBody>
      </p:sp>
      <p:sp>
        <p:nvSpPr>
          <p:cNvPr id="208" name="Google Shape;208;p10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1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/>
          </a:p>
        </p:txBody>
      </p:sp>
      <p:sp>
        <p:nvSpPr>
          <p:cNvPr id="214" name="Google Shape;214;p11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Tour pelos painéis</a:t>
            </a:r>
            <a:endParaRPr/>
          </a:p>
        </p:txBody>
      </p:sp>
      <p:sp>
        <p:nvSpPr>
          <p:cNvPr id="215" name="Google Shape;215;p11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1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Demonstração ao vivo do CNJ e do DataJud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Roteiro da demonstração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4 paradas no tour, com perguntas guia</a:t>
            </a:r>
            <a:endParaRPr/>
          </a:p>
        </p:txBody>
      </p:sp>
      <p:sp>
        <p:nvSpPr>
          <p:cNvPr id="223" name="Google Shape;223;p12"/>
          <p:cNvSpPr/>
          <p:nvPr/>
        </p:nvSpPr>
        <p:spPr>
          <a:xfrm>
            <a:off x="750000" y="1750000"/>
            <a:ext cx="5950000" cy="5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2"/>
          <p:cNvSpPr txBox="1"/>
          <p:nvPr/>
        </p:nvSpPr>
        <p:spPr>
          <a:xfrm>
            <a:off x="850000" y="1900000"/>
            <a:ext cx="60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/>
          </a:p>
        </p:txBody>
      </p:sp>
      <p:sp>
        <p:nvSpPr>
          <p:cNvPr id="225" name="Google Shape;225;p12"/>
          <p:cNvSpPr txBox="1"/>
          <p:nvPr/>
        </p:nvSpPr>
        <p:spPr>
          <a:xfrm>
            <a:off x="1500000" y="183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cnj.jus.br/Justiça em Números</a:t>
            </a:r>
            <a:endParaRPr/>
          </a:p>
        </p:txBody>
      </p:sp>
      <p:sp>
        <p:nvSpPr>
          <p:cNvPr id="226" name="Google Shape;226;p12"/>
          <p:cNvSpPr txBox="1"/>
          <p:nvPr/>
        </p:nvSpPr>
        <p:spPr>
          <a:xfrm>
            <a:off x="1500000" y="210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Olhar a evolução do acervo nacional e a taxa de congestionamento.</a:t>
            </a:r>
            <a:endParaRPr/>
          </a:p>
        </p:txBody>
      </p:sp>
      <p:sp>
        <p:nvSpPr>
          <p:cNvPr id="227" name="Google Shape;227;p12"/>
          <p:cNvSpPr/>
          <p:nvPr/>
        </p:nvSpPr>
        <p:spPr>
          <a:xfrm>
            <a:off x="750000" y="2350000"/>
            <a:ext cx="5950000" cy="55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2"/>
          <p:cNvSpPr txBox="1"/>
          <p:nvPr/>
        </p:nvSpPr>
        <p:spPr>
          <a:xfrm>
            <a:off x="850000" y="2500000"/>
            <a:ext cx="60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/>
          </a:p>
        </p:txBody>
      </p:sp>
      <p:sp>
        <p:nvSpPr>
          <p:cNvPr id="229" name="Google Shape;229;p12"/>
          <p:cNvSpPr txBox="1"/>
          <p:nvPr/>
        </p:nvSpPr>
        <p:spPr>
          <a:xfrm>
            <a:off x="1500000" y="243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DataJud</a:t>
            </a:r>
            <a:endParaRPr/>
          </a:p>
        </p:txBody>
      </p:sp>
      <p:sp>
        <p:nvSpPr>
          <p:cNvPr id="230" name="Google Shape;230;p12"/>
          <p:cNvSpPr txBox="1"/>
          <p:nvPr/>
        </p:nvSpPr>
        <p:spPr>
          <a:xfrm>
            <a:off x="1500000" y="270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Filtrar por classe (renovatória) e tribunal (TJSP). Ver a estrutura do registro.</a:t>
            </a:r>
            <a:endParaRPr/>
          </a:p>
        </p:txBody>
      </p:sp>
      <p:sp>
        <p:nvSpPr>
          <p:cNvPr id="231" name="Google Shape;231;p12"/>
          <p:cNvSpPr/>
          <p:nvPr/>
        </p:nvSpPr>
        <p:spPr>
          <a:xfrm>
            <a:off x="750000" y="2950000"/>
            <a:ext cx="5950000" cy="5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2"/>
          <p:cNvSpPr txBox="1"/>
          <p:nvPr/>
        </p:nvSpPr>
        <p:spPr>
          <a:xfrm>
            <a:off x="850000" y="3100000"/>
            <a:ext cx="60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/>
          </a:p>
        </p:txBody>
      </p:sp>
      <p:sp>
        <p:nvSpPr>
          <p:cNvPr id="233" name="Google Shape;233;p12"/>
          <p:cNvSpPr txBox="1"/>
          <p:nvPr/>
        </p:nvSpPr>
        <p:spPr>
          <a:xfrm>
            <a:off x="1500000" y="303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TJSP, painel de sentenças</a:t>
            </a:r>
            <a:endParaRPr/>
          </a:p>
        </p:txBody>
      </p:sp>
      <p:sp>
        <p:nvSpPr>
          <p:cNvPr id="234" name="Google Shape;234;p12"/>
          <p:cNvSpPr txBox="1"/>
          <p:nvPr/>
        </p:nvSpPr>
        <p:spPr>
          <a:xfrm>
            <a:off x="1500000" y="330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Buscar decisões de revisão de aluguel, observar volume e distribuição por foro.</a:t>
            </a:r>
            <a:endParaRPr/>
          </a:p>
        </p:txBody>
      </p:sp>
      <p:sp>
        <p:nvSpPr>
          <p:cNvPr id="235" name="Google Shape;235;p12"/>
          <p:cNvSpPr/>
          <p:nvPr/>
        </p:nvSpPr>
        <p:spPr>
          <a:xfrm>
            <a:off x="750000" y="3550000"/>
            <a:ext cx="5950000" cy="55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2"/>
          <p:cNvSpPr txBox="1"/>
          <p:nvPr/>
        </p:nvSpPr>
        <p:spPr>
          <a:xfrm>
            <a:off x="850000" y="3700000"/>
            <a:ext cx="60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/>
          </a:p>
        </p:txBody>
      </p:sp>
      <p:sp>
        <p:nvSpPr>
          <p:cNvPr id="237" name="Google Shape;237;p12"/>
          <p:cNvSpPr txBox="1"/>
          <p:nvPr/>
        </p:nvSpPr>
        <p:spPr>
          <a:xfrm>
            <a:off x="1500000" y="363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Comparação CNJ × tribunal</a:t>
            </a:r>
            <a:endParaRPr/>
          </a:p>
        </p:txBody>
      </p:sp>
      <p:sp>
        <p:nvSpPr>
          <p:cNvPr id="238" name="Google Shape;238;p12"/>
          <p:cNvSpPr txBox="1"/>
          <p:nvPr/>
        </p:nvSpPr>
        <p:spPr>
          <a:xfrm>
            <a:off x="1500000" y="390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Ver onde os números batem e onde divergem. Entender por quê.</a:t>
            </a:r>
            <a:endParaRPr/>
          </a:p>
        </p:txBody>
      </p:sp>
      <p:sp>
        <p:nvSpPr>
          <p:cNvPr id="239" name="Google Shape;239;p12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3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Parada 1: Justiça em Números</a:t>
            </a:r>
            <a:endParaRPr/>
          </a:p>
        </p:txBody>
      </p:sp>
      <p:sp>
        <p:nvSpPr>
          <p:cNvPr id="245" name="Google Shape;245;p13"/>
          <p:cNvSpPr txBox="1"/>
          <p:nvPr/>
        </p:nvSpPr>
        <p:spPr>
          <a:xfrm>
            <a:off x="750000" y="1228071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en-US">
                <a:solidFill>
                  <a:srgbClr val="E8A317"/>
                </a:solidFill>
              </a:rPr>
              <a:t>N</a:t>
            </a: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úmeros que abrem qualquer conversa</a:t>
            </a:r>
            <a:endParaRPr/>
          </a:p>
        </p:txBody>
      </p:sp>
      <p:sp>
        <p:nvSpPr>
          <p:cNvPr id="246" name="Google Shape;246;p13"/>
          <p:cNvSpPr/>
          <p:nvPr/>
        </p:nvSpPr>
        <p:spPr>
          <a:xfrm>
            <a:off x="750000" y="1648071"/>
            <a:ext cx="5949900" cy="1500000"/>
          </a:xfrm>
          <a:prstGeom prst="roundRect">
            <a:avLst>
              <a:gd fmla="val 16667" name="adj"/>
            </a:avLst>
          </a:prstGeom>
          <a:solidFill>
            <a:srgbClr val="FAFAFA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3"/>
          <p:cNvSpPr txBox="1"/>
          <p:nvPr/>
        </p:nvSpPr>
        <p:spPr>
          <a:xfrm>
            <a:off x="850000" y="1728071"/>
            <a:ext cx="4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PAINEL DE PRODUTIVIDADE — JUSTIÇA EM NÚMEROS</a:t>
            </a:r>
            <a:endParaRPr/>
          </a:p>
        </p:txBody>
      </p:sp>
      <p:sp>
        <p:nvSpPr>
          <p:cNvPr id="248" name="Google Shape;248;p13"/>
          <p:cNvSpPr txBox="1"/>
          <p:nvPr/>
        </p:nvSpPr>
        <p:spPr>
          <a:xfrm>
            <a:off x="850000" y="1978071"/>
            <a:ext cx="4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Brasil, ano-base 2023</a:t>
            </a:r>
            <a:endParaRPr/>
          </a:p>
        </p:txBody>
      </p:sp>
      <p:sp>
        <p:nvSpPr>
          <p:cNvPr id="249" name="Google Shape;249;p13"/>
          <p:cNvSpPr txBox="1"/>
          <p:nvPr/>
        </p:nvSpPr>
        <p:spPr>
          <a:xfrm>
            <a:off x="850000" y="2348071"/>
            <a:ext cx="17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83 mi</a:t>
            </a:r>
            <a:endParaRPr/>
          </a:p>
        </p:txBody>
      </p:sp>
      <p:sp>
        <p:nvSpPr>
          <p:cNvPr id="250" name="Google Shape;250;p13"/>
          <p:cNvSpPr txBox="1"/>
          <p:nvPr/>
        </p:nvSpPr>
        <p:spPr>
          <a:xfrm>
            <a:off x="850000" y="2778071"/>
            <a:ext cx="17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casos pendentes</a:t>
            </a:r>
            <a:endParaRPr/>
          </a:p>
        </p:txBody>
      </p:sp>
      <p:sp>
        <p:nvSpPr>
          <p:cNvPr id="251" name="Google Shape;251;p13"/>
          <p:cNvSpPr txBox="1"/>
          <p:nvPr/>
        </p:nvSpPr>
        <p:spPr>
          <a:xfrm>
            <a:off x="2700000" y="2348071"/>
            <a:ext cx="17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31 mi</a:t>
            </a:r>
            <a:endParaRPr/>
          </a:p>
        </p:txBody>
      </p:sp>
      <p:sp>
        <p:nvSpPr>
          <p:cNvPr id="252" name="Google Shape;252;p13"/>
          <p:cNvSpPr txBox="1"/>
          <p:nvPr/>
        </p:nvSpPr>
        <p:spPr>
          <a:xfrm>
            <a:off x="2700000" y="2778071"/>
            <a:ext cx="17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casos novos</a:t>
            </a:r>
            <a:endParaRPr/>
          </a:p>
        </p:txBody>
      </p:sp>
      <p:sp>
        <p:nvSpPr>
          <p:cNvPr id="253" name="Google Shape;253;p13"/>
          <p:cNvSpPr txBox="1"/>
          <p:nvPr/>
        </p:nvSpPr>
        <p:spPr>
          <a:xfrm>
            <a:off x="4550000" y="2348071"/>
            <a:ext cx="17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69%</a:t>
            </a:r>
            <a:endParaRPr/>
          </a:p>
        </p:txBody>
      </p:sp>
      <p:sp>
        <p:nvSpPr>
          <p:cNvPr id="254" name="Google Shape;254;p13"/>
          <p:cNvSpPr txBox="1"/>
          <p:nvPr/>
        </p:nvSpPr>
        <p:spPr>
          <a:xfrm>
            <a:off x="4550000" y="2778071"/>
            <a:ext cx="174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taxa de congestionamento</a:t>
            </a:r>
            <a:endParaRPr/>
          </a:p>
        </p:txBody>
      </p:sp>
      <p:sp>
        <p:nvSpPr>
          <p:cNvPr id="255" name="Google Shape;255;p13"/>
          <p:cNvSpPr/>
          <p:nvPr/>
        </p:nvSpPr>
        <p:spPr>
          <a:xfrm>
            <a:off x="750000" y="3348071"/>
            <a:ext cx="5949900" cy="84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3"/>
          <p:cNvSpPr txBox="1"/>
          <p:nvPr/>
        </p:nvSpPr>
        <p:spPr>
          <a:xfrm>
            <a:off x="900000" y="3438071"/>
            <a:ext cx="5649900" cy="7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crítica: </a:t>
            </a: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 o estoque é de 83 milhões e entram 31 milhões por ano, o sistema produz mais do que entra? Em quanto tempo o estoque se renova? E o que isso significa para um cliente que hoje propõe uma renovatória?</a:t>
            </a:r>
            <a:endParaRPr/>
          </a:p>
        </p:txBody>
      </p:sp>
      <p:sp>
        <p:nvSpPr>
          <p:cNvPr id="257" name="Google Shape;257;p13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CNJ, Justiça em Números 2024 (dados ilustrativos).</a:t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4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Parada 2: DataJud, microdados</a:t>
            </a:r>
            <a:endParaRPr/>
          </a:p>
        </p:txBody>
      </p:sp>
      <p:sp>
        <p:nvSpPr>
          <p:cNvPr id="264" name="Google Shape;264;p14"/>
          <p:cNvSpPr txBox="1"/>
          <p:nvPr/>
        </p:nvSpPr>
        <p:spPr>
          <a:xfrm>
            <a:off x="757841" y="1196708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Como o sistema enxerga um processo</a:t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757841" y="1616708"/>
            <a:ext cx="5949900" cy="38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4"/>
          <p:cNvSpPr txBox="1"/>
          <p:nvPr/>
        </p:nvSpPr>
        <p:spPr>
          <a:xfrm>
            <a:off x="817841" y="1696708"/>
            <a:ext cx="1080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nº processo</a:t>
            </a:r>
            <a:endParaRPr/>
          </a:p>
        </p:txBody>
      </p:sp>
      <p:sp>
        <p:nvSpPr>
          <p:cNvPr id="267" name="Google Shape;267;p14"/>
          <p:cNvSpPr txBox="1"/>
          <p:nvPr/>
        </p:nvSpPr>
        <p:spPr>
          <a:xfrm>
            <a:off x="2017841" y="1696708"/>
            <a:ext cx="579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tribunal</a:t>
            </a:r>
            <a:endParaRPr/>
          </a:p>
        </p:txBody>
      </p:sp>
      <p:sp>
        <p:nvSpPr>
          <p:cNvPr id="268" name="Google Shape;268;p14"/>
          <p:cNvSpPr txBox="1"/>
          <p:nvPr/>
        </p:nvSpPr>
        <p:spPr>
          <a:xfrm>
            <a:off x="2717841" y="1696708"/>
            <a:ext cx="879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classe</a:t>
            </a:r>
            <a:endParaRPr/>
          </a:p>
        </p:txBody>
      </p:sp>
      <p:sp>
        <p:nvSpPr>
          <p:cNvPr id="269" name="Google Shape;269;p14"/>
          <p:cNvSpPr txBox="1"/>
          <p:nvPr/>
        </p:nvSpPr>
        <p:spPr>
          <a:xfrm>
            <a:off x="3713875" y="1676650"/>
            <a:ext cx="980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assunto</a:t>
            </a:r>
            <a:endParaRPr/>
          </a:p>
        </p:txBody>
      </p:sp>
      <p:sp>
        <p:nvSpPr>
          <p:cNvPr id="270" name="Google Shape;270;p14"/>
          <p:cNvSpPr txBox="1"/>
          <p:nvPr/>
        </p:nvSpPr>
        <p:spPr>
          <a:xfrm>
            <a:off x="4811988" y="1676650"/>
            <a:ext cx="780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data ajuiz.</a:t>
            </a:r>
            <a:endParaRPr/>
          </a:p>
        </p:txBody>
      </p:sp>
      <p:sp>
        <p:nvSpPr>
          <p:cNvPr id="271" name="Google Shape;271;p14"/>
          <p:cNvSpPr txBox="1"/>
          <p:nvPr/>
        </p:nvSpPr>
        <p:spPr>
          <a:xfrm>
            <a:off x="5710025" y="1709288"/>
            <a:ext cx="930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movimento atual</a:t>
            </a:r>
            <a:endParaRPr/>
          </a:p>
        </p:txBody>
      </p:sp>
      <p:sp>
        <p:nvSpPr>
          <p:cNvPr id="272" name="Google Shape;272;p14"/>
          <p:cNvSpPr/>
          <p:nvPr/>
        </p:nvSpPr>
        <p:spPr>
          <a:xfrm>
            <a:off x="757841" y="1996708"/>
            <a:ext cx="5949900" cy="30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4"/>
          <p:cNvSpPr txBox="1"/>
          <p:nvPr/>
        </p:nvSpPr>
        <p:spPr>
          <a:xfrm>
            <a:off x="817841" y="2056708"/>
            <a:ext cx="10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1003421-23.2022</a:t>
            </a:r>
            <a:endParaRPr/>
          </a:p>
        </p:txBody>
      </p:sp>
      <p:sp>
        <p:nvSpPr>
          <p:cNvPr id="274" name="Google Shape;274;p14"/>
          <p:cNvSpPr txBox="1"/>
          <p:nvPr/>
        </p:nvSpPr>
        <p:spPr>
          <a:xfrm>
            <a:off x="2017841" y="2056708"/>
            <a:ext cx="5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TJSP</a:t>
            </a:r>
            <a:endParaRPr/>
          </a:p>
        </p:txBody>
      </p:sp>
      <p:sp>
        <p:nvSpPr>
          <p:cNvPr id="275" name="Google Shape;275;p14"/>
          <p:cNvSpPr txBox="1"/>
          <p:nvPr/>
        </p:nvSpPr>
        <p:spPr>
          <a:xfrm>
            <a:off x="2717841" y="2056708"/>
            <a:ext cx="8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Renovatória</a:t>
            </a:r>
            <a:endParaRPr/>
          </a:p>
        </p:txBody>
      </p:sp>
      <p:sp>
        <p:nvSpPr>
          <p:cNvPr id="276" name="Google Shape;276;p14"/>
          <p:cNvSpPr txBox="1"/>
          <p:nvPr/>
        </p:nvSpPr>
        <p:spPr>
          <a:xfrm>
            <a:off x="3710000" y="2056708"/>
            <a:ext cx="9801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Locação</a:t>
            </a:r>
            <a:endParaRPr/>
          </a:p>
        </p:txBody>
      </p:sp>
      <p:sp>
        <p:nvSpPr>
          <p:cNvPr id="277" name="Google Shape;277;p14"/>
          <p:cNvSpPr txBox="1"/>
          <p:nvPr/>
        </p:nvSpPr>
        <p:spPr>
          <a:xfrm>
            <a:off x="4810000" y="2056750"/>
            <a:ext cx="7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12/02/2022</a:t>
            </a:r>
            <a:endParaRPr/>
          </a:p>
        </p:txBody>
      </p:sp>
      <p:sp>
        <p:nvSpPr>
          <p:cNvPr id="278" name="Google Shape;278;p14"/>
          <p:cNvSpPr txBox="1"/>
          <p:nvPr/>
        </p:nvSpPr>
        <p:spPr>
          <a:xfrm>
            <a:off x="5709900" y="2061987"/>
            <a:ext cx="93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Sentença</a:t>
            </a:r>
            <a:endParaRPr/>
          </a:p>
        </p:txBody>
      </p:sp>
      <p:sp>
        <p:nvSpPr>
          <p:cNvPr id="279" name="Google Shape;279;p14"/>
          <p:cNvSpPr/>
          <p:nvPr/>
        </p:nvSpPr>
        <p:spPr>
          <a:xfrm>
            <a:off x="757841" y="2296708"/>
            <a:ext cx="59499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817841" y="2356708"/>
            <a:ext cx="10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1004982-87.2023</a:t>
            </a:r>
            <a:endParaRPr/>
          </a:p>
        </p:txBody>
      </p:sp>
      <p:sp>
        <p:nvSpPr>
          <p:cNvPr id="281" name="Google Shape;281;p14"/>
          <p:cNvSpPr txBox="1"/>
          <p:nvPr/>
        </p:nvSpPr>
        <p:spPr>
          <a:xfrm>
            <a:off x="2017841" y="2356708"/>
            <a:ext cx="5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TJSP</a:t>
            </a:r>
            <a:endParaRPr/>
          </a:p>
        </p:txBody>
      </p:sp>
      <p:sp>
        <p:nvSpPr>
          <p:cNvPr id="282" name="Google Shape;282;p14"/>
          <p:cNvSpPr txBox="1"/>
          <p:nvPr/>
        </p:nvSpPr>
        <p:spPr>
          <a:xfrm>
            <a:off x="2717841" y="2356708"/>
            <a:ext cx="8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Revisão</a:t>
            </a:r>
            <a:endParaRPr/>
          </a:p>
        </p:txBody>
      </p:sp>
      <p:sp>
        <p:nvSpPr>
          <p:cNvPr id="283" name="Google Shape;283;p14"/>
          <p:cNvSpPr txBox="1"/>
          <p:nvPr/>
        </p:nvSpPr>
        <p:spPr>
          <a:xfrm>
            <a:off x="3713875" y="2356700"/>
            <a:ext cx="9801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Locação</a:t>
            </a:r>
            <a:endParaRPr/>
          </a:p>
        </p:txBody>
      </p:sp>
      <p:sp>
        <p:nvSpPr>
          <p:cNvPr id="284" name="Google Shape;284;p14"/>
          <p:cNvSpPr txBox="1"/>
          <p:nvPr/>
        </p:nvSpPr>
        <p:spPr>
          <a:xfrm>
            <a:off x="4810000" y="2356700"/>
            <a:ext cx="7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08/05/2023</a:t>
            </a:r>
            <a:endParaRPr/>
          </a:p>
        </p:txBody>
      </p:sp>
      <p:sp>
        <p:nvSpPr>
          <p:cNvPr id="285" name="Google Shape;285;p14"/>
          <p:cNvSpPr txBox="1"/>
          <p:nvPr/>
        </p:nvSpPr>
        <p:spPr>
          <a:xfrm>
            <a:off x="5710000" y="2356700"/>
            <a:ext cx="93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Audiência</a:t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757841" y="2596708"/>
            <a:ext cx="5949900" cy="30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4"/>
          <p:cNvSpPr txBox="1"/>
          <p:nvPr/>
        </p:nvSpPr>
        <p:spPr>
          <a:xfrm>
            <a:off x="817841" y="2656708"/>
            <a:ext cx="10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0809212-12.2021</a:t>
            </a:r>
            <a:endParaRPr/>
          </a:p>
        </p:txBody>
      </p:sp>
      <p:sp>
        <p:nvSpPr>
          <p:cNvPr id="288" name="Google Shape;288;p14"/>
          <p:cNvSpPr txBox="1"/>
          <p:nvPr/>
        </p:nvSpPr>
        <p:spPr>
          <a:xfrm>
            <a:off x="2017841" y="2656708"/>
            <a:ext cx="5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TJSP</a:t>
            </a:r>
            <a:endParaRPr/>
          </a:p>
        </p:txBody>
      </p:sp>
      <p:sp>
        <p:nvSpPr>
          <p:cNvPr id="289" name="Google Shape;289;p14"/>
          <p:cNvSpPr txBox="1"/>
          <p:nvPr/>
        </p:nvSpPr>
        <p:spPr>
          <a:xfrm>
            <a:off x="2717841" y="2656708"/>
            <a:ext cx="8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Renovatória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3713875" y="2656700"/>
            <a:ext cx="9801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Locação</a:t>
            </a:r>
            <a:endParaRPr/>
          </a:p>
        </p:txBody>
      </p:sp>
      <p:sp>
        <p:nvSpPr>
          <p:cNvPr id="291" name="Google Shape;291;p14"/>
          <p:cNvSpPr txBox="1"/>
          <p:nvPr/>
        </p:nvSpPr>
        <p:spPr>
          <a:xfrm>
            <a:off x="4811988" y="2656700"/>
            <a:ext cx="7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23/11/2021</a:t>
            </a:r>
            <a:endParaRPr/>
          </a:p>
        </p:txBody>
      </p:sp>
      <p:sp>
        <p:nvSpPr>
          <p:cNvPr id="292" name="Google Shape;292;p14"/>
          <p:cNvSpPr txBox="1"/>
          <p:nvPr/>
        </p:nvSpPr>
        <p:spPr>
          <a:xfrm>
            <a:off x="5710025" y="2656700"/>
            <a:ext cx="93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Recurso</a:t>
            </a:r>
            <a:endParaRPr/>
          </a:p>
        </p:txBody>
      </p:sp>
      <p:sp>
        <p:nvSpPr>
          <p:cNvPr id="293" name="Google Shape;293;p14"/>
          <p:cNvSpPr/>
          <p:nvPr/>
        </p:nvSpPr>
        <p:spPr>
          <a:xfrm>
            <a:off x="757841" y="2896708"/>
            <a:ext cx="59499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4"/>
          <p:cNvSpPr txBox="1"/>
          <p:nvPr/>
        </p:nvSpPr>
        <p:spPr>
          <a:xfrm>
            <a:off x="817841" y="2956708"/>
            <a:ext cx="10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1006554-04.2024</a:t>
            </a:r>
            <a:endParaRPr/>
          </a:p>
        </p:txBody>
      </p:sp>
      <p:sp>
        <p:nvSpPr>
          <p:cNvPr id="295" name="Google Shape;295;p14"/>
          <p:cNvSpPr txBox="1"/>
          <p:nvPr/>
        </p:nvSpPr>
        <p:spPr>
          <a:xfrm>
            <a:off x="2017841" y="2956708"/>
            <a:ext cx="5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TJSP</a:t>
            </a:r>
            <a:endParaRPr/>
          </a:p>
        </p:txBody>
      </p:sp>
      <p:sp>
        <p:nvSpPr>
          <p:cNvPr id="296" name="Google Shape;296;p14"/>
          <p:cNvSpPr txBox="1"/>
          <p:nvPr/>
        </p:nvSpPr>
        <p:spPr>
          <a:xfrm>
            <a:off x="2717841" y="2956708"/>
            <a:ext cx="879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Renovatória</a:t>
            </a:r>
            <a:endParaRPr/>
          </a:p>
        </p:txBody>
      </p:sp>
      <p:sp>
        <p:nvSpPr>
          <p:cNvPr id="297" name="Google Shape;297;p14"/>
          <p:cNvSpPr txBox="1"/>
          <p:nvPr/>
        </p:nvSpPr>
        <p:spPr>
          <a:xfrm>
            <a:off x="3713875" y="2969656"/>
            <a:ext cx="9801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Locação</a:t>
            </a:r>
            <a:endParaRPr/>
          </a:p>
        </p:txBody>
      </p:sp>
      <p:sp>
        <p:nvSpPr>
          <p:cNvPr id="298" name="Google Shape;298;p14"/>
          <p:cNvSpPr txBox="1"/>
          <p:nvPr/>
        </p:nvSpPr>
        <p:spPr>
          <a:xfrm>
            <a:off x="4811988" y="2955222"/>
            <a:ext cx="78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17/01/2024</a:t>
            </a:r>
            <a:endParaRPr/>
          </a:p>
        </p:txBody>
      </p:sp>
      <p:sp>
        <p:nvSpPr>
          <p:cNvPr id="299" name="Google Shape;299;p14"/>
          <p:cNvSpPr txBox="1"/>
          <p:nvPr/>
        </p:nvSpPr>
        <p:spPr>
          <a:xfrm>
            <a:off x="5710025" y="2966700"/>
            <a:ext cx="93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Distrib.</a:t>
            </a:r>
            <a:endParaRPr/>
          </a:p>
        </p:txBody>
      </p:sp>
      <p:sp>
        <p:nvSpPr>
          <p:cNvPr id="300" name="Google Shape;300;p14"/>
          <p:cNvSpPr/>
          <p:nvPr/>
        </p:nvSpPr>
        <p:spPr>
          <a:xfrm>
            <a:off x="757841" y="3446708"/>
            <a:ext cx="5949900" cy="75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4"/>
          <p:cNvSpPr txBox="1"/>
          <p:nvPr/>
        </p:nvSpPr>
        <p:spPr>
          <a:xfrm>
            <a:off x="907841" y="3516708"/>
            <a:ext cx="5649900" cy="6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Cada linha vira variável. </a:t>
            </a: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Toda análise descritiva começa por reconhecer o que cada coluna representa: classe é categórica, data é temporal, movimento é estado.</a:t>
            </a:r>
            <a:endParaRPr/>
          </a:p>
        </p:txBody>
      </p:sp>
      <p:sp>
        <p:nvSpPr>
          <p:cNvPr id="302" name="Google Shape;302;p14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CNJ, DataJud (dados ilustrativos).</a:t>
            </a:r>
            <a:endParaRPr/>
          </a:p>
        </p:txBody>
      </p:sp>
      <p:sp>
        <p:nvSpPr>
          <p:cNvPr id="303" name="Google Shape;303;p14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5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Parada 3: TJSP, sentenças</a:t>
            </a:r>
            <a:endParaRPr/>
          </a:p>
        </p:txBody>
      </p:sp>
      <p:sp>
        <p:nvSpPr>
          <p:cNvPr id="309" name="Google Shape;309;p15"/>
          <p:cNvSpPr txBox="1"/>
          <p:nvPr/>
        </p:nvSpPr>
        <p:spPr>
          <a:xfrm>
            <a:off x="750000" y="1228071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Volume e distribuição por foro, recortado para revisão e renovatória</a:t>
            </a:r>
            <a:endParaRPr/>
          </a:p>
        </p:txBody>
      </p:sp>
      <p:sp>
        <p:nvSpPr>
          <p:cNvPr id="310" name="Google Shape;310;p15"/>
          <p:cNvSpPr/>
          <p:nvPr/>
        </p:nvSpPr>
        <p:spPr>
          <a:xfrm>
            <a:off x="2800000" y="1768071"/>
            <a:ext cx="3549900" cy="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5"/>
          <p:cNvSpPr txBox="1"/>
          <p:nvPr/>
        </p:nvSpPr>
        <p:spPr>
          <a:xfrm>
            <a:off x="1100000" y="1828071"/>
            <a:ext cx="162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Foro Central</a:t>
            </a:r>
            <a:endParaRPr/>
          </a:p>
        </p:txBody>
      </p:sp>
      <p:sp>
        <p:nvSpPr>
          <p:cNvPr id="312" name="Google Shape;312;p15"/>
          <p:cNvSpPr/>
          <p:nvPr/>
        </p:nvSpPr>
        <p:spPr>
          <a:xfrm>
            <a:off x="2800000" y="1848071"/>
            <a:ext cx="3301800" cy="1701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5"/>
          <p:cNvSpPr txBox="1"/>
          <p:nvPr/>
        </p:nvSpPr>
        <p:spPr>
          <a:xfrm>
            <a:off x="6151757" y="1828071"/>
            <a:ext cx="60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4.830</a:t>
            </a:r>
            <a:endParaRPr/>
          </a:p>
        </p:txBody>
      </p:sp>
      <p:sp>
        <p:nvSpPr>
          <p:cNvPr id="314" name="Google Shape;314;p15"/>
          <p:cNvSpPr txBox="1"/>
          <p:nvPr/>
        </p:nvSpPr>
        <p:spPr>
          <a:xfrm>
            <a:off x="1100000" y="2108071"/>
            <a:ext cx="162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Foro Santo Amaro</a:t>
            </a:r>
            <a:endParaRPr/>
          </a:p>
        </p:txBody>
      </p:sp>
      <p:sp>
        <p:nvSpPr>
          <p:cNvPr id="315" name="Google Shape;315;p15"/>
          <p:cNvSpPr/>
          <p:nvPr/>
        </p:nvSpPr>
        <p:spPr>
          <a:xfrm>
            <a:off x="2800000" y="2128071"/>
            <a:ext cx="1469700" cy="17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5"/>
          <p:cNvSpPr txBox="1"/>
          <p:nvPr/>
        </p:nvSpPr>
        <p:spPr>
          <a:xfrm>
            <a:off x="4319726" y="2108071"/>
            <a:ext cx="60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2.150</a:t>
            </a:r>
            <a:endParaRPr/>
          </a:p>
        </p:txBody>
      </p:sp>
      <p:sp>
        <p:nvSpPr>
          <p:cNvPr id="317" name="Google Shape;317;p15"/>
          <p:cNvSpPr txBox="1"/>
          <p:nvPr/>
        </p:nvSpPr>
        <p:spPr>
          <a:xfrm>
            <a:off x="1100000" y="2388071"/>
            <a:ext cx="162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Foro Pinheiros</a:t>
            </a:r>
            <a:endParaRPr/>
          </a:p>
        </p:txBody>
      </p:sp>
      <p:sp>
        <p:nvSpPr>
          <p:cNvPr id="318" name="Google Shape;318;p15"/>
          <p:cNvSpPr/>
          <p:nvPr/>
        </p:nvSpPr>
        <p:spPr>
          <a:xfrm>
            <a:off x="2800000" y="2408071"/>
            <a:ext cx="1257900" cy="17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5"/>
          <p:cNvSpPr txBox="1"/>
          <p:nvPr/>
        </p:nvSpPr>
        <p:spPr>
          <a:xfrm>
            <a:off x="4107812" y="2388071"/>
            <a:ext cx="60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1.840</a:t>
            </a:r>
            <a:endParaRPr/>
          </a:p>
        </p:txBody>
      </p:sp>
      <p:sp>
        <p:nvSpPr>
          <p:cNvPr id="320" name="Google Shape;320;p15"/>
          <p:cNvSpPr txBox="1"/>
          <p:nvPr/>
        </p:nvSpPr>
        <p:spPr>
          <a:xfrm>
            <a:off x="1100000" y="2668071"/>
            <a:ext cx="162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Foro Tatuapé</a:t>
            </a:r>
            <a:endParaRPr/>
          </a:p>
        </p:txBody>
      </p:sp>
      <p:sp>
        <p:nvSpPr>
          <p:cNvPr id="321" name="Google Shape;321;p15"/>
          <p:cNvSpPr/>
          <p:nvPr/>
        </p:nvSpPr>
        <p:spPr>
          <a:xfrm>
            <a:off x="2800000" y="2688071"/>
            <a:ext cx="813600" cy="17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5"/>
          <p:cNvSpPr txBox="1"/>
          <p:nvPr/>
        </p:nvSpPr>
        <p:spPr>
          <a:xfrm>
            <a:off x="3663476" y="2668071"/>
            <a:ext cx="60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1.190</a:t>
            </a:r>
            <a:endParaRPr/>
          </a:p>
        </p:txBody>
      </p:sp>
      <p:sp>
        <p:nvSpPr>
          <p:cNvPr id="323" name="Google Shape;323;p15"/>
          <p:cNvSpPr txBox="1"/>
          <p:nvPr/>
        </p:nvSpPr>
        <p:spPr>
          <a:xfrm>
            <a:off x="1100000" y="2948071"/>
            <a:ext cx="162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Foro Lapa</a:t>
            </a:r>
            <a:endParaRPr/>
          </a:p>
        </p:txBody>
      </p:sp>
      <p:sp>
        <p:nvSpPr>
          <p:cNvPr id="324" name="Google Shape;324;p15"/>
          <p:cNvSpPr/>
          <p:nvPr/>
        </p:nvSpPr>
        <p:spPr>
          <a:xfrm>
            <a:off x="2800000" y="2968071"/>
            <a:ext cx="669900" cy="17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5"/>
          <p:cNvSpPr txBox="1"/>
          <p:nvPr/>
        </p:nvSpPr>
        <p:spPr>
          <a:xfrm>
            <a:off x="3519921" y="2948071"/>
            <a:ext cx="60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980</a:t>
            </a:r>
            <a:endParaRPr/>
          </a:p>
        </p:txBody>
      </p:sp>
      <p:sp>
        <p:nvSpPr>
          <p:cNvPr id="326" name="Google Shape;326;p15"/>
          <p:cNvSpPr txBox="1"/>
          <p:nvPr/>
        </p:nvSpPr>
        <p:spPr>
          <a:xfrm>
            <a:off x="1100000" y="3228071"/>
            <a:ext cx="162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Demais foros</a:t>
            </a:r>
            <a:endParaRPr/>
          </a:p>
        </p:txBody>
      </p:sp>
      <p:sp>
        <p:nvSpPr>
          <p:cNvPr id="327" name="Google Shape;327;p15"/>
          <p:cNvSpPr/>
          <p:nvPr/>
        </p:nvSpPr>
        <p:spPr>
          <a:xfrm>
            <a:off x="2800000" y="3248071"/>
            <a:ext cx="3500100" cy="170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5"/>
          <p:cNvSpPr txBox="1"/>
          <p:nvPr/>
        </p:nvSpPr>
        <p:spPr>
          <a:xfrm>
            <a:off x="6350000" y="3228071"/>
            <a:ext cx="6000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5.120</a:t>
            </a:r>
            <a:endParaRPr/>
          </a:p>
        </p:txBody>
      </p:sp>
      <p:sp>
        <p:nvSpPr>
          <p:cNvPr id="329" name="Google Shape;329;p15"/>
          <p:cNvSpPr/>
          <p:nvPr/>
        </p:nvSpPr>
        <p:spPr>
          <a:xfrm>
            <a:off x="750000" y="3598071"/>
            <a:ext cx="5949900" cy="60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5"/>
          <p:cNvSpPr txBox="1"/>
          <p:nvPr/>
        </p:nvSpPr>
        <p:spPr>
          <a:xfrm>
            <a:off x="900000" y="3668071"/>
            <a:ext cx="5649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Insight: </a:t>
            </a: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Foro Central concentra cerca de 30% das sentenças. Qualquer análise sobre 'a média do TJSP' precisa decidir se inclui ou não esse peso.</a:t>
            </a:r>
            <a:endParaRPr/>
          </a:p>
        </p:txBody>
      </p:sp>
      <p:sp>
        <p:nvSpPr>
          <p:cNvPr id="331" name="Google Shape;331;p15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TJSP (dados ilustrativos).</a:t>
            </a:r>
            <a:endParaRPr/>
          </a:p>
        </p:txBody>
      </p:sp>
      <p:sp>
        <p:nvSpPr>
          <p:cNvPr id="332" name="Google Shape;332;p15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7"/>
          <p:cNvSpPr txBox="1"/>
          <p:nvPr/>
        </p:nvSpPr>
        <p:spPr>
          <a:xfrm>
            <a:off x="750000" y="500000"/>
            <a:ext cx="71457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Parada 4: por que os números divergem</a:t>
            </a:r>
            <a:endParaRPr/>
          </a:p>
        </p:txBody>
      </p:sp>
      <p:sp>
        <p:nvSpPr>
          <p:cNvPr id="338" name="Google Shape;338;p17"/>
          <p:cNvSpPr txBox="1"/>
          <p:nvPr/>
        </p:nvSpPr>
        <p:spPr>
          <a:xfrm>
            <a:off x="750000" y="1330000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Mesma realidade, recortes diferentes</a:t>
            </a:r>
            <a:endParaRPr/>
          </a:p>
        </p:txBody>
      </p:sp>
      <p:sp>
        <p:nvSpPr>
          <p:cNvPr id="339" name="Google Shape;339;p17"/>
          <p:cNvSpPr/>
          <p:nvPr/>
        </p:nvSpPr>
        <p:spPr>
          <a:xfrm>
            <a:off x="750000" y="1750000"/>
            <a:ext cx="2900100" cy="21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7"/>
          <p:cNvSpPr txBox="1"/>
          <p:nvPr/>
        </p:nvSpPr>
        <p:spPr>
          <a:xfrm>
            <a:off x="900000" y="1880000"/>
            <a:ext cx="26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CNJ</a:t>
            </a:r>
            <a:endParaRPr/>
          </a:p>
        </p:txBody>
      </p:sp>
      <p:sp>
        <p:nvSpPr>
          <p:cNvPr id="341" name="Google Shape;341;p17"/>
          <p:cNvSpPr txBox="1"/>
          <p:nvPr/>
        </p:nvSpPr>
        <p:spPr>
          <a:xfrm>
            <a:off x="900000" y="2220000"/>
            <a:ext cx="26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Visão consolidada</a:t>
            </a:r>
            <a:endParaRPr/>
          </a:p>
        </p:txBody>
      </p:sp>
      <p:sp>
        <p:nvSpPr>
          <p:cNvPr id="342" name="Google Shape;342;p17"/>
          <p:cNvSpPr txBox="1"/>
          <p:nvPr/>
        </p:nvSpPr>
        <p:spPr>
          <a:xfrm>
            <a:off x="900000" y="2720000"/>
            <a:ext cx="26001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Agrega todos os tribunais.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Atualização anual.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Definições padronizadas pelo CNJ.</a:t>
            </a:r>
            <a:endParaRPr/>
          </a:p>
        </p:txBody>
      </p:sp>
      <p:sp>
        <p:nvSpPr>
          <p:cNvPr id="343" name="Google Shape;343;p17"/>
          <p:cNvSpPr/>
          <p:nvPr/>
        </p:nvSpPr>
        <p:spPr>
          <a:xfrm>
            <a:off x="3800000" y="1750000"/>
            <a:ext cx="2900100" cy="219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7"/>
          <p:cNvSpPr txBox="1"/>
          <p:nvPr/>
        </p:nvSpPr>
        <p:spPr>
          <a:xfrm>
            <a:off x="3950000" y="1880000"/>
            <a:ext cx="26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TRIBUNAL</a:t>
            </a:r>
            <a:endParaRPr/>
          </a:p>
        </p:txBody>
      </p:sp>
      <p:sp>
        <p:nvSpPr>
          <p:cNvPr id="345" name="Google Shape;345;p17"/>
          <p:cNvSpPr txBox="1"/>
          <p:nvPr/>
        </p:nvSpPr>
        <p:spPr>
          <a:xfrm>
            <a:off x="3950000" y="2220000"/>
            <a:ext cx="26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Visão local</a:t>
            </a:r>
            <a:endParaRPr/>
          </a:p>
        </p:txBody>
      </p:sp>
      <p:sp>
        <p:nvSpPr>
          <p:cNvPr id="346" name="Google Shape;346;p17"/>
          <p:cNvSpPr txBox="1"/>
          <p:nvPr/>
        </p:nvSpPr>
        <p:spPr>
          <a:xfrm>
            <a:off x="3950000" y="2720000"/>
            <a:ext cx="26001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Recorta apenas o próprio tribunal.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Atualização contínua, mais rápida.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Pode ter classificações próprias.</a:t>
            </a:r>
            <a:endParaRPr/>
          </a:p>
        </p:txBody>
      </p:sp>
      <p:sp>
        <p:nvSpPr>
          <p:cNvPr id="347" name="Google Shape;347;p17"/>
          <p:cNvSpPr/>
          <p:nvPr/>
        </p:nvSpPr>
        <p:spPr>
          <a:xfrm>
            <a:off x="750000" y="4080000"/>
            <a:ext cx="5949900" cy="3801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7"/>
          <p:cNvSpPr txBox="1"/>
          <p:nvPr/>
        </p:nvSpPr>
        <p:spPr>
          <a:xfrm>
            <a:off x="900000" y="4090000"/>
            <a:ext cx="56499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Regra prática: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para visão estratégica, comece pelo CNJ. Para detalhe local, vá ao tribunal.</a:t>
            </a:r>
            <a:endParaRPr/>
          </a:p>
        </p:txBody>
      </p:sp>
      <p:sp>
        <p:nvSpPr>
          <p:cNvPr id="349" name="Google Shape;349;p17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6"/>
          <p:cNvSpPr txBox="1"/>
          <p:nvPr/>
        </p:nvSpPr>
        <p:spPr>
          <a:xfrm>
            <a:off x="1097275" y="900000"/>
            <a:ext cx="18000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/>
          </a:p>
        </p:txBody>
      </p:sp>
      <p:sp>
        <p:nvSpPr>
          <p:cNvPr id="355" name="Google Shape;355;p16"/>
          <p:cNvSpPr txBox="1"/>
          <p:nvPr/>
        </p:nvSpPr>
        <p:spPr>
          <a:xfrm>
            <a:off x="1097275" y="2100000"/>
            <a:ext cx="6500100" cy="11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Leitura crítica de números</a:t>
            </a:r>
            <a:endParaRPr/>
          </a:p>
        </p:txBody>
      </p:sp>
      <p:sp>
        <p:nvSpPr>
          <p:cNvPr id="356" name="Google Shape;356;p16"/>
          <p:cNvSpPr/>
          <p:nvPr/>
        </p:nvSpPr>
        <p:spPr>
          <a:xfrm>
            <a:off x="1097280" y="32500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6"/>
          <p:cNvSpPr txBox="1"/>
          <p:nvPr/>
        </p:nvSpPr>
        <p:spPr>
          <a:xfrm>
            <a:off x="1097280" y="3400000"/>
            <a:ext cx="54864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 número sozinho não diz nada — toda métrica tem uma definição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8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O número sozinho não diz nada</a:t>
            </a:r>
            <a:endParaRPr/>
          </a:p>
        </p:txBody>
      </p:sp>
      <p:sp>
        <p:nvSpPr>
          <p:cNvPr id="363" name="Google Shape;363;p18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Toda métrica é fruto de uma decisão metodológica</a:t>
            </a:r>
            <a:endParaRPr/>
          </a:p>
        </p:txBody>
      </p:sp>
      <p:sp>
        <p:nvSpPr>
          <p:cNvPr id="364" name="Google Shape;364;p18"/>
          <p:cNvSpPr/>
          <p:nvPr/>
        </p:nvSpPr>
        <p:spPr>
          <a:xfrm>
            <a:off x="750000" y="1750000"/>
            <a:ext cx="5950000" cy="110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8"/>
          <p:cNvSpPr txBox="1"/>
          <p:nvPr/>
        </p:nvSpPr>
        <p:spPr>
          <a:xfrm>
            <a:off x="900000" y="1850000"/>
            <a:ext cx="565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VOCÊ LÊ ESTA MANCHETE</a:t>
            </a:r>
            <a:endParaRPr/>
          </a:p>
        </p:txBody>
      </p:sp>
      <p:sp>
        <p:nvSpPr>
          <p:cNvPr id="366" name="Google Shape;366;p18"/>
          <p:cNvSpPr txBox="1"/>
          <p:nvPr/>
        </p:nvSpPr>
        <p:spPr>
          <a:xfrm>
            <a:off x="900000" y="2200000"/>
            <a:ext cx="565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"Tempo médio de uma renovatória no TJSP é de 1.247 dias."</a:t>
            </a:r>
            <a:endParaRPr/>
          </a:p>
        </p:txBody>
      </p:sp>
      <p:sp>
        <p:nvSpPr>
          <p:cNvPr id="367" name="Google Shape;367;p18"/>
          <p:cNvSpPr txBox="1"/>
          <p:nvPr/>
        </p:nvSpPr>
        <p:spPr>
          <a:xfrm>
            <a:off x="750000" y="3050000"/>
            <a:ext cx="595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Antes de acreditar, pergunte:</a:t>
            </a:r>
            <a:endParaRPr/>
          </a:p>
        </p:txBody>
      </p:sp>
      <p:sp>
        <p:nvSpPr>
          <p:cNvPr id="368" name="Google Shape;368;p18"/>
          <p:cNvSpPr txBox="1"/>
          <p:nvPr/>
        </p:nvSpPr>
        <p:spPr>
          <a:xfrm>
            <a:off x="750000" y="3450000"/>
            <a:ext cx="595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Tempo médio de quê: distribuição até sentença? Até trânsito em julgado?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 que período de ajuizamento? E os processos ainda em curso?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Clr>
                <a:srgbClr val="E8A317"/>
              </a:buClr>
              <a:buSzPts val="1200"/>
              <a:buFont typeface="Arial"/>
              <a:buChar char="■"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Sobre quantos processos a média foi calculada?</a:t>
            </a:r>
            <a:endParaRPr/>
          </a:p>
        </p:txBody>
      </p:sp>
      <p:sp>
        <p:nvSpPr>
          <p:cNvPr id="369" name="Google Shape;369;p18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Huff (2016); Wheelan (2016).</a:t>
            </a:r>
            <a:endParaRPr/>
          </a:p>
        </p:txBody>
      </p:sp>
      <p:sp>
        <p:nvSpPr>
          <p:cNvPr id="370" name="Google Shape;370;p18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9"/>
          <p:cNvSpPr txBox="1"/>
          <p:nvPr/>
        </p:nvSpPr>
        <p:spPr>
          <a:xfrm>
            <a:off x="750000" y="500000"/>
            <a:ext cx="7122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5 perguntas para qualquer número jurídico</a:t>
            </a:r>
            <a:endParaRPr/>
          </a:p>
        </p:txBody>
      </p:sp>
      <p:sp>
        <p:nvSpPr>
          <p:cNvPr id="376" name="Google Shape;376;p19"/>
          <p:cNvSpPr txBox="1"/>
          <p:nvPr/>
        </p:nvSpPr>
        <p:spPr>
          <a:xfrm>
            <a:off x="750000" y="1212390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Um checklist mínimo de leitura crítica</a:t>
            </a:r>
            <a:endParaRPr/>
          </a:p>
        </p:txBody>
      </p:sp>
      <p:sp>
        <p:nvSpPr>
          <p:cNvPr id="377" name="Google Shape;377;p19"/>
          <p:cNvSpPr/>
          <p:nvPr/>
        </p:nvSpPr>
        <p:spPr>
          <a:xfrm>
            <a:off x="800000" y="1632390"/>
            <a:ext cx="480000" cy="4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378" name="Google Shape;378;p19"/>
          <p:cNvSpPr txBox="1"/>
          <p:nvPr/>
        </p:nvSpPr>
        <p:spPr>
          <a:xfrm>
            <a:off x="1400000" y="1682390"/>
            <a:ext cx="1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O QUE</a:t>
            </a:r>
            <a:endParaRPr/>
          </a:p>
        </p:txBody>
      </p:sp>
      <p:sp>
        <p:nvSpPr>
          <p:cNvPr id="379" name="Google Shape;379;p19"/>
          <p:cNvSpPr txBox="1"/>
          <p:nvPr/>
        </p:nvSpPr>
        <p:spPr>
          <a:xfrm>
            <a:off x="2900000" y="1682390"/>
            <a:ext cx="38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 a definição exata da métrica?</a:t>
            </a:r>
            <a:endParaRPr/>
          </a:p>
        </p:txBody>
      </p:sp>
      <p:sp>
        <p:nvSpPr>
          <p:cNvPr id="380" name="Google Shape;380;p19"/>
          <p:cNvSpPr/>
          <p:nvPr/>
        </p:nvSpPr>
        <p:spPr>
          <a:xfrm>
            <a:off x="800000" y="2162390"/>
            <a:ext cx="480000" cy="4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381" name="Google Shape;381;p19"/>
          <p:cNvSpPr txBox="1"/>
          <p:nvPr/>
        </p:nvSpPr>
        <p:spPr>
          <a:xfrm>
            <a:off x="1400000" y="2212390"/>
            <a:ext cx="1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DE ONDE</a:t>
            </a:r>
            <a:endParaRPr/>
          </a:p>
        </p:txBody>
      </p:sp>
      <p:sp>
        <p:nvSpPr>
          <p:cNvPr id="382" name="Google Shape;382;p19"/>
          <p:cNvSpPr txBox="1"/>
          <p:nvPr/>
        </p:nvSpPr>
        <p:spPr>
          <a:xfrm>
            <a:off x="2900000" y="2212390"/>
            <a:ext cx="38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 a fonte original? É primária ou secundária?</a:t>
            </a:r>
            <a:endParaRPr/>
          </a:p>
        </p:txBody>
      </p:sp>
      <p:sp>
        <p:nvSpPr>
          <p:cNvPr id="383" name="Google Shape;383;p19"/>
          <p:cNvSpPr/>
          <p:nvPr/>
        </p:nvSpPr>
        <p:spPr>
          <a:xfrm>
            <a:off x="800000" y="2692390"/>
            <a:ext cx="480000" cy="4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384" name="Google Shape;384;p19"/>
          <p:cNvSpPr txBox="1"/>
          <p:nvPr/>
        </p:nvSpPr>
        <p:spPr>
          <a:xfrm>
            <a:off x="1400000" y="2742390"/>
            <a:ext cx="1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QUANDO</a:t>
            </a:r>
            <a:endParaRPr/>
          </a:p>
        </p:txBody>
      </p:sp>
      <p:sp>
        <p:nvSpPr>
          <p:cNvPr id="385" name="Google Shape;385;p19"/>
          <p:cNvSpPr txBox="1"/>
          <p:nvPr/>
        </p:nvSpPr>
        <p:spPr>
          <a:xfrm>
            <a:off x="2900000" y="2742390"/>
            <a:ext cx="38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que período se refere? Está atualizada?</a:t>
            </a:r>
            <a:endParaRPr/>
          </a:p>
        </p:txBody>
      </p:sp>
      <p:sp>
        <p:nvSpPr>
          <p:cNvPr id="386" name="Google Shape;386;p19"/>
          <p:cNvSpPr/>
          <p:nvPr/>
        </p:nvSpPr>
        <p:spPr>
          <a:xfrm>
            <a:off x="800000" y="3222390"/>
            <a:ext cx="480000" cy="4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/>
          </a:p>
        </p:txBody>
      </p:sp>
      <p:sp>
        <p:nvSpPr>
          <p:cNvPr id="387" name="Google Shape;387;p19"/>
          <p:cNvSpPr txBox="1"/>
          <p:nvPr/>
        </p:nvSpPr>
        <p:spPr>
          <a:xfrm>
            <a:off x="1400000" y="3272390"/>
            <a:ext cx="1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SOBRE QUEM</a:t>
            </a:r>
            <a:endParaRPr/>
          </a:p>
        </p:txBody>
      </p:sp>
      <p:sp>
        <p:nvSpPr>
          <p:cNvPr id="388" name="Google Shape;388;p19"/>
          <p:cNvSpPr txBox="1"/>
          <p:nvPr/>
        </p:nvSpPr>
        <p:spPr>
          <a:xfrm>
            <a:off x="2900000" y="3272390"/>
            <a:ext cx="38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Qual o universo? Que filtros foram aplicados?</a:t>
            </a:r>
            <a:endParaRPr/>
          </a:p>
        </p:txBody>
      </p:sp>
      <p:sp>
        <p:nvSpPr>
          <p:cNvPr id="389" name="Google Shape;389;p19"/>
          <p:cNvSpPr/>
          <p:nvPr/>
        </p:nvSpPr>
        <p:spPr>
          <a:xfrm>
            <a:off x="800000" y="3752389"/>
            <a:ext cx="480000" cy="4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/>
          </a:p>
        </p:txBody>
      </p:sp>
      <p:sp>
        <p:nvSpPr>
          <p:cNvPr id="390" name="Google Shape;390;p19"/>
          <p:cNvSpPr txBox="1"/>
          <p:nvPr/>
        </p:nvSpPr>
        <p:spPr>
          <a:xfrm>
            <a:off x="1400000" y="3802390"/>
            <a:ext cx="1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POR QUÊ</a:t>
            </a:r>
            <a:endParaRPr/>
          </a:p>
        </p:txBody>
      </p:sp>
      <p:sp>
        <p:nvSpPr>
          <p:cNvPr id="391" name="Google Shape;391;p19"/>
          <p:cNvSpPr txBox="1"/>
          <p:nvPr/>
        </p:nvSpPr>
        <p:spPr>
          <a:xfrm>
            <a:off x="2900000" y="3802390"/>
            <a:ext cx="38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Quem produziu o número e com que interesse?</a:t>
            </a:r>
            <a:endParaRPr/>
          </a:p>
        </p:txBody>
      </p:sp>
      <p:sp>
        <p:nvSpPr>
          <p:cNvPr id="392" name="Google Shape;392;p19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Huff (2016); Silver (2013).</a:t>
            </a:r>
            <a:endParaRPr/>
          </a:p>
        </p:txBody>
      </p:sp>
      <p:sp>
        <p:nvSpPr>
          <p:cNvPr id="393" name="Google Shape;393;p19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Armadilhas comuns</a:t>
            </a:r>
            <a:endParaRPr/>
          </a:p>
        </p:txBody>
      </p:sp>
      <p:sp>
        <p:nvSpPr>
          <p:cNvPr id="399" name="Google Shape;399;p20"/>
          <p:cNvSpPr txBox="1"/>
          <p:nvPr/>
        </p:nvSpPr>
        <p:spPr>
          <a:xfrm>
            <a:off x="750000" y="1228071"/>
            <a:ext cx="5949900" cy="4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Erros recorrentes na leitura de dados jurídicos</a:t>
            </a:r>
            <a:endParaRPr/>
          </a:p>
        </p:txBody>
      </p:sp>
      <p:sp>
        <p:nvSpPr>
          <p:cNvPr id="400" name="Google Shape;400;p20"/>
          <p:cNvSpPr/>
          <p:nvPr/>
        </p:nvSpPr>
        <p:spPr>
          <a:xfrm>
            <a:off x="750000" y="1676775"/>
            <a:ext cx="2850000" cy="1068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0"/>
          <p:cNvSpPr txBox="1"/>
          <p:nvPr/>
        </p:nvSpPr>
        <p:spPr>
          <a:xfrm>
            <a:off x="900000" y="1815660"/>
            <a:ext cx="2550000" cy="3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Denominador escondido</a:t>
            </a:r>
            <a:endParaRPr/>
          </a:p>
        </p:txBody>
      </p:sp>
      <p:sp>
        <p:nvSpPr>
          <p:cNvPr id="402" name="Google Shape;402;p20"/>
          <p:cNvSpPr txBox="1"/>
          <p:nvPr/>
        </p:nvSpPr>
        <p:spPr>
          <a:xfrm>
            <a:off x="900000" y="2168213"/>
            <a:ext cx="2550000" cy="5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'70% das sentenças foram favoráveis' diz pouco sem o total. 70% de 10 vs. 70% de 10.000?</a:t>
            </a:r>
            <a:endParaRPr/>
          </a:p>
        </p:txBody>
      </p:sp>
      <p:sp>
        <p:nvSpPr>
          <p:cNvPr id="403" name="Google Shape;403;p20"/>
          <p:cNvSpPr/>
          <p:nvPr/>
        </p:nvSpPr>
        <p:spPr>
          <a:xfrm>
            <a:off x="3750000" y="1676775"/>
            <a:ext cx="2850000" cy="1068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0"/>
          <p:cNvSpPr txBox="1"/>
          <p:nvPr/>
        </p:nvSpPr>
        <p:spPr>
          <a:xfrm>
            <a:off x="3900000" y="1815660"/>
            <a:ext cx="2550000" cy="3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Sobrevivência</a:t>
            </a:r>
            <a:endParaRPr/>
          </a:p>
        </p:txBody>
      </p:sp>
      <p:sp>
        <p:nvSpPr>
          <p:cNvPr id="405" name="Google Shape;405;p20"/>
          <p:cNvSpPr txBox="1"/>
          <p:nvPr/>
        </p:nvSpPr>
        <p:spPr>
          <a:xfrm>
            <a:off x="3900000" y="2168213"/>
            <a:ext cx="2550000" cy="5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'O processo médio dura X dias' costuma ignorar os processos em curso, que tendem a durar mais.</a:t>
            </a:r>
            <a:endParaRPr/>
          </a:p>
        </p:txBody>
      </p:sp>
      <p:sp>
        <p:nvSpPr>
          <p:cNvPr id="406" name="Google Shape;406;p20"/>
          <p:cNvSpPr/>
          <p:nvPr/>
        </p:nvSpPr>
        <p:spPr>
          <a:xfrm>
            <a:off x="750000" y="2851953"/>
            <a:ext cx="2850000" cy="1068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0"/>
          <p:cNvSpPr txBox="1"/>
          <p:nvPr/>
        </p:nvSpPr>
        <p:spPr>
          <a:xfrm>
            <a:off x="900000" y="2990837"/>
            <a:ext cx="2550000" cy="3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Cherry picking</a:t>
            </a:r>
            <a:endParaRPr/>
          </a:p>
        </p:txBody>
      </p:sp>
      <p:sp>
        <p:nvSpPr>
          <p:cNvPr id="408" name="Google Shape;408;p20"/>
          <p:cNvSpPr txBox="1"/>
          <p:nvPr/>
        </p:nvSpPr>
        <p:spPr>
          <a:xfrm>
            <a:off x="900000" y="3343391"/>
            <a:ext cx="2550000" cy="5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Selecionar a comarca, o ano ou o tipo de ação que confirma a tese, e descartar o resto.</a:t>
            </a:r>
            <a:endParaRPr/>
          </a:p>
        </p:txBody>
      </p:sp>
      <p:sp>
        <p:nvSpPr>
          <p:cNvPr id="409" name="Google Shape;409;p20"/>
          <p:cNvSpPr/>
          <p:nvPr/>
        </p:nvSpPr>
        <p:spPr>
          <a:xfrm>
            <a:off x="3750000" y="2851953"/>
            <a:ext cx="2850000" cy="1068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A3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20"/>
          <p:cNvSpPr txBox="1"/>
          <p:nvPr/>
        </p:nvSpPr>
        <p:spPr>
          <a:xfrm>
            <a:off x="3900000" y="2990837"/>
            <a:ext cx="2550000" cy="3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Eixo manipulado</a:t>
            </a:r>
            <a:endParaRPr/>
          </a:p>
        </p:txBody>
      </p:sp>
      <p:sp>
        <p:nvSpPr>
          <p:cNvPr id="411" name="Google Shape;411;p20"/>
          <p:cNvSpPr txBox="1"/>
          <p:nvPr/>
        </p:nvSpPr>
        <p:spPr>
          <a:xfrm>
            <a:off x="3900000" y="3343391"/>
            <a:ext cx="2550000" cy="5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Gráfico com eixo y começando em 60% transforma diferença pequena em barra gigantesca.</a:t>
            </a:r>
            <a:endParaRPr/>
          </a:p>
        </p:txBody>
      </p:sp>
      <p:sp>
        <p:nvSpPr>
          <p:cNvPr id="412" name="Google Shape;412;p20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Huff (2016); Silver (2013).</a:t>
            </a:r>
            <a:endParaRPr/>
          </a:p>
        </p:txBody>
      </p:sp>
      <p:sp>
        <p:nvSpPr>
          <p:cNvPr id="413" name="Google Shape;413;p20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1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/>
          </a:p>
        </p:txBody>
      </p:sp>
      <p:sp>
        <p:nvSpPr>
          <p:cNvPr id="419" name="Google Shape;419;p21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ponte fundamental</a:t>
            </a:r>
            <a:endParaRPr/>
          </a:p>
        </p:txBody>
      </p:sp>
      <p:sp>
        <p:nvSpPr>
          <p:cNvPr id="420" name="Google Shape;420;p21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21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Da dúvida jurídica para a pergunta jurimétrica, o eixo da Aula 2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2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 dúvida à pergunta investigável</a:t>
            </a:r>
            <a:endParaRPr/>
          </a:p>
        </p:txBody>
      </p:sp>
      <p:sp>
        <p:nvSpPr>
          <p:cNvPr id="427" name="Google Shape;427;p2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A operação cognitiva que abre o ciclo da ciência de dados</a:t>
            </a:r>
            <a:endParaRPr/>
          </a:p>
        </p:txBody>
      </p:sp>
      <p:sp>
        <p:nvSpPr>
          <p:cNvPr id="428" name="Google Shape;428;p22"/>
          <p:cNvSpPr/>
          <p:nvPr/>
        </p:nvSpPr>
        <p:spPr>
          <a:xfrm>
            <a:off x="750000" y="1800000"/>
            <a:ext cx="2500000" cy="180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2"/>
          <p:cNvSpPr txBox="1"/>
          <p:nvPr/>
        </p:nvSpPr>
        <p:spPr>
          <a:xfrm>
            <a:off x="850000" y="193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66666"/>
                </a:solidFill>
                <a:latin typeface="Arial Black"/>
                <a:ea typeface="Arial Black"/>
                <a:cs typeface="Arial Black"/>
                <a:sym typeface="Arial Black"/>
              </a:rPr>
              <a:t>DÚVIDA JURÍDICA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850000" y="2280000"/>
            <a:ext cx="23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Esse juiz é duro com revisão de aluguel?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850000" y="325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vaga, intuitiva, conversa de cafezinho</a:t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3225000" y="2280000"/>
            <a:ext cx="900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➜</a:t>
            </a:r>
            <a:endParaRPr/>
          </a:p>
        </p:txBody>
      </p:sp>
      <p:sp>
        <p:nvSpPr>
          <p:cNvPr id="433" name="Google Shape;433;p22"/>
          <p:cNvSpPr/>
          <p:nvPr/>
        </p:nvSpPr>
        <p:spPr>
          <a:xfrm>
            <a:off x="4200000" y="1800000"/>
            <a:ext cx="2500000" cy="180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2"/>
          <p:cNvSpPr txBox="1"/>
          <p:nvPr/>
        </p:nvSpPr>
        <p:spPr>
          <a:xfrm>
            <a:off x="4300000" y="193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JURIMÉTRICA</a:t>
            </a:r>
            <a:endParaRPr/>
          </a:p>
        </p:txBody>
      </p:sp>
      <p:sp>
        <p:nvSpPr>
          <p:cNvPr id="435" name="Google Shape;435;p22"/>
          <p:cNvSpPr txBox="1"/>
          <p:nvPr/>
        </p:nvSpPr>
        <p:spPr>
          <a:xfrm>
            <a:off x="4300000" y="2280000"/>
            <a:ext cx="23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revisões de aluguel comercial entre 2018 e 2024 no juízo X, a taxa de procedência ao locador difere da média do TJSP?</a:t>
            </a:r>
            <a:endParaRPr/>
          </a:p>
        </p:txBody>
      </p:sp>
      <p:sp>
        <p:nvSpPr>
          <p:cNvPr id="436" name="Google Shape;436;p22"/>
          <p:cNvSpPr txBox="1"/>
          <p:nvPr/>
        </p:nvSpPr>
        <p:spPr>
          <a:xfrm>
            <a:off x="4300000" y="325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específica, datada, mensurável</a:t>
            </a:r>
            <a:endParaRPr/>
          </a:p>
        </p:txBody>
      </p:sp>
      <p:sp>
        <p:nvSpPr>
          <p:cNvPr id="437" name="Google Shape;437;p22"/>
          <p:cNvSpPr txBox="1"/>
          <p:nvPr/>
        </p:nvSpPr>
        <p:spPr>
          <a:xfrm>
            <a:off x="750000" y="380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1" lang="en-US" sz="13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Esta tradução é o eixo da Aula 2.</a:t>
            </a:r>
            <a:endParaRPr/>
          </a:p>
        </p:txBody>
      </p:sp>
      <p:sp>
        <p:nvSpPr>
          <p:cNvPr id="438" name="Google Shape;438;p22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3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Critérios de uma boa pergunta</a:t>
            </a:r>
            <a:endParaRPr/>
          </a:p>
        </p:txBody>
      </p:sp>
      <p:sp>
        <p:nvSpPr>
          <p:cNvPr id="444" name="Google Shape;444;p23"/>
          <p:cNvSpPr txBox="1"/>
          <p:nvPr/>
        </p:nvSpPr>
        <p:spPr>
          <a:xfrm>
            <a:off x="750000" y="1282956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Cinco atributos que tornam uma pergunta investigável</a:t>
            </a:r>
            <a:endParaRPr/>
          </a:p>
        </p:txBody>
      </p:sp>
      <p:sp>
        <p:nvSpPr>
          <p:cNvPr id="445" name="Google Shape;445;p23"/>
          <p:cNvSpPr/>
          <p:nvPr/>
        </p:nvSpPr>
        <p:spPr>
          <a:xfrm>
            <a:off x="790000" y="1732956"/>
            <a:ext cx="159900" cy="1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3"/>
          <p:cNvSpPr txBox="1"/>
          <p:nvPr/>
        </p:nvSpPr>
        <p:spPr>
          <a:xfrm>
            <a:off x="1060000" y="1702956"/>
            <a:ext cx="17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Específica</a:t>
            </a:r>
            <a:endParaRPr/>
          </a:p>
        </p:txBody>
      </p:sp>
      <p:sp>
        <p:nvSpPr>
          <p:cNvPr id="447" name="Google Shape;447;p23"/>
          <p:cNvSpPr txBox="1"/>
          <p:nvPr/>
        </p:nvSpPr>
        <p:spPr>
          <a:xfrm>
            <a:off x="2900000" y="1702956"/>
            <a:ext cx="380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Restringe escopo: tipo de ação, parte, ramo do Direito.</a:t>
            </a:r>
            <a:endParaRPr/>
          </a:p>
        </p:txBody>
      </p:sp>
      <p:sp>
        <p:nvSpPr>
          <p:cNvPr id="448" name="Google Shape;448;p23"/>
          <p:cNvSpPr/>
          <p:nvPr/>
        </p:nvSpPr>
        <p:spPr>
          <a:xfrm>
            <a:off x="790000" y="2232956"/>
            <a:ext cx="159900" cy="1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3"/>
          <p:cNvSpPr txBox="1"/>
          <p:nvPr/>
        </p:nvSpPr>
        <p:spPr>
          <a:xfrm>
            <a:off x="1060000" y="2202956"/>
            <a:ext cx="17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Datada</a:t>
            </a:r>
            <a:endParaRPr/>
          </a:p>
        </p:txBody>
      </p:sp>
      <p:sp>
        <p:nvSpPr>
          <p:cNvPr id="450" name="Google Shape;450;p23"/>
          <p:cNvSpPr txBox="1"/>
          <p:nvPr/>
        </p:nvSpPr>
        <p:spPr>
          <a:xfrm>
            <a:off x="2900000" y="2202956"/>
            <a:ext cx="380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Tem janela temporal definida (ex.: 2018 a 2024).</a:t>
            </a:r>
            <a:endParaRPr/>
          </a:p>
        </p:txBody>
      </p:sp>
      <p:sp>
        <p:nvSpPr>
          <p:cNvPr id="451" name="Google Shape;451;p23"/>
          <p:cNvSpPr/>
          <p:nvPr/>
        </p:nvSpPr>
        <p:spPr>
          <a:xfrm>
            <a:off x="790000" y="2732956"/>
            <a:ext cx="159900" cy="1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23"/>
          <p:cNvSpPr txBox="1"/>
          <p:nvPr/>
        </p:nvSpPr>
        <p:spPr>
          <a:xfrm>
            <a:off x="1060000" y="2702956"/>
            <a:ext cx="17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Mensurável</a:t>
            </a:r>
            <a:endParaRPr/>
          </a:p>
        </p:txBody>
      </p:sp>
      <p:sp>
        <p:nvSpPr>
          <p:cNvPr id="453" name="Google Shape;453;p23"/>
          <p:cNvSpPr txBox="1"/>
          <p:nvPr/>
        </p:nvSpPr>
        <p:spPr>
          <a:xfrm>
            <a:off x="2900000" y="2702956"/>
            <a:ext cx="380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Pode ser respondida com um número ou uma proporção.</a:t>
            </a:r>
            <a:endParaRPr/>
          </a:p>
        </p:txBody>
      </p:sp>
      <p:sp>
        <p:nvSpPr>
          <p:cNvPr id="454" name="Google Shape;454;p23"/>
          <p:cNvSpPr/>
          <p:nvPr/>
        </p:nvSpPr>
        <p:spPr>
          <a:xfrm>
            <a:off x="790000" y="3232956"/>
            <a:ext cx="159900" cy="1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23"/>
          <p:cNvSpPr txBox="1"/>
          <p:nvPr/>
        </p:nvSpPr>
        <p:spPr>
          <a:xfrm>
            <a:off x="1060000" y="3202956"/>
            <a:ext cx="17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Comparável</a:t>
            </a:r>
            <a:endParaRPr/>
          </a:p>
        </p:txBody>
      </p:sp>
      <p:sp>
        <p:nvSpPr>
          <p:cNvPr id="456" name="Google Shape;456;p23"/>
          <p:cNvSpPr txBox="1"/>
          <p:nvPr/>
        </p:nvSpPr>
        <p:spPr>
          <a:xfrm>
            <a:off x="2900000" y="3202956"/>
            <a:ext cx="380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Tem um referencial: média do tribunal, outro juízo, outro período.</a:t>
            </a:r>
            <a:endParaRPr/>
          </a:p>
        </p:txBody>
      </p:sp>
      <p:sp>
        <p:nvSpPr>
          <p:cNvPr id="457" name="Google Shape;457;p23"/>
          <p:cNvSpPr/>
          <p:nvPr/>
        </p:nvSpPr>
        <p:spPr>
          <a:xfrm>
            <a:off x="790000" y="3732956"/>
            <a:ext cx="159900" cy="15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3"/>
          <p:cNvSpPr txBox="1"/>
          <p:nvPr/>
        </p:nvSpPr>
        <p:spPr>
          <a:xfrm>
            <a:off x="1060000" y="3702956"/>
            <a:ext cx="17001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Acionável</a:t>
            </a:r>
            <a:endParaRPr/>
          </a:p>
        </p:txBody>
      </p:sp>
      <p:sp>
        <p:nvSpPr>
          <p:cNvPr id="459" name="Google Shape;459;p23"/>
          <p:cNvSpPr txBox="1"/>
          <p:nvPr/>
        </p:nvSpPr>
        <p:spPr>
          <a:xfrm>
            <a:off x="2900000" y="3702956"/>
            <a:ext cx="3800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resposta muda alguma decisão prática.</a:t>
            </a:r>
            <a:endParaRPr/>
          </a:p>
        </p:txBody>
      </p:sp>
      <p:sp>
        <p:nvSpPr>
          <p:cNvPr id="460" name="Google Shape;460;p23"/>
          <p:cNvSpPr txBox="1"/>
          <p:nvPr/>
        </p:nvSpPr>
        <p:spPr>
          <a:xfrm>
            <a:off x="750000" y="4400000"/>
            <a:ext cx="5950000" cy="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Nunes (2019); Katz e Bommarito (2013).</a:t>
            </a:r>
            <a:endParaRPr/>
          </a:p>
        </p:txBody>
      </p:sp>
      <p:sp>
        <p:nvSpPr>
          <p:cNvPr id="461" name="Google Shape;461;p23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4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Antes e depois</a:t>
            </a:r>
            <a:endParaRPr/>
          </a:p>
        </p:txBody>
      </p:sp>
      <p:sp>
        <p:nvSpPr>
          <p:cNvPr id="467" name="Google Shape;467;p24"/>
          <p:cNvSpPr txBox="1"/>
          <p:nvPr/>
        </p:nvSpPr>
        <p:spPr>
          <a:xfrm>
            <a:off x="750000" y="1220230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Quatro dúvidas comuns traduzidas em perguntas investigáveis</a:t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750000" y="1640230"/>
            <a:ext cx="5949900" cy="65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850000" y="1720230"/>
            <a:ext cx="24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Vaga:</a:t>
            </a:r>
            <a:endParaRPr/>
          </a:p>
        </p:txBody>
      </p:sp>
      <p:sp>
        <p:nvSpPr>
          <p:cNvPr id="470" name="Google Shape;470;p24"/>
          <p:cNvSpPr txBox="1"/>
          <p:nvPr/>
        </p:nvSpPr>
        <p:spPr>
          <a:xfrm>
            <a:off x="850000" y="1960230"/>
            <a:ext cx="240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Esse juiz é duro?</a:t>
            </a:r>
            <a:endParaRPr/>
          </a:p>
        </p:txBody>
      </p:sp>
      <p:sp>
        <p:nvSpPr>
          <p:cNvPr id="471" name="Google Shape;471;p24"/>
          <p:cNvSpPr txBox="1"/>
          <p:nvPr/>
        </p:nvSpPr>
        <p:spPr>
          <a:xfrm>
            <a:off x="3350000" y="1720230"/>
            <a:ext cx="3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Investigável:</a:t>
            </a:r>
            <a:endParaRPr/>
          </a:p>
        </p:txBody>
      </p:sp>
      <p:sp>
        <p:nvSpPr>
          <p:cNvPr id="472" name="Google Shape;472;p24"/>
          <p:cNvSpPr txBox="1"/>
          <p:nvPr/>
        </p:nvSpPr>
        <p:spPr>
          <a:xfrm>
            <a:off x="3350000" y="1960230"/>
            <a:ext cx="33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renovatórias 2020 a 2024, o juízo X profere sentença de procedência abaixo da média do foro?</a:t>
            </a:r>
            <a:endParaRPr/>
          </a:p>
        </p:txBody>
      </p:sp>
      <p:sp>
        <p:nvSpPr>
          <p:cNvPr id="473" name="Google Shape;473;p24"/>
          <p:cNvSpPr/>
          <p:nvPr/>
        </p:nvSpPr>
        <p:spPr>
          <a:xfrm>
            <a:off x="750000" y="2340230"/>
            <a:ext cx="5949900" cy="65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4"/>
          <p:cNvSpPr txBox="1"/>
          <p:nvPr/>
        </p:nvSpPr>
        <p:spPr>
          <a:xfrm>
            <a:off x="850000" y="2420230"/>
            <a:ext cx="24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Vaga:</a:t>
            </a:r>
            <a:endParaRPr/>
          </a:p>
        </p:txBody>
      </p:sp>
      <p:sp>
        <p:nvSpPr>
          <p:cNvPr id="475" name="Google Shape;475;p24"/>
          <p:cNvSpPr txBox="1"/>
          <p:nvPr/>
        </p:nvSpPr>
        <p:spPr>
          <a:xfrm>
            <a:off x="850000" y="2660230"/>
            <a:ext cx="240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Vale a pena recorrer?</a:t>
            </a:r>
            <a:endParaRPr/>
          </a:p>
        </p:txBody>
      </p:sp>
      <p:sp>
        <p:nvSpPr>
          <p:cNvPr id="476" name="Google Shape;476;p24"/>
          <p:cNvSpPr txBox="1"/>
          <p:nvPr/>
        </p:nvSpPr>
        <p:spPr>
          <a:xfrm>
            <a:off x="3350000" y="2420230"/>
            <a:ext cx="3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Investigável:</a:t>
            </a:r>
            <a:endParaRPr/>
          </a:p>
        </p:txBody>
      </p:sp>
      <p:sp>
        <p:nvSpPr>
          <p:cNvPr id="477" name="Google Shape;477;p24"/>
          <p:cNvSpPr txBox="1"/>
          <p:nvPr/>
        </p:nvSpPr>
        <p:spPr>
          <a:xfrm>
            <a:off x="3350000" y="2660230"/>
            <a:ext cx="33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apelações de revisão de aluguel comercial no TJSP, qual a taxa de reforma de sentença favorável ao locador?</a:t>
            </a:r>
            <a:endParaRPr/>
          </a:p>
        </p:txBody>
      </p:sp>
      <p:sp>
        <p:nvSpPr>
          <p:cNvPr id="478" name="Google Shape;478;p24"/>
          <p:cNvSpPr/>
          <p:nvPr/>
        </p:nvSpPr>
        <p:spPr>
          <a:xfrm>
            <a:off x="750000" y="3040230"/>
            <a:ext cx="5949900" cy="6501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850000" y="3120230"/>
            <a:ext cx="24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Vaga:</a:t>
            </a:r>
            <a:endParaRPr/>
          </a:p>
        </p:txBody>
      </p:sp>
      <p:sp>
        <p:nvSpPr>
          <p:cNvPr id="480" name="Google Shape;480;p24"/>
          <p:cNvSpPr txBox="1"/>
          <p:nvPr/>
        </p:nvSpPr>
        <p:spPr>
          <a:xfrm>
            <a:off x="850000" y="3360230"/>
            <a:ext cx="240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Quanto tempo isso demora?</a:t>
            </a:r>
            <a:endParaRPr/>
          </a:p>
        </p:txBody>
      </p:sp>
      <p:sp>
        <p:nvSpPr>
          <p:cNvPr id="481" name="Google Shape;481;p24"/>
          <p:cNvSpPr txBox="1"/>
          <p:nvPr/>
        </p:nvSpPr>
        <p:spPr>
          <a:xfrm>
            <a:off x="3350000" y="3120230"/>
            <a:ext cx="3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Investigável:</a:t>
            </a:r>
            <a:endParaRPr/>
          </a:p>
        </p:txBody>
      </p:sp>
      <p:sp>
        <p:nvSpPr>
          <p:cNvPr id="482" name="Google Shape;482;p24"/>
          <p:cNvSpPr txBox="1"/>
          <p:nvPr/>
        </p:nvSpPr>
        <p:spPr>
          <a:xfrm>
            <a:off x="3350000" y="3360230"/>
            <a:ext cx="33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Para renovatórias ajuizadas entre 2018 e 2022 no foro Y, qual a mediana de tempo até sentença?</a:t>
            </a:r>
            <a:endParaRPr/>
          </a:p>
        </p:txBody>
      </p:sp>
      <p:sp>
        <p:nvSpPr>
          <p:cNvPr id="483" name="Google Shape;483;p24"/>
          <p:cNvSpPr/>
          <p:nvPr/>
        </p:nvSpPr>
        <p:spPr>
          <a:xfrm>
            <a:off x="750000" y="3740230"/>
            <a:ext cx="5949900" cy="65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24"/>
          <p:cNvSpPr txBox="1"/>
          <p:nvPr/>
        </p:nvSpPr>
        <p:spPr>
          <a:xfrm>
            <a:off x="850000" y="3820230"/>
            <a:ext cx="24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Vaga:</a:t>
            </a:r>
            <a:endParaRPr/>
          </a:p>
        </p:txBody>
      </p:sp>
      <p:sp>
        <p:nvSpPr>
          <p:cNvPr id="485" name="Google Shape;485;p24"/>
          <p:cNvSpPr txBox="1"/>
          <p:nvPr/>
        </p:nvSpPr>
        <p:spPr>
          <a:xfrm>
            <a:off x="850000" y="4060230"/>
            <a:ext cx="240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Quanto provisionar?</a:t>
            </a:r>
            <a:endParaRPr/>
          </a:p>
        </p:txBody>
      </p:sp>
      <p:sp>
        <p:nvSpPr>
          <p:cNvPr id="486" name="Google Shape;486;p24"/>
          <p:cNvSpPr txBox="1"/>
          <p:nvPr/>
        </p:nvSpPr>
        <p:spPr>
          <a:xfrm>
            <a:off x="3350000" y="3820230"/>
            <a:ext cx="33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Investigável:</a:t>
            </a:r>
            <a:endParaRPr/>
          </a:p>
        </p:txBody>
      </p:sp>
      <p:sp>
        <p:nvSpPr>
          <p:cNvPr id="487" name="Google Shape;487;p24"/>
          <p:cNvSpPr txBox="1"/>
          <p:nvPr/>
        </p:nvSpPr>
        <p:spPr>
          <a:xfrm>
            <a:off x="3350000" y="4060230"/>
            <a:ext cx="33000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renovatórias com pedido de aluguel reduzido, qual o valor médio de redução concedido em 2022 a 2024?</a:t>
            </a:r>
            <a:endParaRPr/>
          </a:p>
        </p:txBody>
      </p:sp>
      <p:sp>
        <p:nvSpPr>
          <p:cNvPr id="488" name="Google Shape;488;p24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5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pergunta é um contrato</a:t>
            </a:r>
            <a:endParaRPr/>
          </a:p>
        </p:txBody>
      </p:sp>
      <p:sp>
        <p:nvSpPr>
          <p:cNvPr id="494" name="Google Shape;494;p25"/>
          <p:cNvSpPr txBox="1"/>
          <p:nvPr/>
        </p:nvSpPr>
        <p:spPr>
          <a:xfrm>
            <a:off x="750000" y="1282956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ela define antes de qualquer análise</a:t>
            </a:r>
            <a:endParaRPr/>
          </a:p>
        </p:txBody>
      </p:sp>
      <p:sp>
        <p:nvSpPr>
          <p:cNvPr id="495" name="Google Shape;495;p25"/>
          <p:cNvSpPr/>
          <p:nvPr/>
        </p:nvSpPr>
        <p:spPr>
          <a:xfrm>
            <a:off x="750000" y="1702956"/>
            <a:ext cx="5949900" cy="7500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25"/>
          <p:cNvSpPr txBox="1"/>
          <p:nvPr/>
        </p:nvSpPr>
        <p:spPr>
          <a:xfrm>
            <a:off x="900000" y="1772956"/>
            <a:ext cx="5649900" cy="6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Uma boa pergunta jurimétrica é um contrato com os dados: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ela define o escopo, o referencial e o critério de sucesso da análise.</a:t>
            </a:r>
            <a:endParaRPr/>
          </a:p>
        </p:txBody>
      </p:sp>
      <p:sp>
        <p:nvSpPr>
          <p:cNvPr id="497" name="Google Shape;497;p25"/>
          <p:cNvSpPr/>
          <p:nvPr/>
        </p:nvSpPr>
        <p:spPr>
          <a:xfrm>
            <a:off x="750000" y="2702956"/>
            <a:ext cx="1899900" cy="12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5"/>
          <p:cNvSpPr/>
          <p:nvPr/>
        </p:nvSpPr>
        <p:spPr>
          <a:xfrm>
            <a:off x="1500000" y="2852956"/>
            <a:ext cx="399900" cy="39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499" name="Google Shape;499;p25"/>
          <p:cNvSpPr txBox="1"/>
          <p:nvPr/>
        </p:nvSpPr>
        <p:spPr>
          <a:xfrm>
            <a:off x="750000" y="3322956"/>
            <a:ext cx="18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Escopo</a:t>
            </a:r>
            <a:endParaRPr/>
          </a:p>
        </p:txBody>
      </p:sp>
      <p:sp>
        <p:nvSpPr>
          <p:cNvPr id="500" name="Google Shape;500;p25"/>
          <p:cNvSpPr txBox="1"/>
          <p:nvPr/>
        </p:nvSpPr>
        <p:spPr>
          <a:xfrm>
            <a:off x="850000" y="3622956"/>
            <a:ext cx="17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Onde olhar: tribunal, classe, período, parte.</a:t>
            </a:r>
            <a:endParaRPr/>
          </a:p>
        </p:txBody>
      </p:sp>
      <p:sp>
        <p:nvSpPr>
          <p:cNvPr id="501" name="Google Shape;501;p25"/>
          <p:cNvSpPr/>
          <p:nvPr/>
        </p:nvSpPr>
        <p:spPr>
          <a:xfrm>
            <a:off x="2800000" y="2702956"/>
            <a:ext cx="1899900" cy="12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25"/>
          <p:cNvSpPr/>
          <p:nvPr/>
        </p:nvSpPr>
        <p:spPr>
          <a:xfrm>
            <a:off x="3550000" y="2852956"/>
            <a:ext cx="399900" cy="39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503" name="Google Shape;503;p25"/>
          <p:cNvSpPr txBox="1"/>
          <p:nvPr/>
        </p:nvSpPr>
        <p:spPr>
          <a:xfrm>
            <a:off x="2800000" y="3322956"/>
            <a:ext cx="18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Referencial</a:t>
            </a:r>
            <a:endParaRPr/>
          </a:p>
        </p:txBody>
      </p:sp>
      <p:sp>
        <p:nvSpPr>
          <p:cNvPr id="504" name="Google Shape;504;p25"/>
          <p:cNvSpPr txBox="1"/>
          <p:nvPr/>
        </p:nvSpPr>
        <p:spPr>
          <a:xfrm>
            <a:off x="2900000" y="3622956"/>
            <a:ext cx="17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Contra o quê comparar: média, outro juízo, baseline.</a:t>
            </a:r>
            <a:endParaRPr/>
          </a:p>
        </p:txBody>
      </p:sp>
      <p:sp>
        <p:nvSpPr>
          <p:cNvPr id="505" name="Google Shape;505;p25"/>
          <p:cNvSpPr/>
          <p:nvPr/>
        </p:nvSpPr>
        <p:spPr>
          <a:xfrm>
            <a:off x="4850000" y="2702956"/>
            <a:ext cx="1899900" cy="12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5"/>
          <p:cNvSpPr/>
          <p:nvPr/>
        </p:nvSpPr>
        <p:spPr>
          <a:xfrm>
            <a:off x="5600000" y="2852956"/>
            <a:ext cx="399900" cy="3999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507" name="Google Shape;507;p25"/>
          <p:cNvSpPr txBox="1"/>
          <p:nvPr/>
        </p:nvSpPr>
        <p:spPr>
          <a:xfrm>
            <a:off x="4850000" y="3322956"/>
            <a:ext cx="18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Critério</a:t>
            </a:r>
            <a:endParaRPr/>
          </a:p>
        </p:txBody>
      </p:sp>
      <p:sp>
        <p:nvSpPr>
          <p:cNvPr id="508" name="Google Shape;508;p25"/>
          <p:cNvSpPr txBox="1"/>
          <p:nvPr/>
        </p:nvSpPr>
        <p:spPr>
          <a:xfrm>
            <a:off x="4950000" y="3622956"/>
            <a:ext cx="17001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conta como resposta: proporção, mediana, intervalo.</a:t>
            </a:r>
            <a:endParaRPr/>
          </a:p>
        </p:txBody>
      </p:sp>
      <p:sp>
        <p:nvSpPr>
          <p:cNvPr id="509" name="Google Shape;509;p25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8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05</a:t>
            </a:r>
            <a:endParaRPr/>
          </a:p>
        </p:txBody>
      </p:sp>
      <p:sp>
        <p:nvSpPr>
          <p:cNvPr id="515" name="Google Shape;515;p28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5 perguntas para o XY&amp;A</a:t>
            </a:r>
            <a:endParaRPr/>
          </a:p>
        </p:txBody>
      </p:sp>
      <p:sp>
        <p:nvSpPr>
          <p:cNvPr id="516" name="Google Shape;516;p28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8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Aplicando a ponte ao escritório do nosso caso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29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Pergunta 1: Provisão é justa?</a:t>
            </a:r>
            <a:endParaRPr/>
          </a:p>
        </p:txBody>
      </p:sp>
      <p:sp>
        <p:nvSpPr>
          <p:cNvPr id="523" name="Google Shape;523;p29"/>
          <p:cNvSpPr txBox="1"/>
          <p:nvPr/>
        </p:nvSpPr>
        <p:spPr>
          <a:xfrm>
            <a:off x="750000" y="1126150"/>
            <a:ext cx="6965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Dor do escritório → pergunta investigável → dados necessários</a:t>
            </a:r>
            <a:endParaRPr/>
          </a:p>
        </p:txBody>
      </p:sp>
      <p:sp>
        <p:nvSpPr>
          <p:cNvPr id="524" name="Google Shape;524;p29"/>
          <p:cNvSpPr/>
          <p:nvPr/>
        </p:nvSpPr>
        <p:spPr>
          <a:xfrm>
            <a:off x="750000" y="1546150"/>
            <a:ext cx="69654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29"/>
          <p:cNvSpPr txBox="1"/>
          <p:nvPr/>
        </p:nvSpPr>
        <p:spPr>
          <a:xfrm>
            <a:off x="925597" y="1616150"/>
            <a:ext cx="1755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 Black"/>
                <a:ea typeface="Arial Black"/>
                <a:cs typeface="Arial Black"/>
                <a:sym typeface="Arial Black"/>
              </a:rPr>
              <a:t>DÚVIDA VAGA</a:t>
            </a:r>
            <a:endParaRPr/>
          </a:p>
        </p:txBody>
      </p:sp>
      <p:sp>
        <p:nvSpPr>
          <p:cNvPr id="526" name="Google Shape;526;p29"/>
          <p:cNvSpPr txBox="1"/>
          <p:nvPr/>
        </p:nvSpPr>
        <p:spPr>
          <a:xfrm>
            <a:off x="925597" y="1876150"/>
            <a:ext cx="66141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Os R$ 45 mi de provisão refletem o risco real da carteira?</a:t>
            </a:r>
            <a:endParaRPr/>
          </a:p>
        </p:txBody>
      </p:sp>
      <p:sp>
        <p:nvSpPr>
          <p:cNvPr id="527" name="Google Shape;527;p29"/>
          <p:cNvSpPr/>
          <p:nvPr/>
        </p:nvSpPr>
        <p:spPr>
          <a:xfrm>
            <a:off x="750000" y="2346150"/>
            <a:ext cx="6965400" cy="84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29"/>
          <p:cNvSpPr txBox="1"/>
          <p:nvPr/>
        </p:nvSpPr>
        <p:spPr>
          <a:xfrm>
            <a:off x="925597" y="2416150"/>
            <a:ext cx="3160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INVESTIGÁVEL</a:t>
            </a:r>
            <a:endParaRPr/>
          </a:p>
        </p:txBody>
      </p:sp>
      <p:sp>
        <p:nvSpPr>
          <p:cNvPr id="529" name="Google Shape;529;p29"/>
          <p:cNvSpPr txBox="1"/>
          <p:nvPr/>
        </p:nvSpPr>
        <p:spPr>
          <a:xfrm>
            <a:off x="925597" y="2666150"/>
            <a:ext cx="66141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renovatórias do XY&amp;A com sentença de procedência entre 2020 e 2024, qual a média e a dispersão do valor de redução de aluguel concedido?</a:t>
            </a:r>
            <a:endParaRPr/>
          </a:p>
        </p:txBody>
      </p:sp>
      <p:sp>
        <p:nvSpPr>
          <p:cNvPr id="530" name="Google Shape;530;p29"/>
          <p:cNvSpPr txBox="1"/>
          <p:nvPr/>
        </p:nvSpPr>
        <p:spPr>
          <a:xfrm>
            <a:off x="750000" y="3346150"/>
            <a:ext cx="3160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DADOS NECESSÁRIOS</a:t>
            </a:r>
            <a:endParaRPr/>
          </a:p>
        </p:txBody>
      </p:sp>
      <p:sp>
        <p:nvSpPr>
          <p:cNvPr id="531" name="Google Shape;531;p29"/>
          <p:cNvSpPr txBox="1"/>
          <p:nvPr/>
        </p:nvSpPr>
        <p:spPr>
          <a:xfrm>
            <a:off x="750000" y="3666150"/>
            <a:ext cx="6965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Tipo de ação (renovatória/revisão)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Desfecho da sentença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 de causa e valor concedido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de ajuizamento e de sentença</a:t>
            </a:r>
            <a:endParaRPr/>
          </a:p>
        </p:txBody>
      </p:sp>
      <p:sp>
        <p:nvSpPr>
          <p:cNvPr id="532" name="Google Shape;532;p29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Pergunta 2: Em qual juízo concentrar?</a:t>
            </a:r>
            <a:endParaRPr/>
          </a:p>
        </p:txBody>
      </p:sp>
      <p:sp>
        <p:nvSpPr>
          <p:cNvPr id="538" name="Google Shape;538;p30"/>
          <p:cNvSpPr txBox="1"/>
          <p:nvPr/>
        </p:nvSpPr>
        <p:spPr>
          <a:xfrm>
            <a:off x="750000" y="1149675"/>
            <a:ext cx="7020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Dor do escritório → pergunta investigável → dados necessários</a:t>
            </a:r>
            <a:endParaRPr/>
          </a:p>
        </p:txBody>
      </p:sp>
      <p:sp>
        <p:nvSpPr>
          <p:cNvPr id="539" name="Google Shape;539;p30"/>
          <p:cNvSpPr/>
          <p:nvPr/>
        </p:nvSpPr>
        <p:spPr>
          <a:xfrm>
            <a:off x="750000" y="1569675"/>
            <a:ext cx="70200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30"/>
          <p:cNvSpPr txBox="1"/>
          <p:nvPr/>
        </p:nvSpPr>
        <p:spPr>
          <a:xfrm>
            <a:off x="926981" y="1639675"/>
            <a:ext cx="1769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 Black"/>
                <a:ea typeface="Arial Black"/>
                <a:cs typeface="Arial Black"/>
                <a:sym typeface="Arial Black"/>
              </a:rPr>
              <a:t>DÚVIDA VAGA</a:t>
            </a:r>
            <a:endParaRPr/>
          </a:p>
        </p:txBody>
      </p:sp>
      <p:sp>
        <p:nvSpPr>
          <p:cNvPr id="541" name="Google Shape;541;p30"/>
          <p:cNvSpPr txBox="1"/>
          <p:nvPr/>
        </p:nvSpPr>
        <p:spPr>
          <a:xfrm>
            <a:off x="926981" y="1899675"/>
            <a:ext cx="66663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Existem varas mais favoráveis ao locador, e o XY&amp;A poderia escolher?</a:t>
            </a:r>
            <a:endParaRPr/>
          </a:p>
        </p:txBody>
      </p:sp>
      <p:sp>
        <p:nvSpPr>
          <p:cNvPr id="542" name="Google Shape;542;p30"/>
          <p:cNvSpPr/>
          <p:nvPr/>
        </p:nvSpPr>
        <p:spPr>
          <a:xfrm>
            <a:off x="750000" y="2369675"/>
            <a:ext cx="7020000" cy="84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30"/>
          <p:cNvSpPr txBox="1"/>
          <p:nvPr/>
        </p:nvSpPr>
        <p:spPr>
          <a:xfrm>
            <a:off x="926981" y="2439675"/>
            <a:ext cx="3185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INVESTIGÁVEL</a:t>
            </a:r>
            <a:endParaRPr/>
          </a:p>
        </p:txBody>
      </p:sp>
      <p:sp>
        <p:nvSpPr>
          <p:cNvPr id="544" name="Google Shape;544;p30"/>
          <p:cNvSpPr txBox="1"/>
          <p:nvPr/>
        </p:nvSpPr>
        <p:spPr>
          <a:xfrm>
            <a:off x="926981" y="2689675"/>
            <a:ext cx="66663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renovatórias entre 2018 e 2024, a taxa de procedência total varia significativamente entre as varas do Foro Central do TJSP?</a:t>
            </a:r>
            <a:endParaRPr/>
          </a:p>
        </p:txBody>
      </p:sp>
      <p:sp>
        <p:nvSpPr>
          <p:cNvPr id="545" name="Google Shape;545;p30"/>
          <p:cNvSpPr txBox="1"/>
          <p:nvPr/>
        </p:nvSpPr>
        <p:spPr>
          <a:xfrm>
            <a:off x="750000" y="3369675"/>
            <a:ext cx="31857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DADOS NECESSÁRIOS</a:t>
            </a:r>
            <a:endParaRPr/>
          </a:p>
        </p:txBody>
      </p:sp>
      <p:sp>
        <p:nvSpPr>
          <p:cNvPr id="546" name="Google Shape;546;p30"/>
          <p:cNvSpPr txBox="1"/>
          <p:nvPr/>
        </p:nvSpPr>
        <p:spPr>
          <a:xfrm>
            <a:off x="750000" y="3689675"/>
            <a:ext cx="702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Comarca e vara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Tipo de ação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Desfecho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Polo (locador/locatário)</a:t>
            </a:r>
            <a:endParaRPr/>
          </a:p>
        </p:txBody>
      </p:sp>
      <p:sp>
        <p:nvSpPr>
          <p:cNvPr id="547" name="Google Shape;547;p30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31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Pergunta 3: Quanto tempo até pagar?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750000" y="1173175"/>
            <a:ext cx="6988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Dor do escritório → pergunta investigável → dados necessários</a:t>
            </a:r>
            <a:endParaRPr/>
          </a:p>
        </p:txBody>
      </p:sp>
      <p:sp>
        <p:nvSpPr>
          <p:cNvPr id="554" name="Google Shape;554;p31"/>
          <p:cNvSpPr/>
          <p:nvPr/>
        </p:nvSpPr>
        <p:spPr>
          <a:xfrm>
            <a:off x="750000" y="1593175"/>
            <a:ext cx="69888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31"/>
          <p:cNvSpPr txBox="1"/>
          <p:nvPr/>
        </p:nvSpPr>
        <p:spPr>
          <a:xfrm>
            <a:off x="926191" y="1663175"/>
            <a:ext cx="1761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 Black"/>
                <a:ea typeface="Arial Black"/>
                <a:cs typeface="Arial Black"/>
                <a:sym typeface="Arial Black"/>
              </a:rPr>
              <a:t>DÚVIDA VAGA</a:t>
            </a:r>
            <a:endParaRPr/>
          </a:p>
        </p:txBody>
      </p:sp>
      <p:sp>
        <p:nvSpPr>
          <p:cNvPr id="556" name="Google Shape;556;p31"/>
          <p:cNvSpPr txBox="1"/>
          <p:nvPr/>
        </p:nvSpPr>
        <p:spPr>
          <a:xfrm>
            <a:off x="926191" y="1923175"/>
            <a:ext cx="66363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Quando o cliente pode esperar a sentença e o pagamento da diferença?</a:t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750000" y="2393175"/>
            <a:ext cx="6988800" cy="84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926191" y="2463175"/>
            <a:ext cx="317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INVESTIGÁVEL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926191" y="2713175"/>
            <a:ext cx="66363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Para renovatórias do TJSP ajuizadas entre 2018 e 2022, qual a mediana de tempo até sentença e qual a faixa entre o 25º e 75º percentil?</a:t>
            </a:r>
            <a:endParaRPr/>
          </a:p>
        </p:txBody>
      </p:sp>
      <p:sp>
        <p:nvSpPr>
          <p:cNvPr id="560" name="Google Shape;560;p31"/>
          <p:cNvSpPr txBox="1"/>
          <p:nvPr/>
        </p:nvSpPr>
        <p:spPr>
          <a:xfrm>
            <a:off x="750000" y="3393175"/>
            <a:ext cx="317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DADOS NECESSÁRIOS</a:t>
            </a:r>
            <a:endParaRPr/>
          </a:p>
        </p:txBody>
      </p:sp>
      <p:sp>
        <p:nvSpPr>
          <p:cNvPr id="561" name="Google Shape;561;p31"/>
          <p:cNvSpPr txBox="1"/>
          <p:nvPr/>
        </p:nvSpPr>
        <p:spPr>
          <a:xfrm>
            <a:off x="750000" y="3713175"/>
            <a:ext cx="69888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de ajuizamento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da sentença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Tipo de ação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Comarca</a:t>
            </a:r>
            <a:endParaRPr/>
          </a:p>
        </p:txBody>
      </p:sp>
      <p:sp>
        <p:nvSpPr>
          <p:cNvPr id="562" name="Google Shape;562;p3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32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Pergunta 4: Vale recorrer?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750000" y="1181025"/>
            <a:ext cx="6988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Dor do escritório → pergunta investigável → dados necessários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750000" y="1601025"/>
            <a:ext cx="69888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926191" y="1671025"/>
            <a:ext cx="1761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 Black"/>
                <a:ea typeface="Arial Black"/>
                <a:cs typeface="Arial Black"/>
                <a:sym typeface="Arial Black"/>
              </a:rPr>
              <a:t>DÚVIDA VAGA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926191" y="1931025"/>
            <a:ext cx="66363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Quando uma sentença favorável é mantida em segunda instância?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750000" y="2401025"/>
            <a:ext cx="6988800" cy="84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32"/>
          <p:cNvSpPr txBox="1"/>
          <p:nvPr/>
        </p:nvSpPr>
        <p:spPr>
          <a:xfrm>
            <a:off x="926191" y="2471025"/>
            <a:ext cx="317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INVESTIGÁVEL</a:t>
            </a:r>
            <a:endParaRPr/>
          </a:p>
        </p:txBody>
      </p:sp>
      <p:sp>
        <p:nvSpPr>
          <p:cNvPr id="574" name="Google Shape;574;p32"/>
          <p:cNvSpPr txBox="1"/>
          <p:nvPr/>
        </p:nvSpPr>
        <p:spPr>
          <a:xfrm>
            <a:off x="926191" y="2721025"/>
            <a:ext cx="66363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apelações de renovatória julgadas pelo TJSP entre 2020 e 2024, qual a taxa de reforma quando a sentença foi favorável ao locador?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750000" y="3401025"/>
            <a:ext cx="317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DADOS NECESSÁRIOS</a:t>
            </a:r>
            <a:endParaRPr/>
          </a:p>
        </p:txBody>
      </p:sp>
      <p:sp>
        <p:nvSpPr>
          <p:cNvPr id="576" name="Google Shape;576;p32"/>
          <p:cNvSpPr txBox="1"/>
          <p:nvPr/>
        </p:nvSpPr>
        <p:spPr>
          <a:xfrm>
            <a:off x="750000" y="3721025"/>
            <a:ext cx="69888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Tipo de recurso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Desfecho de 1ª instância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Desfecho de 2ª instância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Câmara julgadora</a:t>
            </a:r>
            <a:endParaRPr/>
          </a:p>
        </p:txBody>
      </p:sp>
      <p:sp>
        <p:nvSpPr>
          <p:cNvPr id="577" name="Google Shape;577;p32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33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Pergunta 5: Acordo, sim ou não?</a:t>
            </a:r>
            <a:endParaRPr/>
          </a:p>
        </p:txBody>
      </p:sp>
      <p:sp>
        <p:nvSpPr>
          <p:cNvPr id="583" name="Google Shape;583;p33"/>
          <p:cNvSpPr txBox="1"/>
          <p:nvPr/>
        </p:nvSpPr>
        <p:spPr>
          <a:xfrm>
            <a:off x="750000" y="1173175"/>
            <a:ext cx="69024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Dor do escritório → pergunta investigável → dados necessários</a:t>
            </a:r>
            <a:endParaRPr/>
          </a:p>
        </p:txBody>
      </p:sp>
      <p:sp>
        <p:nvSpPr>
          <p:cNvPr id="584" name="Google Shape;584;p33"/>
          <p:cNvSpPr/>
          <p:nvPr/>
        </p:nvSpPr>
        <p:spPr>
          <a:xfrm>
            <a:off x="750000" y="1593175"/>
            <a:ext cx="6902400" cy="6999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33"/>
          <p:cNvSpPr txBox="1"/>
          <p:nvPr/>
        </p:nvSpPr>
        <p:spPr>
          <a:xfrm>
            <a:off x="924016" y="1663175"/>
            <a:ext cx="1740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666666"/>
                </a:solidFill>
                <a:latin typeface="Arial Black"/>
                <a:ea typeface="Arial Black"/>
                <a:cs typeface="Arial Black"/>
                <a:sym typeface="Arial Black"/>
              </a:rPr>
              <a:t>DÚVIDA VAGA</a:t>
            </a:r>
            <a:endParaRPr/>
          </a:p>
        </p:txBody>
      </p:sp>
      <p:sp>
        <p:nvSpPr>
          <p:cNvPr id="586" name="Google Shape;586;p33"/>
          <p:cNvSpPr txBox="1"/>
          <p:nvPr/>
        </p:nvSpPr>
        <p:spPr>
          <a:xfrm>
            <a:off x="924016" y="1923175"/>
            <a:ext cx="65544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Quais perfis de processo terminam mais em acordo, e quando?</a:t>
            </a:r>
            <a:endParaRPr/>
          </a:p>
        </p:txBody>
      </p:sp>
      <p:sp>
        <p:nvSpPr>
          <p:cNvPr id="587" name="Google Shape;587;p33"/>
          <p:cNvSpPr/>
          <p:nvPr/>
        </p:nvSpPr>
        <p:spPr>
          <a:xfrm>
            <a:off x="750000" y="2393175"/>
            <a:ext cx="6902400" cy="8499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3"/>
          <p:cNvSpPr txBox="1"/>
          <p:nvPr/>
        </p:nvSpPr>
        <p:spPr>
          <a:xfrm>
            <a:off x="924016" y="2463175"/>
            <a:ext cx="3132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PERGUNTA INVESTIGÁVEL</a:t>
            </a:r>
            <a:endParaRPr/>
          </a:p>
        </p:txBody>
      </p:sp>
      <p:sp>
        <p:nvSpPr>
          <p:cNvPr id="589" name="Google Shape;589;p33"/>
          <p:cNvSpPr txBox="1"/>
          <p:nvPr/>
        </p:nvSpPr>
        <p:spPr>
          <a:xfrm>
            <a:off x="924016" y="2713175"/>
            <a:ext cx="65544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Em renovatórias do TJSP entre 2018 e 2024, qual a proporção de processos com acordo homologado e em qual fase processual o acordo costuma ocorrer?</a:t>
            </a:r>
            <a:endParaRPr/>
          </a:p>
        </p:txBody>
      </p:sp>
      <p:sp>
        <p:nvSpPr>
          <p:cNvPr id="590" name="Google Shape;590;p33"/>
          <p:cNvSpPr txBox="1"/>
          <p:nvPr/>
        </p:nvSpPr>
        <p:spPr>
          <a:xfrm>
            <a:off x="750000" y="3393175"/>
            <a:ext cx="3132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DADOS NECESSÁRIOS</a:t>
            </a:r>
            <a:endParaRPr/>
          </a:p>
        </p:txBody>
      </p:sp>
      <p:sp>
        <p:nvSpPr>
          <p:cNvPr id="591" name="Google Shape;591;p33"/>
          <p:cNvSpPr txBox="1"/>
          <p:nvPr/>
        </p:nvSpPr>
        <p:spPr>
          <a:xfrm>
            <a:off x="750000" y="3713175"/>
            <a:ext cx="6902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Movimento de homologação de acordo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Fase processual no momento do acordo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Tipo de ação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  <a:buClr>
                <a:srgbClr val="E8A317"/>
              </a:buClr>
              <a:buSzPts val="1100"/>
              <a:buFont typeface="Arial"/>
              <a:buChar char="■"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Valor da causa</a:t>
            </a:r>
            <a:endParaRPr/>
          </a:p>
        </p:txBody>
      </p:sp>
      <p:sp>
        <p:nvSpPr>
          <p:cNvPr id="592" name="Google Shape;592;p33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34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06</a:t>
            </a:r>
            <a:endParaRPr/>
          </a:p>
        </p:txBody>
      </p:sp>
      <p:sp>
        <p:nvSpPr>
          <p:cNvPr id="598" name="Google Shape;598;p34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Exercício-ponte</a:t>
            </a:r>
            <a:endParaRPr/>
          </a:p>
        </p:txBody>
      </p:sp>
      <p:sp>
        <p:nvSpPr>
          <p:cNvPr id="599" name="Google Shape;599;p34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4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Que perguntas a base de 16.110 julgados permite responder?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35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 base do trabalho final</a:t>
            </a:r>
            <a:endParaRPr/>
          </a:p>
        </p:txBody>
      </p:sp>
      <p:sp>
        <p:nvSpPr>
          <p:cNvPr id="606" name="Google Shape;606;p35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vocês têm em mãos</a:t>
            </a:r>
            <a:endParaRPr/>
          </a:p>
        </p:txBody>
      </p:sp>
      <p:sp>
        <p:nvSpPr>
          <p:cNvPr id="607" name="Google Shape;607;p35"/>
          <p:cNvSpPr/>
          <p:nvPr/>
        </p:nvSpPr>
        <p:spPr>
          <a:xfrm>
            <a:off x="750000" y="1750000"/>
            <a:ext cx="2850000" cy="6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5"/>
          <p:cNvSpPr txBox="1"/>
          <p:nvPr/>
        </p:nvSpPr>
        <p:spPr>
          <a:xfrm>
            <a:off x="900000" y="1830000"/>
            <a:ext cx="255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16.110</a:t>
            </a:r>
            <a:endParaRPr/>
          </a:p>
        </p:txBody>
      </p:sp>
      <p:sp>
        <p:nvSpPr>
          <p:cNvPr id="609" name="Google Shape;609;p35"/>
          <p:cNvSpPr txBox="1"/>
          <p:nvPr/>
        </p:nvSpPr>
        <p:spPr>
          <a:xfrm>
            <a:off x="900000" y="2170000"/>
            <a:ext cx="2550000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julgados</a:t>
            </a:r>
            <a:endParaRPr/>
          </a:p>
        </p:txBody>
      </p:sp>
      <p:sp>
        <p:nvSpPr>
          <p:cNvPr id="610" name="Google Shape;610;p35"/>
          <p:cNvSpPr/>
          <p:nvPr/>
        </p:nvSpPr>
        <p:spPr>
          <a:xfrm>
            <a:off x="3750000" y="1750000"/>
            <a:ext cx="2850000" cy="6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5"/>
          <p:cNvSpPr txBox="1"/>
          <p:nvPr/>
        </p:nvSpPr>
        <p:spPr>
          <a:xfrm>
            <a:off x="3900000" y="1830000"/>
            <a:ext cx="255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2010-2024</a:t>
            </a:r>
            <a:endParaRPr/>
          </a:p>
        </p:txBody>
      </p:sp>
      <p:sp>
        <p:nvSpPr>
          <p:cNvPr id="612" name="Google Shape;612;p35"/>
          <p:cNvSpPr txBox="1"/>
          <p:nvPr/>
        </p:nvSpPr>
        <p:spPr>
          <a:xfrm>
            <a:off x="3900000" y="2170000"/>
            <a:ext cx="2550000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período</a:t>
            </a:r>
            <a:endParaRPr/>
          </a:p>
        </p:txBody>
      </p:sp>
      <p:sp>
        <p:nvSpPr>
          <p:cNvPr id="613" name="Google Shape;613;p35"/>
          <p:cNvSpPr/>
          <p:nvPr/>
        </p:nvSpPr>
        <p:spPr>
          <a:xfrm>
            <a:off x="750000" y="2500000"/>
            <a:ext cx="2850000" cy="6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35"/>
          <p:cNvSpPr txBox="1"/>
          <p:nvPr/>
        </p:nvSpPr>
        <p:spPr>
          <a:xfrm>
            <a:off x="900000" y="2580000"/>
            <a:ext cx="255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TJSP</a:t>
            </a:r>
            <a:endParaRPr/>
          </a:p>
        </p:txBody>
      </p:sp>
      <p:sp>
        <p:nvSpPr>
          <p:cNvPr id="615" name="Google Shape;615;p35"/>
          <p:cNvSpPr txBox="1"/>
          <p:nvPr/>
        </p:nvSpPr>
        <p:spPr>
          <a:xfrm>
            <a:off x="900000" y="2920000"/>
            <a:ext cx="2550000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tribunal</a:t>
            </a:r>
            <a:endParaRPr/>
          </a:p>
        </p:txBody>
      </p:sp>
      <p:sp>
        <p:nvSpPr>
          <p:cNvPr id="616" name="Google Shape;616;p35"/>
          <p:cNvSpPr/>
          <p:nvPr/>
        </p:nvSpPr>
        <p:spPr>
          <a:xfrm>
            <a:off x="3750000" y="2500000"/>
            <a:ext cx="2850000" cy="65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35"/>
          <p:cNvSpPr txBox="1"/>
          <p:nvPr/>
        </p:nvSpPr>
        <p:spPr>
          <a:xfrm>
            <a:off x="3900000" y="2580000"/>
            <a:ext cx="255000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PJ</a:t>
            </a:r>
            <a:endParaRPr/>
          </a:p>
        </p:txBody>
      </p:sp>
      <p:sp>
        <p:nvSpPr>
          <p:cNvPr id="618" name="Google Shape;618;p35"/>
          <p:cNvSpPr txBox="1"/>
          <p:nvPr/>
        </p:nvSpPr>
        <p:spPr>
          <a:xfrm>
            <a:off x="3900000" y="2920000"/>
            <a:ext cx="2550000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perfil de parte</a:t>
            </a:r>
            <a:endParaRPr/>
          </a:p>
        </p:txBody>
      </p:sp>
      <p:sp>
        <p:nvSpPr>
          <p:cNvPr id="619" name="Google Shape;619;p35"/>
          <p:cNvSpPr/>
          <p:nvPr/>
        </p:nvSpPr>
        <p:spPr>
          <a:xfrm>
            <a:off x="750000" y="3450000"/>
            <a:ext cx="5950000" cy="8500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35"/>
          <p:cNvSpPr txBox="1"/>
          <p:nvPr/>
        </p:nvSpPr>
        <p:spPr>
          <a:xfrm>
            <a:off x="900000" y="3530000"/>
            <a:ext cx="56500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Sua missão como grupo: </a:t>
            </a: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escolher 3 perguntas norteadoras para essa base. As próximas duas aulas vão equipar vocês com método; o trabalho começa pelas perguntas certas.</a:t>
            </a:r>
            <a:endParaRPr/>
          </a:p>
        </p:txBody>
      </p:sp>
      <p:sp>
        <p:nvSpPr>
          <p:cNvPr id="621" name="Google Shape;621;p35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36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Que perguntas a base permite?</a:t>
            </a:r>
            <a:endParaRPr/>
          </a:p>
        </p:txBody>
      </p:sp>
      <p:sp>
        <p:nvSpPr>
          <p:cNvPr id="627" name="Google Shape;627;p36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Linhas exploratórias possíveis para o trabalho final</a:t>
            </a:r>
            <a:endParaRPr/>
          </a:p>
        </p:txBody>
      </p:sp>
      <p:sp>
        <p:nvSpPr>
          <p:cNvPr id="628" name="Google Shape;628;p36"/>
          <p:cNvSpPr/>
          <p:nvPr/>
        </p:nvSpPr>
        <p:spPr>
          <a:xfrm>
            <a:off x="750000" y="1780000"/>
            <a:ext cx="220000" cy="22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36"/>
          <p:cNvSpPr txBox="1"/>
          <p:nvPr/>
        </p:nvSpPr>
        <p:spPr>
          <a:xfrm>
            <a:off x="1060000" y="17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Volume</a:t>
            </a:r>
            <a:endParaRPr/>
          </a:p>
        </p:txBody>
      </p:sp>
      <p:sp>
        <p:nvSpPr>
          <p:cNvPr id="630" name="Google Shape;630;p36"/>
          <p:cNvSpPr txBox="1"/>
          <p:nvPr/>
        </p:nvSpPr>
        <p:spPr>
          <a:xfrm>
            <a:off x="1060000" y="207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Como o ajuizamento evoluiu entre 2010 e 2024? Há sazonalidade?</a:t>
            </a:r>
            <a:endParaRPr/>
          </a:p>
        </p:txBody>
      </p:sp>
      <p:sp>
        <p:nvSpPr>
          <p:cNvPr id="631" name="Google Shape;631;p36"/>
          <p:cNvSpPr/>
          <p:nvPr/>
        </p:nvSpPr>
        <p:spPr>
          <a:xfrm>
            <a:off x="3750000" y="1780000"/>
            <a:ext cx="220000" cy="22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36"/>
          <p:cNvSpPr txBox="1"/>
          <p:nvPr/>
        </p:nvSpPr>
        <p:spPr>
          <a:xfrm>
            <a:off x="4060000" y="17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Geografia</a:t>
            </a:r>
            <a:endParaRPr/>
          </a:p>
        </p:txBody>
      </p:sp>
      <p:sp>
        <p:nvSpPr>
          <p:cNvPr id="633" name="Google Shape;633;p36"/>
          <p:cNvSpPr txBox="1"/>
          <p:nvPr/>
        </p:nvSpPr>
        <p:spPr>
          <a:xfrm>
            <a:off x="4060000" y="207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distribuição por comarca acompanha o tamanho da economia local?</a:t>
            </a:r>
            <a:endParaRPr/>
          </a:p>
        </p:txBody>
      </p:sp>
      <p:sp>
        <p:nvSpPr>
          <p:cNvPr id="634" name="Google Shape;634;p36"/>
          <p:cNvSpPr/>
          <p:nvPr/>
        </p:nvSpPr>
        <p:spPr>
          <a:xfrm>
            <a:off x="750000" y="2630000"/>
            <a:ext cx="220000" cy="22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36"/>
          <p:cNvSpPr txBox="1"/>
          <p:nvPr/>
        </p:nvSpPr>
        <p:spPr>
          <a:xfrm>
            <a:off x="1060000" y="260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Tempo</a:t>
            </a:r>
            <a:endParaRPr/>
          </a:p>
        </p:txBody>
      </p:sp>
      <p:sp>
        <p:nvSpPr>
          <p:cNvPr id="636" name="Google Shape;636;p36"/>
          <p:cNvSpPr txBox="1"/>
          <p:nvPr/>
        </p:nvSpPr>
        <p:spPr>
          <a:xfrm>
            <a:off x="1060000" y="292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Renovatórias e revisões tramitam em ritmos diferentes?</a:t>
            </a:r>
            <a:endParaRPr/>
          </a:p>
        </p:txBody>
      </p:sp>
      <p:sp>
        <p:nvSpPr>
          <p:cNvPr id="637" name="Google Shape;637;p36"/>
          <p:cNvSpPr/>
          <p:nvPr/>
        </p:nvSpPr>
        <p:spPr>
          <a:xfrm>
            <a:off x="3750000" y="2630000"/>
            <a:ext cx="220000" cy="22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36"/>
          <p:cNvSpPr txBox="1"/>
          <p:nvPr/>
        </p:nvSpPr>
        <p:spPr>
          <a:xfrm>
            <a:off x="4060000" y="260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Valor</a:t>
            </a:r>
            <a:endParaRPr/>
          </a:p>
        </p:txBody>
      </p:sp>
      <p:sp>
        <p:nvSpPr>
          <p:cNvPr id="639" name="Google Shape;639;p36"/>
          <p:cNvSpPr txBox="1"/>
          <p:nvPr/>
        </p:nvSpPr>
        <p:spPr>
          <a:xfrm>
            <a:off x="4060000" y="292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Há padrão na distribuição do valor da causa por ano?</a:t>
            </a:r>
            <a:endParaRPr/>
          </a:p>
        </p:txBody>
      </p:sp>
      <p:sp>
        <p:nvSpPr>
          <p:cNvPr id="640" name="Google Shape;640;p36"/>
          <p:cNvSpPr/>
          <p:nvPr/>
        </p:nvSpPr>
        <p:spPr>
          <a:xfrm>
            <a:off x="750000" y="3480000"/>
            <a:ext cx="220000" cy="22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36"/>
          <p:cNvSpPr txBox="1"/>
          <p:nvPr/>
        </p:nvSpPr>
        <p:spPr>
          <a:xfrm>
            <a:off x="1060000" y="34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Desfecho</a:t>
            </a:r>
            <a:endParaRPr/>
          </a:p>
        </p:txBody>
      </p:sp>
      <p:sp>
        <p:nvSpPr>
          <p:cNvPr id="642" name="Google Shape;642;p36"/>
          <p:cNvSpPr txBox="1"/>
          <p:nvPr/>
        </p:nvSpPr>
        <p:spPr>
          <a:xfrm>
            <a:off x="1060000" y="377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 quais condições os processos terminam em acordo?</a:t>
            </a:r>
            <a:endParaRPr/>
          </a:p>
        </p:txBody>
      </p:sp>
      <p:sp>
        <p:nvSpPr>
          <p:cNvPr id="643" name="Google Shape;643;p36"/>
          <p:cNvSpPr/>
          <p:nvPr/>
        </p:nvSpPr>
        <p:spPr>
          <a:xfrm>
            <a:off x="3750000" y="3480000"/>
            <a:ext cx="220000" cy="22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36"/>
          <p:cNvSpPr txBox="1"/>
          <p:nvPr/>
        </p:nvSpPr>
        <p:spPr>
          <a:xfrm>
            <a:off x="4060000" y="34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Varas</a:t>
            </a:r>
            <a:endParaRPr/>
          </a:p>
        </p:txBody>
      </p:sp>
      <p:sp>
        <p:nvSpPr>
          <p:cNvPr id="645" name="Google Shape;645;p36"/>
          <p:cNvSpPr txBox="1"/>
          <p:nvPr/>
        </p:nvSpPr>
        <p:spPr>
          <a:xfrm>
            <a:off x="4060000" y="377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Existem varas com perfil de decisão sistematicamente distinto?</a:t>
            </a:r>
            <a:endParaRPr/>
          </a:p>
        </p:txBody>
      </p:sp>
      <p:sp>
        <p:nvSpPr>
          <p:cNvPr id="646" name="Google Shape;646;p36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37"/>
          <p:cNvSpPr txBox="1"/>
          <p:nvPr/>
        </p:nvSpPr>
        <p:spPr>
          <a:xfrm>
            <a:off x="750000" y="500000"/>
            <a:ext cx="71691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Roteiro para escolher uma pergunta</a:t>
            </a:r>
            <a:endParaRPr/>
          </a:p>
        </p:txBody>
      </p:sp>
      <p:sp>
        <p:nvSpPr>
          <p:cNvPr id="652" name="Google Shape;652;p37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4 passos para o grupo levar para casa</a:t>
            </a:r>
            <a:endParaRPr/>
          </a:p>
        </p:txBody>
      </p:sp>
      <p:sp>
        <p:nvSpPr>
          <p:cNvPr id="653" name="Google Shape;653;p37"/>
          <p:cNvSpPr/>
          <p:nvPr/>
        </p:nvSpPr>
        <p:spPr>
          <a:xfrm>
            <a:off x="750000" y="1750000"/>
            <a:ext cx="5950000" cy="49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37"/>
          <p:cNvSpPr/>
          <p:nvPr/>
        </p:nvSpPr>
        <p:spPr>
          <a:xfrm>
            <a:off x="900000" y="1840000"/>
            <a:ext cx="380000" cy="3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655" name="Google Shape;655;p37"/>
          <p:cNvSpPr txBox="1"/>
          <p:nvPr/>
        </p:nvSpPr>
        <p:spPr>
          <a:xfrm>
            <a:off x="1450000" y="183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Escolha um tema</a:t>
            </a:r>
            <a:endParaRPr/>
          </a:p>
        </p:txBody>
      </p:sp>
      <p:sp>
        <p:nvSpPr>
          <p:cNvPr id="656" name="Google Shape;656;p37"/>
          <p:cNvSpPr txBox="1"/>
          <p:nvPr/>
        </p:nvSpPr>
        <p:spPr>
          <a:xfrm>
            <a:off x="1450000" y="210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Volume, geografia, tempo, valor ou desfecho.</a:t>
            </a:r>
            <a:endParaRPr/>
          </a:p>
        </p:txBody>
      </p:sp>
      <p:sp>
        <p:nvSpPr>
          <p:cNvPr id="657" name="Google Shape;657;p37"/>
          <p:cNvSpPr/>
          <p:nvPr/>
        </p:nvSpPr>
        <p:spPr>
          <a:xfrm>
            <a:off x="750000" y="2290000"/>
            <a:ext cx="5950000" cy="49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37"/>
          <p:cNvSpPr/>
          <p:nvPr/>
        </p:nvSpPr>
        <p:spPr>
          <a:xfrm>
            <a:off x="900000" y="2380000"/>
            <a:ext cx="380000" cy="3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659" name="Google Shape;659;p37"/>
          <p:cNvSpPr txBox="1"/>
          <p:nvPr/>
        </p:nvSpPr>
        <p:spPr>
          <a:xfrm>
            <a:off x="1450000" y="237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Recorte o universo</a:t>
            </a:r>
            <a:endParaRPr/>
          </a:p>
        </p:txBody>
      </p:sp>
      <p:sp>
        <p:nvSpPr>
          <p:cNvPr id="660" name="Google Shape;660;p37"/>
          <p:cNvSpPr txBox="1"/>
          <p:nvPr/>
        </p:nvSpPr>
        <p:spPr>
          <a:xfrm>
            <a:off x="1450000" y="264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Defina período, tipo de ação e qualquer filtro adicional.</a:t>
            </a:r>
            <a:endParaRPr/>
          </a:p>
        </p:txBody>
      </p:sp>
      <p:sp>
        <p:nvSpPr>
          <p:cNvPr id="661" name="Google Shape;661;p37"/>
          <p:cNvSpPr/>
          <p:nvPr/>
        </p:nvSpPr>
        <p:spPr>
          <a:xfrm>
            <a:off x="750000" y="2830000"/>
            <a:ext cx="5950000" cy="4900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37"/>
          <p:cNvSpPr/>
          <p:nvPr/>
        </p:nvSpPr>
        <p:spPr>
          <a:xfrm>
            <a:off x="900000" y="2920000"/>
            <a:ext cx="380000" cy="3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663" name="Google Shape;663;p37"/>
          <p:cNvSpPr txBox="1"/>
          <p:nvPr/>
        </p:nvSpPr>
        <p:spPr>
          <a:xfrm>
            <a:off x="1450000" y="291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Defina o referencial</a:t>
            </a:r>
            <a:endParaRPr/>
          </a:p>
        </p:txBody>
      </p:sp>
      <p:sp>
        <p:nvSpPr>
          <p:cNvPr id="664" name="Google Shape;664;p37"/>
          <p:cNvSpPr txBox="1"/>
          <p:nvPr/>
        </p:nvSpPr>
        <p:spPr>
          <a:xfrm>
            <a:off x="1450000" y="318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Comparar com quê: média geral, outro tipo, outro período?</a:t>
            </a:r>
            <a:endParaRPr/>
          </a:p>
        </p:txBody>
      </p:sp>
      <p:sp>
        <p:nvSpPr>
          <p:cNvPr id="665" name="Google Shape;665;p37"/>
          <p:cNvSpPr/>
          <p:nvPr/>
        </p:nvSpPr>
        <p:spPr>
          <a:xfrm>
            <a:off x="750000" y="3370000"/>
            <a:ext cx="5950000" cy="49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37"/>
          <p:cNvSpPr/>
          <p:nvPr/>
        </p:nvSpPr>
        <p:spPr>
          <a:xfrm>
            <a:off x="900000" y="3460000"/>
            <a:ext cx="380000" cy="3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/>
          </a:p>
        </p:txBody>
      </p:sp>
      <p:sp>
        <p:nvSpPr>
          <p:cNvPr id="667" name="Google Shape;667;p37"/>
          <p:cNvSpPr txBox="1"/>
          <p:nvPr/>
        </p:nvSpPr>
        <p:spPr>
          <a:xfrm>
            <a:off x="1450000" y="345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Escreva a pergunta</a:t>
            </a:r>
            <a:endParaRPr/>
          </a:p>
        </p:txBody>
      </p:sp>
      <p:sp>
        <p:nvSpPr>
          <p:cNvPr id="668" name="Google Shape;668;p37"/>
          <p:cNvSpPr txBox="1"/>
          <p:nvPr/>
        </p:nvSpPr>
        <p:spPr>
          <a:xfrm>
            <a:off x="1450000" y="3720000"/>
            <a:ext cx="51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Específica, datada, mensurável, comparável e acionável.</a:t>
            </a:r>
            <a:endParaRPr/>
          </a:p>
        </p:txBody>
      </p:sp>
      <p:sp>
        <p:nvSpPr>
          <p:cNvPr id="669" name="Google Shape;669;p37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38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Arial"/>
              <a:buNone/>
            </a:pPr>
            <a:r>
              <a:rPr b="1" i="0" lang="en-US" sz="96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07</a:t>
            </a:r>
            <a:endParaRPr/>
          </a:p>
        </p:txBody>
      </p:sp>
      <p:sp>
        <p:nvSpPr>
          <p:cNvPr id="675" name="Google Shape;675;p38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Interação com a turma</a:t>
            </a:r>
            <a:endParaRPr/>
          </a:p>
        </p:txBody>
      </p:sp>
      <p:sp>
        <p:nvSpPr>
          <p:cNvPr id="676" name="Google Shape;676;p38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38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Quais perguntas vocês já fizeram em seus escritórios?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39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Quais perguntas vocês já fizeram?</a:t>
            </a:r>
            <a:endParaRPr/>
          </a:p>
        </p:txBody>
      </p:sp>
      <p:sp>
        <p:nvSpPr>
          <p:cNvPr id="683" name="Google Shape;683;p39"/>
          <p:cNvSpPr txBox="1"/>
          <p:nvPr/>
        </p:nvSpPr>
        <p:spPr>
          <a:xfrm>
            <a:off x="750000" y="1188875"/>
            <a:ext cx="6738000" cy="4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Provocação para a discussão em sala</a:t>
            </a:r>
            <a:endParaRPr/>
          </a:p>
        </p:txBody>
      </p:sp>
      <p:sp>
        <p:nvSpPr>
          <p:cNvPr id="684" name="Google Shape;684;p39"/>
          <p:cNvSpPr/>
          <p:nvPr/>
        </p:nvSpPr>
        <p:spPr>
          <a:xfrm>
            <a:off x="750000" y="1639776"/>
            <a:ext cx="6738000" cy="8052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39"/>
          <p:cNvSpPr txBox="1"/>
          <p:nvPr/>
        </p:nvSpPr>
        <p:spPr>
          <a:xfrm>
            <a:off x="919865" y="1747134"/>
            <a:ext cx="2265000" cy="3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ESCRITÓRIO</a:t>
            </a:r>
            <a:endParaRPr/>
          </a:p>
        </p:txBody>
      </p:sp>
      <p:sp>
        <p:nvSpPr>
          <p:cNvPr id="686" name="Google Shape;686;p39"/>
          <p:cNvSpPr txBox="1"/>
          <p:nvPr/>
        </p:nvSpPr>
        <p:spPr>
          <a:xfrm>
            <a:off x="919865" y="2047734"/>
            <a:ext cx="6398100" cy="4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Já tentaram medir taxa de êxito por correspondente, por advogado ou por tipo de ação? O que descobriram?</a:t>
            </a:r>
            <a:endParaRPr/>
          </a:p>
        </p:txBody>
      </p:sp>
      <p:sp>
        <p:nvSpPr>
          <p:cNvPr id="687" name="Google Shape;687;p39"/>
          <p:cNvSpPr/>
          <p:nvPr/>
        </p:nvSpPr>
        <p:spPr>
          <a:xfrm>
            <a:off x="750000" y="2498635"/>
            <a:ext cx="6738000" cy="805200"/>
          </a:xfrm>
          <a:prstGeom prst="roundRect">
            <a:avLst>
              <a:gd fmla="val 16667" name="adj"/>
            </a:avLst>
          </a:prstGeom>
          <a:solidFill>
            <a:srgbClr val="FFF7E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39"/>
          <p:cNvSpPr txBox="1"/>
          <p:nvPr/>
        </p:nvSpPr>
        <p:spPr>
          <a:xfrm>
            <a:off x="919865" y="2605993"/>
            <a:ext cx="2265000" cy="3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CLIENTE</a:t>
            </a:r>
            <a:endParaRPr/>
          </a:p>
        </p:txBody>
      </p:sp>
      <p:sp>
        <p:nvSpPr>
          <p:cNvPr id="689" name="Google Shape;689;p39"/>
          <p:cNvSpPr txBox="1"/>
          <p:nvPr/>
        </p:nvSpPr>
        <p:spPr>
          <a:xfrm>
            <a:off x="919865" y="2906593"/>
            <a:ext cx="6398100" cy="4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Algum cliente já pediu um número que vocês não conseguiram entregar? Por quê?</a:t>
            </a:r>
            <a:endParaRPr/>
          </a:p>
        </p:txBody>
      </p:sp>
      <p:sp>
        <p:nvSpPr>
          <p:cNvPr id="690" name="Google Shape;690;p39"/>
          <p:cNvSpPr/>
          <p:nvPr/>
        </p:nvSpPr>
        <p:spPr>
          <a:xfrm>
            <a:off x="750000" y="3357495"/>
            <a:ext cx="6738000" cy="805200"/>
          </a:xfrm>
          <a:prstGeom prst="roundRect">
            <a:avLst>
              <a:gd fmla="val 16667" name="adj"/>
            </a:avLst>
          </a:prstGeom>
          <a:solidFill>
            <a:srgbClr val="F4F4F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39"/>
          <p:cNvSpPr txBox="1"/>
          <p:nvPr/>
        </p:nvSpPr>
        <p:spPr>
          <a:xfrm>
            <a:off x="919865" y="3464852"/>
            <a:ext cx="2265000" cy="3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DECISÃO</a:t>
            </a:r>
            <a:endParaRPr/>
          </a:p>
        </p:txBody>
      </p:sp>
      <p:sp>
        <p:nvSpPr>
          <p:cNvPr id="692" name="Google Shape;692;p39"/>
          <p:cNvSpPr txBox="1"/>
          <p:nvPr/>
        </p:nvSpPr>
        <p:spPr>
          <a:xfrm>
            <a:off x="919865" y="3765453"/>
            <a:ext cx="6398100" cy="4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Que decisão de litígio, acordo ou provisionamento vocês gostariam de tomar com mais evidência?</a:t>
            </a:r>
            <a:endParaRPr/>
          </a:p>
        </p:txBody>
      </p:sp>
      <p:sp>
        <p:nvSpPr>
          <p:cNvPr id="693" name="Google Shape;693;p39"/>
          <p:cNvSpPr txBox="1"/>
          <p:nvPr/>
        </p:nvSpPr>
        <p:spPr>
          <a:xfrm>
            <a:off x="750000" y="4350000"/>
            <a:ext cx="595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Tempo: 15 a 20 minutos de discussão aberta. Anote o que aparecer.</a:t>
            </a:r>
            <a:endParaRPr/>
          </a:p>
        </p:txBody>
      </p:sp>
      <p:sp>
        <p:nvSpPr>
          <p:cNvPr id="694" name="Google Shape;694;p39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40"/>
          <p:cNvSpPr txBox="1"/>
          <p:nvPr/>
        </p:nvSpPr>
        <p:spPr>
          <a:xfrm>
            <a:off x="750000" y="500000"/>
            <a:ext cx="59499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Atividade Prática 1</a:t>
            </a:r>
            <a:endParaRPr/>
          </a:p>
        </p:txBody>
      </p:sp>
      <p:sp>
        <p:nvSpPr>
          <p:cNvPr id="700" name="Google Shape;700;p40"/>
          <p:cNvSpPr txBox="1"/>
          <p:nvPr/>
        </p:nvSpPr>
        <p:spPr>
          <a:xfrm>
            <a:off x="750000" y="1102612"/>
            <a:ext cx="68478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Entrega até a Aula 2</a:t>
            </a:r>
            <a:endParaRPr/>
          </a:p>
        </p:txBody>
      </p:sp>
      <p:sp>
        <p:nvSpPr>
          <p:cNvPr id="701" name="Google Shape;701;p40"/>
          <p:cNvSpPr/>
          <p:nvPr/>
        </p:nvSpPr>
        <p:spPr>
          <a:xfrm>
            <a:off x="750000" y="1522612"/>
            <a:ext cx="6847800" cy="800100"/>
          </a:xfrm>
          <a:prstGeom prst="roundRect">
            <a:avLst>
              <a:gd fmla="val 16667" name="adj"/>
            </a:avLst>
          </a:pr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0"/>
          <p:cNvSpPr txBox="1"/>
          <p:nvPr/>
        </p:nvSpPr>
        <p:spPr>
          <a:xfrm>
            <a:off x="922633" y="1592612"/>
            <a:ext cx="65025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Identificar perguntas jurimétricas no caso XY&amp;A</a:t>
            </a:r>
            <a:endParaRPr/>
          </a:p>
        </p:txBody>
      </p:sp>
      <p:sp>
        <p:nvSpPr>
          <p:cNvPr id="703" name="Google Shape;703;p40"/>
          <p:cNvSpPr txBox="1"/>
          <p:nvPr/>
        </p:nvSpPr>
        <p:spPr>
          <a:xfrm>
            <a:off x="750000" y="2472612"/>
            <a:ext cx="6847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Você deverá produzir</a:t>
            </a:r>
            <a:endParaRPr/>
          </a:p>
        </p:txBody>
      </p:sp>
      <p:sp>
        <p:nvSpPr>
          <p:cNvPr id="704" name="Google Shape;704;p40"/>
          <p:cNvSpPr txBox="1"/>
          <p:nvPr/>
        </p:nvSpPr>
        <p:spPr>
          <a:xfrm>
            <a:off x="750000" y="2772600"/>
            <a:ext cx="7020000" cy="18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1100">
                <a:solidFill>
                  <a:srgbClr val="E8A317"/>
                </a:solidFill>
              </a:rPr>
              <a:t>Pergunta 1.</a:t>
            </a:r>
            <a:r>
              <a:rPr lang="en-US" sz="1100">
                <a:solidFill>
                  <a:schemeClr val="dk1"/>
                </a:solidFill>
              </a:rPr>
              <a:t> Em até 4 linhas, explique </a:t>
            </a:r>
            <a:r>
              <a:rPr b="1" lang="en-US" sz="1100">
                <a:solidFill>
                  <a:schemeClr val="dk1"/>
                </a:solidFill>
              </a:rPr>
              <a:t>com suas próprias palavras o que é Jurimetria</a:t>
            </a:r>
            <a:r>
              <a:rPr lang="en-US" sz="1100">
                <a:solidFill>
                  <a:schemeClr val="dk1"/>
                </a:solidFill>
              </a:rPr>
              <a:t> e dê um exemplo concreto de uma situação no dia a dia de um escritório em que ela poderia ser aplicada. O exemplo não precisa ser do XY&amp;A.</a:t>
            </a:r>
            <a:br>
              <a:rPr lang="en-US" sz="1100">
                <a:solidFill>
                  <a:schemeClr val="dk1"/>
                </a:solidFill>
              </a:rPr>
            </a:br>
            <a:r>
              <a:rPr b="1" lang="en-US" sz="1100">
                <a:solidFill>
                  <a:srgbClr val="E8A317"/>
                </a:solidFill>
              </a:rPr>
              <a:t>Pergunta 2.</a:t>
            </a:r>
            <a:r>
              <a:rPr lang="en-US" sz="1100">
                <a:solidFill>
                  <a:srgbClr val="E8A317"/>
                </a:solidFill>
              </a:rPr>
              <a:t> </a:t>
            </a:r>
            <a:r>
              <a:rPr lang="en-US" sz="1100">
                <a:solidFill>
                  <a:schemeClr val="dk1"/>
                </a:solidFill>
              </a:rPr>
              <a:t>Formule </a:t>
            </a:r>
            <a:r>
              <a:rPr b="1" lang="en-US" sz="1100">
                <a:solidFill>
                  <a:schemeClr val="dk1"/>
                </a:solidFill>
              </a:rPr>
              <a:t>três perguntas jurimétricas</a:t>
            </a:r>
            <a:r>
              <a:rPr lang="en-US" sz="1100">
                <a:solidFill>
                  <a:schemeClr val="dk1"/>
                </a:solidFill>
              </a:rPr>
              <a:t> que o XY&amp;A poderia estar fazendo hoje sobre sua carteira de 16.110 julgados, cobrindo </a:t>
            </a:r>
            <a:r>
              <a:rPr b="1" lang="en-US" sz="1100">
                <a:solidFill>
                  <a:schemeClr val="dk1"/>
                </a:solidFill>
              </a:rPr>
              <a:t>três tipos de decisão diferentes</a:t>
            </a:r>
            <a:r>
              <a:rPr lang="en-US" sz="1100">
                <a:solidFill>
                  <a:schemeClr val="dk1"/>
                </a:solidFill>
              </a:rPr>
              <a:t> entre os quatro vistos em sala (contencioso, negociação, provisionamento ou gestão). Pense já no trabalho final: essas perguntas devem ser respondíveis pela base disponível.</a:t>
            </a:r>
            <a:br>
              <a:rPr lang="en-US" sz="1100">
                <a:solidFill>
                  <a:schemeClr val="dk1"/>
                </a:solidFill>
              </a:rPr>
            </a:br>
            <a:r>
              <a:rPr b="1" lang="en-US" sz="1100">
                <a:solidFill>
                  <a:srgbClr val="E8A317"/>
                </a:solidFill>
              </a:rPr>
              <a:t>Pergunta 3.</a:t>
            </a:r>
            <a:r>
              <a:rPr lang="en-US" sz="1100">
                <a:solidFill>
                  <a:schemeClr val="dk1"/>
                </a:solidFill>
              </a:rPr>
              <a:t> Para cada uma das três perguntas formuladas no item 2, liste quais seriam as variáveis (colunas) necessárias para respondê-las e qual o tipo de cada variável (categóricas, numéricas, temporais).</a:t>
            </a:r>
            <a:endParaRPr b="1" sz="1000">
              <a:solidFill>
                <a:srgbClr val="E8A317"/>
              </a:solidFill>
            </a:endParaRPr>
          </a:p>
        </p:txBody>
      </p:sp>
      <p:sp>
        <p:nvSpPr>
          <p:cNvPr id="705" name="Google Shape;705;p40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1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Síntese do Bloco</a:t>
            </a:r>
            <a:endParaRPr/>
          </a:p>
        </p:txBody>
      </p:sp>
      <p:sp>
        <p:nvSpPr>
          <p:cNvPr id="711" name="Google Shape;711;p41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Cinco pontos para levar para casa</a:t>
            </a:r>
            <a:endParaRPr/>
          </a:p>
        </p:txBody>
      </p:sp>
      <p:sp>
        <p:nvSpPr>
          <p:cNvPr id="712" name="Google Shape;712;p41"/>
          <p:cNvSpPr/>
          <p:nvPr/>
        </p:nvSpPr>
        <p:spPr>
          <a:xfrm>
            <a:off x="750000" y="1750000"/>
            <a:ext cx="594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/>
          </a:p>
        </p:txBody>
      </p:sp>
      <p:sp>
        <p:nvSpPr>
          <p:cNvPr id="713" name="Google Shape;713;p41"/>
          <p:cNvSpPr txBox="1"/>
          <p:nvPr/>
        </p:nvSpPr>
        <p:spPr>
          <a:xfrm>
            <a:off x="1464066" y="1810000"/>
            <a:ext cx="63075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Os dados públicos do Judiciário estão em três camadas: CNJ macro, DataJud microdados e painéis dos tribunais.</a:t>
            </a:r>
            <a:endParaRPr/>
          </a:p>
        </p:txBody>
      </p:sp>
      <p:sp>
        <p:nvSpPr>
          <p:cNvPr id="714" name="Google Shape;714;p41"/>
          <p:cNvSpPr/>
          <p:nvPr/>
        </p:nvSpPr>
        <p:spPr>
          <a:xfrm>
            <a:off x="750000" y="2290000"/>
            <a:ext cx="594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/>
          </a:p>
        </p:txBody>
      </p:sp>
      <p:sp>
        <p:nvSpPr>
          <p:cNvPr id="715" name="Google Shape;715;p41"/>
          <p:cNvSpPr txBox="1"/>
          <p:nvPr/>
        </p:nvSpPr>
        <p:spPr>
          <a:xfrm>
            <a:off x="1464066" y="2350000"/>
            <a:ext cx="63075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Todo número exige cinco perguntas: o quê, de onde, quando, sobre quem e por quê.</a:t>
            </a:r>
            <a:endParaRPr/>
          </a:p>
        </p:txBody>
      </p:sp>
      <p:sp>
        <p:nvSpPr>
          <p:cNvPr id="716" name="Google Shape;716;p41"/>
          <p:cNvSpPr/>
          <p:nvPr/>
        </p:nvSpPr>
        <p:spPr>
          <a:xfrm>
            <a:off x="750000" y="2830000"/>
            <a:ext cx="594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/>
          </a:p>
        </p:txBody>
      </p:sp>
      <p:sp>
        <p:nvSpPr>
          <p:cNvPr id="717" name="Google Shape;717;p41"/>
          <p:cNvSpPr txBox="1"/>
          <p:nvPr/>
        </p:nvSpPr>
        <p:spPr>
          <a:xfrm>
            <a:off x="1464066" y="2890000"/>
            <a:ext cx="63075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ponte central da Jurimetria é traduzir uma dúvida jurídica em uma pergunta investigável.</a:t>
            </a:r>
            <a:endParaRPr/>
          </a:p>
        </p:txBody>
      </p:sp>
      <p:sp>
        <p:nvSpPr>
          <p:cNvPr id="718" name="Google Shape;718;p41"/>
          <p:cNvSpPr/>
          <p:nvPr/>
        </p:nvSpPr>
        <p:spPr>
          <a:xfrm>
            <a:off x="750000" y="3370000"/>
            <a:ext cx="594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/>
          </a:p>
        </p:txBody>
      </p:sp>
      <p:sp>
        <p:nvSpPr>
          <p:cNvPr id="719" name="Google Shape;719;p41"/>
          <p:cNvSpPr txBox="1"/>
          <p:nvPr/>
        </p:nvSpPr>
        <p:spPr>
          <a:xfrm>
            <a:off x="1464066" y="3430000"/>
            <a:ext cx="63075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Uma boa pergunta é específica, datada, mensurável, comparável e acionável.</a:t>
            </a:r>
            <a:endParaRPr/>
          </a:p>
        </p:txBody>
      </p:sp>
      <p:sp>
        <p:nvSpPr>
          <p:cNvPr id="720" name="Google Shape;720;p41"/>
          <p:cNvSpPr/>
          <p:nvPr/>
        </p:nvSpPr>
        <p:spPr>
          <a:xfrm>
            <a:off x="750000" y="3910000"/>
            <a:ext cx="594900" cy="5001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/>
          </a:p>
        </p:txBody>
      </p:sp>
      <p:sp>
        <p:nvSpPr>
          <p:cNvPr id="721" name="Google Shape;721;p41"/>
          <p:cNvSpPr txBox="1"/>
          <p:nvPr/>
        </p:nvSpPr>
        <p:spPr>
          <a:xfrm>
            <a:off x="1464066" y="3970000"/>
            <a:ext cx="63075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pergunta funciona como contrato com os dados: define escopo, referencial e critério de sucesso.</a:t>
            </a:r>
            <a:endParaRPr/>
          </a:p>
        </p:txBody>
      </p:sp>
      <p:sp>
        <p:nvSpPr>
          <p:cNvPr id="722" name="Google Shape;722;p4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42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Ponte para a Aula 2</a:t>
            </a:r>
            <a:endParaRPr/>
          </a:p>
        </p:txBody>
      </p:sp>
      <p:sp>
        <p:nvSpPr>
          <p:cNvPr id="728" name="Google Shape;728;p42"/>
          <p:cNvSpPr txBox="1"/>
          <p:nvPr/>
        </p:nvSpPr>
        <p:spPr>
          <a:xfrm>
            <a:off x="750000" y="1251593"/>
            <a:ext cx="59499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O que vem na semana que vem</a:t>
            </a:r>
            <a:endParaRPr/>
          </a:p>
        </p:txBody>
      </p:sp>
      <p:sp>
        <p:nvSpPr>
          <p:cNvPr id="729" name="Google Shape;729;p42"/>
          <p:cNvSpPr txBox="1"/>
          <p:nvPr/>
        </p:nvSpPr>
        <p:spPr>
          <a:xfrm>
            <a:off x="750000" y="1671593"/>
            <a:ext cx="1500000" cy="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8A317"/>
                </a:solidFill>
                <a:latin typeface="Arial Black"/>
                <a:ea typeface="Arial Black"/>
                <a:cs typeface="Arial Black"/>
                <a:sym typeface="Arial Black"/>
              </a:rPr>
              <a:t>➜</a:t>
            </a:r>
            <a:endParaRPr/>
          </a:p>
        </p:txBody>
      </p:sp>
      <p:sp>
        <p:nvSpPr>
          <p:cNvPr id="730" name="Google Shape;730;p42"/>
          <p:cNvSpPr txBox="1"/>
          <p:nvPr/>
        </p:nvSpPr>
        <p:spPr>
          <a:xfrm>
            <a:off x="2200000" y="1701593"/>
            <a:ext cx="4500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Do problema à base</a:t>
            </a:r>
            <a:endParaRPr/>
          </a:p>
        </p:txBody>
      </p:sp>
      <p:sp>
        <p:nvSpPr>
          <p:cNvPr id="731" name="Google Shape;731;p42"/>
          <p:cNvSpPr txBox="1"/>
          <p:nvPr/>
        </p:nvSpPr>
        <p:spPr>
          <a:xfrm>
            <a:off x="2200000" y="2071593"/>
            <a:ext cx="45000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1" lang="en-US" sz="125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Aula 2: as 3 primeiras etapas do ciclo da ciência de dados, em modo raiz.</a:t>
            </a:r>
            <a:endParaRPr/>
          </a:p>
        </p:txBody>
      </p:sp>
      <p:sp>
        <p:nvSpPr>
          <p:cNvPr id="732" name="Google Shape;732;p42"/>
          <p:cNvSpPr/>
          <p:nvPr/>
        </p:nvSpPr>
        <p:spPr>
          <a:xfrm>
            <a:off x="790000" y="2771593"/>
            <a:ext cx="1800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2"/>
          <p:cNvSpPr txBox="1"/>
          <p:nvPr/>
        </p:nvSpPr>
        <p:spPr>
          <a:xfrm>
            <a:off x="1050000" y="2721593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Etapa 1</a:t>
            </a:r>
            <a:endParaRPr/>
          </a:p>
        </p:txBody>
      </p:sp>
      <p:sp>
        <p:nvSpPr>
          <p:cNvPr id="734" name="Google Shape;734;p42"/>
          <p:cNvSpPr txBox="1"/>
          <p:nvPr/>
        </p:nvSpPr>
        <p:spPr>
          <a:xfrm>
            <a:off x="2950000" y="2721593"/>
            <a:ext cx="36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Transformar a pergunta em pergunta investigável.</a:t>
            </a:r>
            <a:endParaRPr/>
          </a:p>
        </p:txBody>
      </p:sp>
      <p:sp>
        <p:nvSpPr>
          <p:cNvPr id="735" name="Google Shape;735;p42"/>
          <p:cNvSpPr/>
          <p:nvPr/>
        </p:nvSpPr>
        <p:spPr>
          <a:xfrm>
            <a:off x="790000" y="3181593"/>
            <a:ext cx="1800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2"/>
          <p:cNvSpPr txBox="1"/>
          <p:nvPr/>
        </p:nvSpPr>
        <p:spPr>
          <a:xfrm>
            <a:off x="1050000" y="3131593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Etapa 2</a:t>
            </a:r>
            <a:endParaRPr/>
          </a:p>
        </p:txBody>
      </p:sp>
      <p:sp>
        <p:nvSpPr>
          <p:cNvPr id="737" name="Google Shape;737;p42"/>
          <p:cNvSpPr txBox="1"/>
          <p:nvPr/>
        </p:nvSpPr>
        <p:spPr>
          <a:xfrm>
            <a:off x="2950000" y="3131593"/>
            <a:ext cx="36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Mapear as informações necessárias para respondê-la.</a:t>
            </a:r>
            <a:endParaRPr/>
          </a:p>
        </p:txBody>
      </p:sp>
      <p:sp>
        <p:nvSpPr>
          <p:cNvPr id="738" name="Google Shape;738;p42"/>
          <p:cNvSpPr/>
          <p:nvPr/>
        </p:nvSpPr>
        <p:spPr>
          <a:xfrm>
            <a:off x="790000" y="3591593"/>
            <a:ext cx="1800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2"/>
          <p:cNvSpPr txBox="1"/>
          <p:nvPr/>
        </p:nvSpPr>
        <p:spPr>
          <a:xfrm>
            <a:off x="1050000" y="3541593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Etapa 3</a:t>
            </a:r>
            <a:endParaRPr/>
          </a:p>
        </p:txBody>
      </p:sp>
      <p:sp>
        <p:nvSpPr>
          <p:cNvPr id="740" name="Google Shape;740;p42"/>
          <p:cNvSpPr txBox="1"/>
          <p:nvPr/>
        </p:nvSpPr>
        <p:spPr>
          <a:xfrm>
            <a:off x="2950000" y="3541593"/>
            <a:ext cx="36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Coletar os dados: fontes, web scraping, APIs.</a:t>
            </a:r>
            <a:endParaRPr/>
          </a:p>
        </p:txBody>
      </p:sp>
      <p:sp>
        <p:nvSpPr>
          <p:cNvPr id="741" name="Google Shape;741;p42"/>
          <p:cNvSpPr/>
          <p:nvPr/>
        </p:nvSpPr>
        <p:spPr>
          <a:xfrm>
            <a:off x="790000" y="4001593"/>
            <a:ext cx="1800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2"/>
          <p:cNvSpPr txBox="1"/>
          <p:nvPr/>
        </p:nvSpPr>
        <p:spPr>
          <a:xfrm>
            <a:off x="1050000" y="3951593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B2A4A"/>
                </a:solidFill>
                <a:latin typeface="Arial"/>
                <a:ea typeface="Arial"/>
                <a:cs typeface="Arial"/>
                <a:sym typeface="Arial"/>
              </a:rPr>
              <a:t>Atividade</a:t>
            </a:r>
            <a:endParaRPr/>
          </a:p>
        </p:txBody>
      </p:sp>
      <p:sp>
        <p:nvSpPr>
          <p:cNvPr id="743" name="Google Shape;743;p42"/>
          <p:cNvSpPr txBox="1"/>
          <p:nvPr/>
        </p:nvSpPr>
        <p:spPr>
          <a:xfrm>
            <a:off x="2950000" y="3951593"/>
            <a:ext cx="3699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Correção comentada da Atividade 1 logo na abertura.</a:t>
            </a:r>
            <a:endParaRPr/>
          </a:p>
        </p:txBody>
      </p:sp>
      <p:sp>
        <p:nvSpPr>
          <p:cNvPr id="744" name="Google Shape;744;p42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43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Referências do Bloco</a:t>
            </a:r>
            <a:endParaRPr/>
          </a:p>
        </p:txBody>
      </p:sp>
      <p:sp>
        <p:nvSpPr>
          <p:cNvPr id="750" name="Google Shape;750;p43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Fontes citadas ao longo do conteúdo</a:t>
            </a:r>
            <a:endParaRPr/>
          </a:p>
        </p:txBody>
      </p:sp>
      <p:sp>
        <p:nvSpPr>
          <p:cNvPr id="751" name="Google Shape;751;p43"/>
          <p:cNvSpPr txBox="1"/>
          <p:nvPr/>
        </p:nvSpPr>
        <p:spPr>
          <a:xfrm>
            <a:off x="750000" y="1750000"/>
            <a:ext cx="5950000" cy="2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CONSELHO NACIONAL DE JUSTIÇA (CNJ). Justiça em Números. Disponível em: cnj.jus.br/pesquisas-judiciarias.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CONSELHO NACIONAL DE JUSTIÇA (CNJ). DataJud. Disponível em: datajud.cnj.jus.br.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HUFF, Darrell. Como mentir com estatística. Rio de Janeiro: Intrínseca, 2016.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SILVER, Nate. O sinal e o ruído. Rio de Janeiro: Intrínseca, 2013.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WHEELAN, Charles. Estatística: o que é, para que serve, como funciona. Rio de Janeiro: Zahar, 2016.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NUNES, Marcelo Guedes. Jurimetria: como a estatística pode reinventar o Direito. 2. ed. São Paulo: RT, 2019.</a:t>
            </a:r>
            <a:endParaRPr/>
          </a:p>
          <a:p>
            <a:pPr indent="-228600" lvl="0" marL="22860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E8A317"/>
              </a:buClr>
              <a:buSzPts val="1050"/>
              <a:buFont typeface="Arial"/>
              <a:buChar char="■"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KATZ, Daniel Martin; BOMMARITO, Michael J. Quantitative Legal Prediction. Emory Law Journal, v. 62, 2013.</a:t>
            </a:r>
            <a:endParaRPr/>
          </a:p>
        </p:txBody>
      </p:sp>
      <p:sp>
        <p:nvSpPr>
          <p:cNvPr id="752" name="Google Shape;752;p43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57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3daede5b08c_0_0"/>
          <p:cNvSpPr/>
          <p:nvPr/>
        </p:nvSpPr>
        <p:spPr>
          <a:xfrm>
            <a:off x="822950" y="914400"/>
            <a:ext cx="5486400" cy="70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600"/>
              <a:buFont typeface="Arial Black"/>
              <a:buNone/>
            </a:pPr>
            <a:r>
              <a:rPr b="1" i="0" lang="en-US" sz="3600" u="none" cap="none" strike="noStrike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Fim da Aula </a:t>
            </a:r>
            <a:r>
              <a:rPr b="1" lang="en-US" sz="3600">
                <a:solidFill>
                  <a:srgbClr val="1B2A4A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g3daede5b08c_0_0"/>
          <p:cNvSpPr/>
          <p:nvPr/>
        </p:nvSpPr>
        <p:spPr>
          <a:xfrm>
            <a:off x="822950" y="1661173"/>
            <a:ext cx="1828800" cy="528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g3daede5b08c_0_0"/>
          <p:cNvSpPr/>
          <p:nvPr/>
        </p:nvSpPr>
        <p:spPr>
          <a:xfrm>
            <a:off x="822950" y="1836884"/>
            <a:ext cx="54864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31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8A317"/>
                </a:solidFill>
                <a:latin typeface="Arial"/>
                <a:ea typeface="Arial"/>
                <a:cs typeface="Arial"/>
                <a:sym typeface="Arial"/>
              </a:rPr>
              <a:t>Lembrete: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g3daede5b08c_0_0"/>
          <p:cNvSpPr/>
          <p:nvPr/>
        </p:nvSpPr>
        <p:spPr>
          <a:xfrm>
            <a:off x="822950" y="2188307"/>
            <a:ext cx="54864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Entregar a Atividade </a:t>
            </a:r>
            <a:r>
              <a:rPr lang="en-US">
                <a:solidFill>
                  <a:srgbClr val="666666"/>
                </a:solidFill>
              </a:rPr>
              <a:t>1</a:t>
            </a: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até a próxima aula.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g3daede5b08c_0_0"/>
          <p:cNvSpPr/>
          <p:nvPr/>
        </p:nvSpPr>
        <p:spPr>
          <a:xfrm>
            <a:off x="822950" y="2697950"/>
            <a:ext cx="69159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B2A4A"/>
                </a:solidFill>
              </a:rPr>
              <a:t>Próxima aula: </a:t>
            </a:r>
            <a:r>
              <a:rPr b="1" lang="en-US" sz="1500">
                <a:solidFill>
                  <a:srgbClr val="1B2A4A"/>
                </a:solidFill>
              </a:rPr>
              <a:t>O ciclo da ciência de dados, em modo raiz, etapa por etapa.</a:t>
            </a:r>
            <a:endParaRPr b="1" sz="150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2026-02-14T20:12:37Z</dcterms:created>
  <dc:creator>Bruno Daleffi</dc:creator>
</cp:coreProperties>
</file>