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5143500" cx="9144000"/>
  <p:notesSz cx="5143500" cy="9144000"/>
  <p:embeddedFontLst>
    <p:embeddedFont>
      <p:font typeface="Arial Black"/>
      <p:regular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60">
          <p15:clr>
            <a:srgbClr val="747775"/>
          </p15:clr>
        </p15:guide>
      </p15:sldGuideLst>
    </p:ext>
    <p:ext uri="GoogleSlidesCustomDataVersion2">
      <go:slidesCustomData xmlns:go="http://customooxmlschemas.google.com/" r:id="rId56" roundtripDataSignature="AMtx7mj3UvtInmSo4jnXEd4UTpQYdXDk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ArialBlack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d94641431f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g3d94641431f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g3d94641431f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d94641431f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3d94641431f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g3d94641431f_0_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d94641431f_0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3d94641431f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g3d94641431f_0_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2" name="Google Shape;49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9" name="Google Shape;51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4" name="Google Shape;57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7" name="Google Shape;59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8b75b7e57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7" name="Google Shape;617;g38b75b7e57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6" name="Google Shape;77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4" name="Google Shape;78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d94641431f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0" name="Google Shape;800;g3d94641431f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1" name="Google Shape;81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8" name="Google Shape;84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9" name="Google Shape;86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6" name="Google Shape;88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8" name="Google Shape;90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d94641431f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g3d94641431f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8" name="Google Shape;918;g3d94641431f_0_1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hyperlink" Target="https://docs.google.com/spreadsheets/d/1aS4vONWGQIGg2DOqpeVsQNEe0uXi25zZ/edit?gid=1835807719#gid=1835807719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10" Type="http://schemas.openxmlformats.org/officeDocument/2006/relationships/image" Target="../media/image7.png"/><Relationship Id="rId9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1097275" y="914400"/>
            <a:ext cx="6790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JURIMETRIA E ANÁLISE DE DADOS PARA DECISÕES ESTRATÉGICAS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097280" y="2788920"/>
            <a:ext cx="18288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097280" y="29260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Aula 1 – Bloco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1097280" y="3337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Por que dados importam e como transformar dúvidas jurídicas em perguntas jurimétricas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d94641431f_0_32"/>
          <p:cNvSpPr/>
          <p:nvPr/>
        </p:nvSpPr>
        <p:spPr>
          <a:xfrm>
            <a:off x="571490" y="502920"/>
            <a:ext cx="6309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Sobre o Docente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d94641431f_0_32"/>
          <p:cNvSpPr/>
          <p:nvPr/>
        </p:nvSpPr>
        <p:spPr>
          <a:xfrm>
            <a:off x="571485" y="1115575"/>
            <a:ext cx="6217800" cy="2450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3d94641431f_0_32"/>
          <p:cNvSpPr/>
          <p:nvPr/>
        </p:nvSpPr>
        <p:spPr>
          <a:xfrm>
            <a:off x="617200" y="1115476"/>
            <a:ext cx="6863700" cy="816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g3d94641431f_0_32"/>
          <p:cNvSpPr/>
          <p:nvPr/>
        </p:nvSpPr>
        <p:spPr>
          <a:xfrm>
            <a:off x="708660" y="12801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Bruno Daleffi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d94641431f_0_32"/>
          <p:cNvSpPr/>
          <p:nvPr/>
        </p:nvSpPr>
        <p:spPr>
          <a:xfrm>
            <a:off x="708650" y="1828800"/>
            <a:ext cx="42957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Bacharelado em Estatística pelo IME-USP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•  Graduação sanduíche na Universidade do Porto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Mestre em Inteligência Artificial pela POLI-USP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Sócio e Head de Operações e Ciência de Dados na</a:t>
            </a:r>
            <a:endParaRPr b="0" i="0" sz="13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Terranova Consultoria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Coordenador e Orientador de Pesquisa na ABJ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d94641431f_0_32"/>
          <p:cNvSpPr/>
          <p:nvPr/>
        </p:nvSpPr>
        <p:spPr>
          <a:xfrm>
            <a:off x="708660" y="3787140"/>
            <a:ext cx="1828800" cy="41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3d94641431f_0_32"/>
          <p:cNvSpPr/>
          <p:nvPr/>
        </p:nvSpPr>
        <p:spPr>
          <a:xfrm>
            <a:off x="708660" y="3787140"/>
            <a:ext cx="1828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Estatística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d94641431f_0_32"/>
          <p:cNvSpPr/>
          <p:nvPr/>
        </p:nvSpPr>
        <p:spPr>
          <a:xfrm>
            <a:off x="2720340" y="3787140"/>
            <a:ext cx="1828800" cy="4116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g3d94641431f_0_32"/>
          <p:cNvSpPr/>
          <p:nvPr/>
        </p:nvSpPr>
        <p:spPr>
          <a:xfrm>
            <a:off x="2720340" y="3787140"/>
            <a:ext cx="1828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Inteligência Artificial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g3d94641431f_0_32"/>
          <p:cNvSpPr/>
          <p:nvPr/>
        </p:nvSpPr>
        <p:spPr>
          <a:xfrm>
            <a:off x="4732020" y="3787140"/>
            <a:ext cx="1828800" cy="4116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3d94641431f_0_32"/>
          <p:cNvSpPr/>
          <p:nvPr/>
        </p:nvSpPr>
        <p:spPr>
          <a:xfrm>
            <a:off x="4732020" y="3787140"/>
            <a:ext cx="1828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Jurimetria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g3d94641431f_0_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0210" y="1266760"/>
            <a:ext cx="2450700" cy="245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Agenda do Bloco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O que vamos percorrer nas próximas 1h50min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781363" y="17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1301363" y="1760000"/>
            <a:ext cx="24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Apresentação da disciplina, metodologia e avaliação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204761" y="17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4724761" y="1760000"/>
            <a:ext cx="24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O caso fio condutor: escritório X, Y &amp; Associados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781363" y="23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1301363" y="2360000"/>
            <a:ext cx="24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 base do trabalho final: 16.110 julgados do TJSP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204761" y="23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4724761" y="2360000"/>
            <a:ext cx="24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O que é Jurimetria: conceito, histórico e a ABJ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81363" y="29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1301363" y="2960000"/>
            <a:ext cx="24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Por que dados importam para o operador do Direito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204761" y="29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 txBox="1"/>
          <p:nvPr/>
        </p:nvSpPr>
        <p:spPr>
          <a:xfrm>
            <a:off x="4724761" y="2960000"/>
            <a:ext cx="24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Abordagem qualitativa vs. quantitativa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781363" y="35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1301363" y="3560000"/>
            <a:ext cx="24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Tipos de decisões jurídicas apoiadas por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204761" y="35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4724761" y="3560000"/>
            <a:ext cx="24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Fundamentos de dados: população, amostra e variáveis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Objetivos de Aprendizagem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Ao final deste bloco, você será capaz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90000" y="178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1060000" y="175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Compreender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2571750" y="1750000"/>
            <a:ext cx="5323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que é Jurimetria, como ela nasceu e por que ganhou tração no Brasil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790000" y="230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1060000" y="227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Identificar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2281650" y="2270000"/>
            <a:ext cx="5433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que tipos de decisão jurídica podem ser apoiadas por dados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790000" y="282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1060000" y="279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Distinguir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2164025" y="2790000"/>
            <a:ext cx="55512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abordagens qualitativa e quantitativa e saber quando cada uma funciona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790000" y="334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1060000" y="331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Dominar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2046425" y="3310000"/>
            <a:ext cx="5668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os fundamentos de dados: população, amostra e tipos de variáveis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790000" y="386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1060000" y="383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Transformar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2454150" y="3830000"/>
            <a:ext cx="5394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uma dúvida jurídica vaga em uma pergunta jurimétrica bem formulada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Do Conceito ao Trabalho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Como este bloco se conecta ao que vocês vão apresentar na Aula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750000" y="1730000"/>
            <a:ext cx="5950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Cada conceito daqui volta, na Aula 6, aplicado a dados reais.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750000" y="2150000"/>
            <a:ext cx="2163600" cy="2000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920799" y="2300000"/>
            <a:ext cx="1821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HOJE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920799" y="2630000"/>
            <a:ext cx="182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Fundamentos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920799" y="3200000"/>
            <a:ext cx="18219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Conceitos, histórico e tipos de dados. Primeiro contato com a base do trabalho.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084250" y="2150000"/>
            <a:ext cx="2163600" cy="2000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3255048" y="2300000"/>
            <a:ext cx="1821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AULAS 2 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3255048" y="2630000"/>
            <a:ext cx="182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Método e aceleração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3255048" y="3200000"/>
            <a:ext cx="18219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Ciclo da ciência de dados em modo raiz e depois com IA generativa.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418499" y="2150000"/>
            <a:ext cx="2163600" cy="2000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5589298" y="2300000"/>
            <a:ext cx="1821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AULA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5589298" y="2630000"/>
            <a:ext cx="182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Apresentação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5589298" y="3200000"/>
            <a:ext cx="18219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Grupos aplicam o ciclo aos 16.110 julgados de locação e apresentam a análise.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 disciplina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Carga horária, metodologia, avaliação e cronologia de aprendizado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Panorama da Disciplina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Como vamos trabalhar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750000" y="1750000"/>
            <a:ext cx="28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24h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750000" y="2430000"/>
            <a:ext cx="2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de aula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50000" y="2700000"/>
            <a:ext cx="28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6 encontros de 4h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3750000" y="1750000"/>
            <a:ext cx="28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3750000" y="2430000"/>
            <a:ext cx="2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blocos por aula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3750000" y="2700000"/>
            <a:ext cx="28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~1h50 cada, com intervalo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50000" y="3000000"/>
            <a:ext cx="28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Excel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50000" y="3680000"/>
            <a:ext cx="2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 IA generativa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50000" y="3950000"/>
            <a:ext cx="28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sem exigir programação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3750000" y="3000000"/>
            <a:ext cx="28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16.110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3750000" y="3680000"/>
            <a:ext cx="2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julgados reais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3750000" y="3950000"/>
            <a:ext cx="28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base do trabalho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Metodologia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750000" y="1105719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Teórico-prática em dois blocos equilibrados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750000" y="1421151"/>
            <a:ext cx="5949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Cada aula tem dois blocos de 1h50 com intervalo de 15 minutos. O primeiro concentra fundamentos conceituais; o segundo aprofunda a aplicação prática com Excel e IA generativa.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750000" y="2392044"/>
            <a:ext cx="2850000" cy="189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900000" y="2532044"/>
            <a:ext cx="25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BLOCO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900000" y="2842050"/>
            <a:ext cx="2613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Fundamentos conceituais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900000" y="3366805"/>
            <a:ext cx="25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Exposição dialogada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Discussão de conceitos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Interação com a turma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3850000" y="2392044"/>
            <a:ext cx="2850000" cy="18999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4000000" y="2532044"/>
            <a:ext cx="25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BLOCO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4000000" y="2842044"/>
            <a:ext cx="255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Aplicação prática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4000000" y="3366805"/>
            <a:ext cx="25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Demonstrações em Excel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Uso de IA generativa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Exercícios e estudos de caso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Cronologia de Aprendizado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750000" y="1150576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 progressão pedagógica das 6 aulas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750000" y="1570576"/>
            <a:ext cx="5949900" cy="41010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830000" y="1650576"/>
            <a:ext cx="80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AULA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1700000" y="1650576"/>
            <a:ext cx="1500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FUNDAMENTO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3250000" y="1650576"/>
            <a:ext cx="338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Entender o que é Jurimetria e por que importa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750000" y="2010576"/>
            <a:ext cx="5949900" cy="41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830000" y="2090576"/>
            <a:ext cx="80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AULA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1700000" y="2090576"/>
            <a:ext cx="1500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MÉTODO –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3250000" y="2090576"/>
            <a:ext cx="338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Ciclo da ciência de dados: perguntar, mapear, coletar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750000" y="2450576"/>
            <a:ext cx="5949900" cy="410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830000" y="2530576"/>
            <a:ext cx="80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AULA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1700000" y="2530576"/>
            <a:ext cx="1500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MÉTODO –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3250000" y="2530576"/>
            <a:ext cx="338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Ciclo da ciência de dados: tratar, analisar, apresentar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750000" y="2890576"/>
            <a:ext cx="5949900" cy="41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830000" y="2970576"/>
            <a:ext cx="80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AULA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1700000" y="2970576"/>
            <a:ext cx="1500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MODELOS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3250000" y="2970576"/>
            <a:ext cx="338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Inferência e 4 modelos preditivos para decisão estratégica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750000" y="3330576"/>
            <a:ext cx="5949900" cy="410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830000" y="3410576"/>
            <a:ext cx="80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AULA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1700000" y="3410576"/>
            <a:ext cx="1500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ACELERAÇÃO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3250000" y="3410576"/>
            <a:ext cx="338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Revisitar o ciclo com IA generativa em todas as etapas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750000" y="3770576"/>
            <a:ext cx="5949900" cy="41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830000" y="3850576"/>
            <a:ext cx="80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AULA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1700000" y="3850576"/>
            <a:ext cx="1500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APRESENTAÇÃO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3250000" y="3850576"/>
            <a:ext cx="3380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Trabalho final sobre a base real de 16.110 julgados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750000" y="4380000"/>
            <a:ext cx="5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Estamos aqui, na Aula 1. A progressão é acumulativa: cada aula constrói sobre a anterior.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Sistema de Avaliação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750000" y="1173004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Dois instrumentos, 10 pontos no 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900000" y="1643004"/>
            <a:ext cx="2499900" cy="1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3,0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900000" y="2743004"/>
            <a:ext cx="2499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900000" y="3043004"/>
            <a:ext cx="249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Atividades Individuais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900000" y="3343004"/>
            <a:ext cx="24999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Instrumento 1: 4 atividades, média aritmética simples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10"/>
          <p:cNvCxnSpPr/>
          <p:nvPr/>
        </p:nvCxnSpPr>
        <p:spPr>
          <a:xfrm>
            <a:off x="3750000" y="1743004"/>
            <a:ext cx="0" cy="219990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0"/>
          <p:cNvSpPr txBox="1"/>
          <p:nvPr/>
        </p:nvSpPr>
        <p:spPr>
          <a:xfrm>
            <a:off x="4050000" y="1643004"/>
            <a:ext cx="2499900" cy="1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7,0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4050000" y="2743004"/>
            <a:ext cx="2499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4050000" y="3043004"/>
            <a:ext cx="249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Trabalho em 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4050000" y="3343004"/>
            <a:ext cx="24999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Instrumento 2: apresentação oral em grupos de até 6, na Aula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750000" y="4350000"/>
            <a:ext cx="5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Total: 10,0 pontos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Como Funcionam os Instrumentos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750000" y="1100000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Detalhamento da avaliação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71500" y="1500000"/>
            <a:ext cx="3522000" cy="279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753666" y="1650000"/>
            <a:ext cx="3157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INSTRUMENTO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753666" y="1970000"/>
            <a:ext cx="31575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Atividades em sala (3,0 pts)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753666" y="2500000"/>
            <a:ext cx="3157500" cy="17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Ao final das Aulas 1 a 4, uma atividade com 2 a 3 perguntas objetivas.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Cenário: caso fictício X, Y &amp; Associados.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Entrega até a aula seguinte; correção comentada em sala.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Nota final = média aritmética das 4 entregas.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275549" y="1500000"/>
            <a:ext cx="3522000" cy="27999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4457716" y="1650000"/>
            <a:ext cx="3157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INSTRUMENTO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4457716" y="1970000"/>
            <a:ext cx="31575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Trabalho em grupo (7,0 pts)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4457716" y="2500000"/>
            <a:ext cx="3157500" cy="17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Grupos de até 6 participantes.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Base real: 16.110 julgados TJSP, locação PJ, 2010 a 2024.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Apresentação oral na Aula 6: 20 min + 10 min de perguntas.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Escopo: análise descritiva exploratória (sem modelos preditivos).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O caso X, Y &amp; Associados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 fio condutor das atividades em sala e o cliente do trabalho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Perfil do Escritório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3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X, Y &amp; Associados (XY&amp;A)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750000" y="1750000"/>
            <a:ext cx="6621000" cy="380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3"/>
          <p:cNvSpPr txBox="1"/>
          <p:nvPr/>
        </p:nvSpPr>
        <p:spPr>
          <a:xfrm>
            <a:off x="850000" y="1810000"/>
            <a:ext cx="1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Porte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 txBox="1"/>
          <p:nvPr/>
        </p:nvSpPr>
        <p:spPr>
          <a:xfrm>
            <a:off x="2350442" y="1810000"/>
            <a:ext cx="5020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Médio, 40 advogados, sede em São Paulo/SP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750000" y="2150000"/>
            <a:ext cx="6621000" cy="38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3"/>
          <p:cNvSpPr txBox="1"/>
          <p:nvPr/>
        </p:nvSpPr>
        <p:spPr>
          <a:xfrm>
            <a:off x="850000" y="2210000"/>
            <a:ext cx="1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Atuação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3"/>
          <p:cNvSpPr txBox="1"/>
          <p:nvPr/>
        </p:nvSpPr>
        <p:spPr>
          <a:xfrm>
            <a:off x="2350442" y="2210000"/>
            <a:ext cx="5020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Contencioso imobiliário, com foco em locação comercial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750000" y="2550000"/>
            <a:ext cx="6621000" cy="380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3"/>
          <p:cNvSpPr txBox="1"/>
          <p:nvPr/>
        </p:nvSpPr>
        <p:spPr>
          <a:xfrm>
            <a:off x="850000" y="2610000"/>
            <a:ext cx="1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Especialidade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"/>
          <p:cNvSpPr txBox="1"/>
          <p:nvPr/>
        </p:nvSpPr>
        <p:spPr>
          <a:xfrm>
            <a:off x="2350442" y="2610000"/>
            <a:ext cx="5020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Revisão e renovatória de aluguel para pessoa jurídica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750000" y="2950000"/>
            <a:ext cx="7043700" cy="38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3"/>
          <p:cNvSpPr txBox="1"/>
          <p:nvPr/>
        </p:nvSpPr>
        <p:spPr>
          <a:xfrm>
            <a:off x="850000" y="3010000"/>
            <a:ext cx="1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Carteira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>
            <a:off x="2350450" y="3010000"/>
            <a:ext cx="5020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16.110 julgados no TJSP no período de 2010 a 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750000" y="3350000"/>
            <a:ext cx="6621000" cy="380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3"/>
          <p:cNvSpPr txBox="1"/>
          <p:nvPr/>
        </p:nvSpPr>
        <p:spPr>
          <a:xfrm>
            <a:off x="850000" y="3410000"/>
            <a:ext cx="1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Gestão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3"/>
          <p:cNvSpPr txBox="1"/>
          <p:nvPr/>
        </p:nvSpPr>
        <p:spPr>
          <a:xfrm>
            <a:off x="2350442" y="3410000"/>
            <a:ext cx="5020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Planilhas e e-mail; sem sistema, sem KPIs, sem controle automatizado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750000" y="3750000"/>
            <a:ext cx="7043700" cy="38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3"/>
          <p:cNvSpPr txBox="1"/>
          <p:nvPr/>
        </p:nvSpPr>
        <p:spPr>
          <a:xfrm>
            <a:off x="850000" y="3810000"/>
            <a:ext cx="1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Pressão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3"/>
          <p:cNvSpPr txBox="1"/>
          <p:nvPr/>
        </p:nvSpPr>
        <p:spPr>
          <a:xfrm>
            <a:off x="2350450" y="3810000"/>
            <a:ext cx="5020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Clientes corporativos exigem relatórios, previsibilidade e eficiência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3"/>
          <p:cNvSpPr txBox="1"/>
          <p:nvPr/>
        </p:nvSpPr>
        <p:spPr>
          <a:xfrm>
            <a:off x="750000" y="4250000"/>
            <a:ext cx="5949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Caso fictício construído para a disciplina. A carteira, porém, é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Panorama Financeiro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Os números que o sócio-gestor precisa explicar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750000" y="1632390"/>
            <a:ext cx="2850000" cy="120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4"/>
          <p:cNvSpPr txBox="1"/>
          <p:nvPr/>
        </p:nvSpPr>
        <p:spPr>
          <a:xfrm>
            <a:off x="900000" y="1752390"/>
            <a:ext cx="2550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R$ 18 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4"/>
          <p:cNvSpPr txBox="1"/>
          <p:nvPr/>
        </p:nvSpPr>
        <p:spPr>
          <a:xfrm>
            <a:off x="900000" y="2272390"/>
            <a:ext cx="25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faturamento anual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900000" y="2552390"/>
            <a:ext cx="255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queda de 12% em 2 anos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3750000" y="1632390"/>
            <a:ext cx="2850000" cy="120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4"/>
          <p:cNvSpPr txBox="1"/>
          <p:nvPr/>
        </p:nvSpPr>
        <p:spPr>
          <a:xfrm>
            <a:off x="3900000" y="1752390"/>
            <a:ext cx="2550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R$ 2,8 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4"/>
          <p:cNvSpPr txBox="1"/>
          <p:nvPr/>
        </p:nvSpPr>
        <p:spPr>
          <a:xfrm>
            <a:off x="3900000" y="2272390"/>
            <a:ext cx="25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custo com correspondentes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4"/>
          <p:cNvSpPr txBox="1"/>
          <p:nvPr/>
        </p:nvSpPr>
        <p:spPr>
          <a:xfrm>
            <a:off x="3900000" y="2552390"/>
            <a:ext cx="255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sem controle de qualidade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750000" y="2982390"/>
            <a:ext cx="2850000" cy="120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4"/>
          <p:cNvSpPr txBox="1"/>
          <p:nvPr/>
        </p:nvSpPr>
        <p:spPr>
          <a:xfrm>
            <a:off x="900000" y="3102390"/>
            <a:ext cx="2550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R$ 45 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4"/>
          <p:cNvSpPr txBox="1"/>
          <p:nvPr/>
        </p:nvSpPr>
        <p:spPr>
          <a:xfrm>
            <a:off x="900000" y="3622389"/>
            <a:ext cx="25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provisões judiciais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4"/>
          <p:cNvSpPr txBox="1"/>
          <p:nvPr/>
        </p:nvSpPr>
        <p:spPr>
          <a:xfrm>
            <a:off x="900000" y="3902390"/>
            <a:ext cx="255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baseadas em intuição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3750000" y="2982390"/>
            <a:ext cx="2850000" cy="120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4"/>
          <p:cNvSpPr txBox="1"/>
          <p:nvPr/>
        </p:nvSpPr>
        <p:spPr>
          <a:xfrm>
            <a:off x="3900000" y="3102390"/>
            <a:ext cx="2550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3900000" y="3622389"/>
            <a:ext cx="25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taxa de êxito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4"/>
          <p:cNvSpPr txBox="1"/>
          <p:nvPr/>
        </p:nvSpPr>
        <p:spPr>
          <a:xfrm>
            <a:off x="3900000" y="3902390"/>
            <a:ext cx="255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desconhecida pelo escritório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4"/>
          <p:cNvSpPr txBox="1"/>
          <p:nvPr/>
        </p:nvSpPr>
        <p:spPr>
          <a:xfrm>
            <a:off x="750000" y="4340000"/>
            <a:ext cx="5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Quatro perguntas em aberto que viraram oportunidade para a Jurimetria.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Carteira de Processos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5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 distribuição por tipo de 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750000" y="1750000"/>
            <a:ext cx="5950000" cy="4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5"/>
          <p:cNvSpPr txBox="1"/>
          <p:nvPr/>
        </p:nvSpPr>
        <p:spPr>
          <a:xfrm>
            <a:off x="900000" y="1790000"/>
            <a:ext cx="34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Tipo de 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5"/>
          <p:cNvSpPr txBox="1"/>
          <p:nvPr/>
        </p:nvSpPr>
        <p:spPr>
          <a:xfrm>
            <a:off x="4350000" y="1790000"/>
            <a:ext cx="11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Julgados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5"/>
          <p:cNvSpPr txBox="1"/>
          <p:nvPr/>
        </p:nvSpPr>
        <p:spPr>
          <a:xfrm>
            <a:off x="5500000" y="1790000"/>
            <a:ext cx="11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% do 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750000" y="2150000"/>
            <a:ext cx="5950000" cy="4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750000" y="2150000"/>
            <a:ext cx="4800000" cy="46000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5"/>
          <p:cNvSpPr txBox="1"/>
          <p:nvPr/>
        </p:nvSpPr>
        <p:spPr>
          <a:xfrm>
            <a:off x="900000" y="2210000"/>
            <a:ext cx="34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Renovatória de locação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5"/>
          <p:cNvSpPr txBox="1"/>
          <p:nvPr/>
        </p:nvSpPr>
        <p:spPr>
          <a:xfrm>
            <a:off x="4350000" y="2210000"/>
            <a:ext cx="11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13.201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5"/>
          <p:cNvSpPr txBox="1"/>
          <p:nvPr/>
        </p:nvSpPr>
        <p:spPr>
          <a:xfrm>
            <a:off x="5500000" y="2210000"/>
            <a:ext cx="11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82%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750000" y="2610000"/>
            <a:ext cx="5950000" cy="4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750000" y="2610000"/>
            <a:ext cx="1050000" cy="46000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5"/>
          <p:cNvSpPr txBox="1"/>
          <p:nvPr/>
        </p:nvSpPr>
        <p:spPr>
          <a:xfrm>
            <a:off x="900000" y="2670000"/>
            <a:ext cx="34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Revisão de aluguel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5"/>
          <p:cNvSpPr txBox="1"/>
          <p:nvPr/>
        </p:nvSpPr>
        <p:spPr>
          <a:xfrm>
            <a:off x="4350000" y="2670000"/>
            <a:ext cx="11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2.909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5"/>
          <p:cNvSpPr txBox="1"/>
          <p:nvPr/>
        </p:nvSpPr>
        <p:spPr>
          <a:xfrm>
            <a:off x="5500000" y="2670000"/>
            <a:ext cx="11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18%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750000" y="3070000"/>
            <a:ext cx="5950000" cy="4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900000" y="3140000"/>
            <a:ext cx="34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5"/>
          <p:cNvSpPr txBox="1"/>
          <p:nvPr/>
        </p:nvSpPr>
        <p:spPr>
          <a:xfrm>
            <a:off x="4350000" y="3140000"/>
            <a:ext cx="11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16.110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5500000" y="3140000"/>
            <a:ext cx="11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750000" y="425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renovatória domina quase 5 de cada 6 processos. Esse desequilíbrio vai reaparecer em toda análise que o escritório fizer.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Os Desafios Reais do XY&amp;A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Pontos de dor que a Jurimetria pode endereçar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750000" y="1750000"/>
            <a:ext cx="2850000" cy="11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870000" y="1850000"/>
            <a:ext cx="500000" cy="50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1470000" y="1870000"/>
            <a:ext cx="2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Provisões no escuro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900000" y="2400000"/>
            <a:ext cx="255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R$ 45 mi provisionados por intuição, sem estatística.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3750000" y="1750000"/>
            <a:ext cx="2850000" cy="11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3870000" y="1850000"/>
            <a:ext cx="500000" cy="50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6"/>
          <p:cNvSpPr txBox="1"/>
          <p:nvPr/>
        </p:nvSpPr>
        <p:spPr>
          <a:xfrm>
            <a:off x="4470000" y="1870000"/>
            <a:ext cx="2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Correspondentes sem métrica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6"/>
          <p:cNvSpPr txBox="1"/>
          <p:nvPr/>
        </p:nvSpPr>
        <p:spPr>
          <a:xfrm>
            <a:off x="3900000" y="2400000"/>
            <a:ext cx="255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R$ 2,8 mi/ano gastos sem medir performance.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750000" y="3070000"/>
            <a:ext cx="2850000" cy="11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870000" y="3170000"/>
            <a:ext cx="500000" cy="50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6"/>
          <p:cNvSpPr txBox="1"/>
          <p:nvPr/>
        </p:nvSpPr>
        <p:spPr>
          <a:xfrm>
            <a:off x="1470000" y="3190000"/>
            <a:ext cx="2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Clientes exigentes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6"/>
          <p:cNvSpPr txBox="1"/>
          <p:nvPr/>
        </p:nvSpPr>
        <p:spPr>
          <a:xfrm>
            <a:off x="900000" y="3720000"/>
            <a:ext cx="255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Redes de varejo pedem relatórios e previsibilidade.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3750000" y="3070000"/>
            <a:ext cx="2850000" cy="11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3870000" y="3170000"/>
            <a:ext cx="500000" cy="50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6"/>
          <p:cNvSpPr txBox="1"/>
          <p:nvPr/>
        </p:nvSpPr>
        <p:spPr>
          <a:xfrm>
            <a:off x="4470000" y="3190000"/>
            <a:ext cx="2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Sem taxa de êxito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6"/>
          <p:cNvSpPr txBox="1"/>
          <p:nvPr/>
        </p:nvSpPr>
        <p:spPr>
          <a:xfrm>
            <a:off x="3900000" y="3720000"/>
            <a:ext cx="255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Não se mede resultado por vara, juiz ou perfil do caso.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7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 base do trabalho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7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16.110 julgados de revisão e renovatória de locação do TJSP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"/>
          <p:cNvSpPr txBox="1"/>
          <p:nvPr/>
        </p:nvSpPr>
        <p:spPr>
          <a:xfrm>
            <a:off x="750000" y="500000"/>
            <a:ext cx="5949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 </a:t>
            </a:r>
            <a:r>
              <a:rPr b="1" i="0" lang="en-US" sz="2400" u="sng" cap="none" strike="noStrike">
                <a:solidFill>
                  <a:schemeClr val="hlink"/>
                </a:solidFill>
                <a:latin typeface="Arial Black"/>
                <a:ea typeface="Arial Black"/>
                <a:cs typeface="Arial Black"/>
                <a:sym typeface="Arial Black"/>
                <a:hlinkClick r:id="rId4"/>
              </a:rPr>
              <a:t>Base</a:t>
            </a: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 do Trabalho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8"/>
          <p:cNvSpPr txBox="1"/>
          <p:nvPr/>
        </p:nvSpPr>
        <p:spPr>
          <a:xfrm>
            <a:off x="750000" y="1160000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Volume, tribunal, matéria e período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8"/>
          <p:cNvSpPr txBox="1"/>
          <p:nvPr/>
        </p:nvSpPr>
        <p:spPr>
          <a:xfrm>
            <a:off x="750000" y="1900000"/>
            <a:ext cx="3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16.110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8"/>
          <p:cNvSpPr txBox="1"/>
          <p:nvPr/>
        </p:nvSpPr>
        <p:spPr>
          <a:xfrm>
            <a:off x="750000" y="2950000"/>
            <a:ext cx="3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julgados de locação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8"/>
          <p:cNvSpPr txBox="1"/>
          <p:nvPr/>
        </p:nvSpPr>
        <p:spPr>
          <a:xfrm>
            <a:off x="4100000" y="1900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Tribunal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8"/>
          <p:cNvSpPr txBox="1"/>
          <p:nvPr/>
        </p:nvSpPr>
        <p:spPr>
          <a:xfrm>
            <a:off x="5150000" y="1900000"/>
            <a:ext cx="2337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TJSP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8"/>
          <p:cNvSpPr txBox="1"/>
          <p:nvPr/>
        </p:nvSpPr>
        <p:spPr>
          <a:xfrm>
            <a:off x="4100000" y="2240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Matéria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8"/>
          <p:cNvSpPr txBox="1"/>
          <p:nvPr/>
        </p:nvSpPr>
        <p:spPr>
          <a:xfrm>
            <a:off x="5150000" y="2240000"/>
            <a:ext cx="2337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Revisão e renovatória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8"/>
          <p:cNvSpPr txBox="1"/>
          <p:nvPr/>
        </p:nvSpPr>
        <p:spPr>
          <a:xfrm>
            <a:off x="4100000" y="2580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Período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8"/>
          <p:cNvSpPr txBox="1"/>
          <p:nvPr/>
        </p:nvSpPr>
        <p:spPr>
          <a:xfrm>
            <a:off x="5150000" y="2580000"/>
            <a:ext cx="2337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2010 a 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8"/>
          <p:cNvSpPr txBox="1"/>
          <p:nvPr/>
        </p:nvSpPr>
        <p:spPr>
          <a:xfrm>
            <a:off x="4100000" y="2920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Parte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8"/>
          <p:cNvSpPr txBox="1"/>
          <p:nvPr/>
        </p:nvSpPr>
        <p:spPr>
          <a:xfrm>
            <a:off x="5150000" y="2920000"/>
            <a:ext cx="2337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Pessoa jurídica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8"/>
          <p:cNvSpPr txBox="1"/>
          <p:nvPr/>
        </p:nvSpPr>
        <p:spPr>
          <a:xfrm>
            <a:off x="4100000" y="3260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Natureza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8"/>
          <p:cNvSpPr txBox="1"/>
          <p:nvPr/>
        </p:nvSpPr>
        <p:spPr>
          <a:xfrm>
            <a:off x="5150000" y="3260000"/>
            <a:ext cx="2337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População, não amostra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750000" y="3850000"/>
            <a:ext cx="5950000" cy="6000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8"/>
          <p:cNvSpPr txBox="1"/>
          <p:nvPr/>
        </p:nvSpPr>
        <p:spPr>
          <a:xfrm>
            <a:off x="900000" y="3900000"/>
            <a:ext cx="565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Como a base cobre todos os julgados do recorte, ela funciona como população completa para fins do exercício. Não há inferência amostral envolvida.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9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O Que a Base Permite Investigar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750000" y="1173186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Exemplos de linhas exploratórias para o trabalho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9"/>
          <p:cNvSpPr/>
          <p:nvPr/>
        </p:nvSpPr>
        <p:spPr>
          <a:xfrm>
            <a:off x="750000" y="1653175"/>
            <a:ext cx="267900" cy="21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9"/>
          <p:cNvSpPr txBox="1"/>
          <p:nvPr/>
        </p:nvSpPr>
        <p:spPr>
          <a:xfrm>
            <a:off x="1127917" y="1593175"/>
            <a:ext cx="30477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Evolução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9"/>
          <p:cNvSpPr txBox="1"/>
          <p:nvPr/>
        </p:nvSpPr>
        <p:spPr>
          <a:xfrm>
            <a:off x="1127917" y="1963175"/>
            <a:ext cx="30477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volume de ações ao longo dos anos e sazonalidade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4285641" y="1633075"/>
            <a:ext cx="267900" cy="21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9"/>
          <p:cNvSpPr txBox="1"/>
          <p:nvPr/>
        </p:nvSpPr>
        <p:spPr>
          <a:xfrm>
            <a:off x="4663559" y="1573075"/>
            <a:ext cx="30477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Geografia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9"/>
          <p:cNvSpPr txBox="1"/>
          <p:nvPr/>
        </p:nvSpPr>
        <p:spPr>
          <a:xfrm>
            <a:off x="4663559" y="1943075"/>
            <a:ext cx="30477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distribuição por comarca, vara e regiões de São Paulo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750000" y="2553175"/>
            <a:ext cx="267900" cy="21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9"/>
          <p:cNvSpPr txBox="1"/>
          <p:nvPr/>
        </p:nvSpPr>
        <p:spPr>
          <a:xfrm>
            <a:off x="1127917" y="2493175"/>
            <a:ext cx="30477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Tempo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9"/>
          <p:cNvSpPr txBox="1"/>
          <p:nvPr/>
        </p:nvSpPr>
        <p:spPr>
          <a:xfrm>
            <a:off x="1127917" y="2863175"/>
            <a:ext cx="30477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tramitação de revisão vs. renovatória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4285641" y="2533075"/>
            <a:ext cx="267900" cy="21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9"/>
          <p:cNvSpPr txBox="1"/>
          <p:nvPr/>
        </p:nvSpPr>
        <p:spPr>
          <a:xfrm>
            <a:off x="4663559" y="2473075"/>
            <a:ext cx="30477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9"/>
          <p:cNvSpPr txBox="1"/>
          <p:nvPr/>
        </p:nvSpPr>
        <p:spPr>
          <a:xfrm>
            <a:off x="4663559" y="2843075"/>
            <a:ext cx="30477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distribuição do valor da causa por ano e tipo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750000" y="3373163"/>
            <a:ext cx="267900" cy="21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9"/>
          <p:cNvSpPr txBox="1"/>
          <p:nvPr/>
        </p:nvSpPr>
        <p:spPr>
          <a:xfrm>
            <a:off x="1127917" y="3313163"/>
            <a:ext cx="30477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Desfecho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9"/>
          <p:cNvSpPr txBox="1"/>
          <p:nvPr/>
        </p:nvSpPr>
        <p:spPr>
          <a:xfrm>
            <a:off x="1127917" y="3683163"/>
            <a:ext cx="30477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padrões de procedência, improcedência e acordo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4285641" y="3353063"/>
            <a:ext cx="267900" cy="2199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9"/>
          <p:cNvSpPr txBox="1"/>
          <p:nvPr/>
        </p:nvSpPr>
        <p:spPr>
          <a:xfrm>
            <a:off x="4663559" y="3293063"/>
            <a:ext cx="30477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Varas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9"/>
          <p:cNvSpPr txBox="1"/>
          <p:nvPr/>
        </p:nvSpPr>
        <p:spPr>
          <a:xfrm>
            <a:off x="4663559" y="3663063"/>
            <a:ext cx="30477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concentração de resultados por juízo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9"/>
          <p:cNvSpPr txBox="1"/>
          <p:nvPr/>
        </p:nvSpPr>
        <p:spPr>
          <a:xfrm>
            <a:off x="750000" y="4350000"/>
            <a:ext cx="5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Cabe ao grupo escolher o recorte e definir as questões norteadoras do trabalho.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0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0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O que é Jurimetria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0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Conceito, histórico e a Associação Brasileira de Jurimetria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1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O que é Jurimetria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750000" y="1150000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Uma definição operacional para o operador do Direito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750050" y="1550000"/>
            <a:ext cx="6439800" cy="12000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912403" y="1570100"/>
            <a:ext cx="61152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Jurimetria é o campo que aplica </a:t>
            </a:r>
            <a:r>
              <a:rPr b="1" i="0" lang="en-US" sz="16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ciência de dados ao Direito</a:t>
            </a: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com o objetivo de tornar decisões jurídicas mais informadas, previsíveis e auditáveis.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1"/>
          <p:cNvSpPr/>
          <p:nvPr/>
        </p:nvSpPr>
        <p:spPr>
          <a:xfrm>
            <a:off x="1500000" y="3000000"/>
            <a:ext cx="400000" cy="40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1450000" y="309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750000" y="3480000"/>
            <a:ext cx="1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Empírica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750000" y="3830000"/>
            <a:ext cx="19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Parte de dados, não de opiniões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1"/>
          <p:cNvSpPr/>
          <p:nvPr/>
        </p:nvSpPr>
        <p:spPr>
          <a:xfrm>
            <a:off x="3550000" y="3000000"/>
            <a:ext cx="400000" cy="40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1"/>
          <p:cNvSpPr txBox="1"/>
          <p:nvPr/>
        </p:nvSpPr>
        <p:spPr>
          <a:xfrm>
            <a:off x="3500000" y="309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2800000" y="3480000"/>
            <a:ext cx="1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Quantitativa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1"/>
          <p:cNvSpPr txBox="1"/>
          <p:nvPr/>
        </p:nvSpPr>
        <p:spPr>
          <a:xfrm>
            <a:off x="2800000" y="3830000"/>
            <a:ext cx="19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Mede, compara e estima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5600000" y="3000000"/>
            <a:ext cx="400000" cy="40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1"/>
          <p:cNvSpPr txBox="1"/>
          <p:nvPr/>
        </p:nvSpPr>
        <p:spPr>
          <a:xfrm>
            <a:off x="5550000" y="309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1"/>
          <p:cNvSpPr txBox="1"/>
          <p:nvPr/>
        </p:nvSpPr>
        <p:spPr>
          <a:xfrm>
            <a:off x="4850000" y="3480000"/>
            <a:ext cx="1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Aplicada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1"/>
          <p:cNvSpPr txBox="1"/>
          <p:nvPr/>
        </p:nvSpPr>
        <p:spPr>
          <a:xfrm>
            <a:off x="4850000" y="3830000"/>
            <a:ext cx="19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Serve à decisão estratégica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1"/>
          <p:cNvSpPr txBox="1"/>
          <p:nvPr/>
        </p:nvSpPr>
        <p:spPr>
          <a:xfrm>
            <a:off x="750000" y="4400000"/>
            <a:ext cx="595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Nunes (2019); Zabala e Silveira (2014).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d94641431f_0_79"/>
          <p:cNvSpPr/>
          <p:nvPr/>
        </p:nvSpPr>
        <p:spPr>
          <a:xfrm>
            <a:off x="750001" y="402300"/>
            <a:ext cx="7216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Diagrama de Venn: Onde Nasce a Jurimetria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7" name="Google Shape;407;g3d94641431f_0_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010" y="998015"/>
            <a:ext cx="475488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g3d94641431f_0_79"/>
          <p:cNvSpPr/>
          <p:nvPr/>
        </p:nvSpPr>
        <p:spPr>
          <a:xfrm>
            <a:off x="5308150" y="1143000"/>
            <a:ext cx="2380200" cy="3383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g3d94641431f_0_79"/>
          <p:cNvSpPr/>
          <p:nvPr/>
        </p:nvSpPr>
        <p:spPr>
          <a:xfrm>
            <a:off x="5308150" y="1143000"/>
            <a:ext cx="23802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d94641431f_0_79"/>
          <p:cNvSpPr/>
          <p:nvPr/>
        </p:nvSpPr>
        <p:spPr>
          <a:xfrm>
            <a:off x="5411646" y="1325880"/>
            <a:ext cx="2173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 interseção 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3 campos é 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Jurimetria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d94641431f_0_79"/>
          <p:cNvSpPr/>
          <p:nvPr/>
        </p:nvSpPr>
        <p:spPr>
          <a:xfrm>
            <a:off x="5463395" y="2194550"/>
            <a:ext cx="2225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Direito × Estatística = Estatística Jurídica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d94641431f_0_79"/>
          <p:cNvSpPr/>
          <p:nvPr/>
        </p:nvSpPr>
        <p:spPr>
          <a:xfrm>
            <a:off x="5463395" y="2697475"/>
            <a:ext cx="2225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Direito × Computação = Direito Computacional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d94641431f_0_79"/>
          <p:cNvSpPr/>
          <p:nvPr/>
        </p:nvSpPr>
        <p:spPr>
          <a:xfrm>
            <a:off x="5463395" y="3200400"/>
            <a:ext cx="217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Estatística × Computação = Ciência de Dados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d94641431f_0_79"/>
          <p:cNvSpPr/>
          <p:nvPr/>
        </p:nvSpPr>
        <p:spPr>
          <a:xfrm>
            <a:off x="5463395" y="3703320"/>
            <a:ext cx="207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 3 juntas = JURIMETRIA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d94641431f_0_79"/>
          <p:cNvSpPr/>
          <p:nvPr/>
        </p:nvSpPr>
        <p:spPr>
          <a:xfrm>
            <a:off x="556260" y="433578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Fonte: ABJ (abj.org.br)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d94641431f_0_79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2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Histórico da Jurimetria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Da teoria ao movimento brasileiro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1100000" y="2600000"/>
            <a:ext cx="5949900" cy="20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1100000" y="2480000"/>
            <a:ext cx="260100" cy="260100"/>
          </a:xfrm>
          <a:prstGeom prst="ellipse">
            <a:avLst/>
          </a:prstGeom>
          <a:solidFill>
            <a:srgbClr val="E8A317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2"/>
          <p:cNvSpPr txBox="1"/>
          <p:nvPr/>
        </p:nvSpPr>
        <p:spPr>
          <a:xfrm>
            <a:off x="750000" y="1800000"/>
            <a:ext cx="99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1949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2"/>
          <p:cNvSpPr txBox="1"/>
          <p:nvPr/>
        </p:nvSpPr>
        <p:spPr>
          <a:xfrm>
            <a:off x="873325" y="2820275"/>
            <a:ext cx="9270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Lee Loevinger cunha o termo jurimetrics nos EUA.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3013333" y="2480000"/>
            <a:ext cx="260100" cy="260100"/>
          </a:xfrm>
          <a:prstGeom prst="ellipse">
            <a:avLst/>
          </a:prstGeom>
          <a:solidFill>
            <a:srgbClr val="E8A317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2"/>
          <p:cNvSpPr txBox="1"/>
          <p:nvPr/>
        </p:nvSpPr>
        <p:spPr>
          <a:xfrm>
            <a:off x="2633333" y="1800000"/>
            <a:ext cx="99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1963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2"/>
          <p:cNvSpPr txBox="1"/>
          <p:nvPr/>
        </p:nvSpPr>
        <p:spPr>
          <a:xfrm>
            <a:off x="2483333" y="2900000"/>
            <a:ext cx="12999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Hans Baade edita o primeiro volume dedicado ao tema.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4896666" y="2480000"/>
            <a:ext cx="260100" cy="260100"/>
          </a:xfrm>
          <a:prstGeom prst="ellipse">
            <a:avLst/>
          </a:prstGeom>
          <a:solidFill>
            <a:srgbClr val="E8A317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2"/>
          <p:cNvSpPr txBox="1"/>
          <p:nvPr/>
        </p:nvSpPr>
        <p:spPr>
          <a:xfrm>
            <a:off x="4516666" y="1800000"/>
            <a:ext cx="99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1971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2"/>
          <p:cNvSpPr txBox="1"/>
          <p:nvPr/>
        </p:nvSpPr>
        <p:spPr>
          <a:xfrm>
            <a:off x="4366666" y="2900000"/>
            <a:ext cx="12999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Primeira edição do Jurimetrics Journal, da ABA.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6779999" y="2480000"/>
            <a:ext cx="260100" cy="260100"/>
          </a:xfrm>
          <a:prstGeom prst="ellipse">
            <a:avLst/>
          </a:prstGeom>
          <a:solidFill>
            <a:srgbClr val="E8A317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2"/>
          <p:cNvSpPr txBox="1"/>
          <p:nvPr/>
        </p:nvSpPr>
        <p:spPr>
          <a:xfrm>
            <a:off x="6399999" y="1800000"/>
            <a:ext cx="99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2011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2"/>
          <p:cNvSpPr txBox="1"/>
          <p:nvPr/>
        </p:nvSpPr>
        <p:spPr>
          <a:xfrm>
            <a:off x="6249999" y="2900000"/>
            <a:ext cx="12999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Fundação da ABJ, marco da Jurimetria no Brasil.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2"/>
          <p:cNvSpPr txBox="1"/>
          <p:nvPr/>
        </p:nvSpPr>
        <p:spPr>
          <a:xfrm>
            <a:off x="750000" y="4400000"/>
            <a:ext cx="595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Nunes (2019).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3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 ABJ: a Jurimetria no Brasil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3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Associação Brasileira de Jurimetria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3"/>
          <p:cNvSpPr/>
          <p:nvPr/>
        </p:nvSpPr>
        <p:spPr>
          <a:xfrm>
            <a:off x="750000" y="1667875"/>
            <a:ext cx="3011100" cy="2482200"/>
          </a:xfrm>
          <a:prstGeom prst="roundRect">
            <a:avLst>
              <a:gd fmla="val 16667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3"/>
          <p:cNvSpPr txBox="1"/>
          <p:nvPr/>
        </p:nvSpPr>
        <p:spPr>
          <a:xfrm>
            <a:off x="865807" y="1650000"/>
            <a:ext cx="27795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ABJ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3"/>
          <p:cNvSpPr txBox="1"/>
          <p:nvPr/>
        </p:nvSpPr>
        <p:spPr>
          <a:xfrm>
            <a:off x="865807" y="2473522"/>
            <a:ext cx="27795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Fundada em 2011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3"/>
          <p:cNvSpPr txBox="1"/>
          <p:nvPr/>
        </p:nvSpPr>
        <p:spPr>
          <a:xfrm>
            <a:off x="865807" y="2800000"/>
            <a:ext cx="27795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Principal entidade brasileira de pesquisa e aplicação da Jurimetria. Produz estudos, cursos e relatórios.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3"/>
          <p:cNvSpPr txBox="1"/>
          <p:nvPr/>
        </p:nvSpPr>
        <p:spPr>
          <a:xfrm>
            <a:off x="3934685" y="1750000"/>
            <a:ext cx="3705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Contribuições principais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3"/>
          <p:cNvSpPr txBox="1"/>
          <p:nvPr/>
        </p:nvSpPr>
        <p:spPr>
          <a:xfrm>
            <a:off x="3934685" y="2094088"/>
            <a:ext cx="3705900" cy="18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Relatórios sobre tempo de duração de processos no Brasil.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Estudos sobre execução fiscal, falências e varas cíveis.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Parcerias com tribunais, CNJ e faculdades de Direito.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3"/>
          <p:cNvSpPr txBox="1"/>
          <p:nvPr/>
        </p:nvSpPr>
        <p:spPr>
          <a:xfrm>
            <a:off x="750000" y="4400000"/>
            <a:ext cx="595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ABJ, abj.org.br; Nunes (2019).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94641431f_0_96"/>
          <p:cNvSpPr/>
          <p:nvPr/>
        </p:nvSpPr>
        <p:spPr>
          <a:xfrm>
            <a:off x="749990" y="457190"/>
            <a:ext cx="6858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Jurimetria não é produto, é ciência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d94641431f_0_96"/>
          <p:cNvSpPr/>
          <p:nvPr/>
        </p:nvSpPr>
        <p:spPr>
          <a:xfrm>
            <a:off x="563865" y="1165840"/>
            <a:ext cx="3200400" cy="32004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d94641431f_0_96"/>
          <p:cNvSpPr/>
          <p:nvPr/>
        </p:nvSpPr>
        <p:spPr>
          <a:xfrm>
            <a:off x="563865" y="1165840"/>
            <a:ext cx="3200400" cy="549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0" name="Google Shape;460;g3d94641431f_0_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585" y="134872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g3d94641431f_0_96"/>
          <p:cNvSpPr/>
          <p:nvPr/>
        </p:nvSpPr>
        <p:spPr>
          <a:xfrm>
            <a:off x="655305" y="1988800"/>
            <a:ext cx="3017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67E22"/>
                </a:solidFill>
                <a:latin typeface="Arial Black"/>
                <a:ea typeface="Arial Black"/>
                <a:cs typeface="Arial Black"/>
                <a:sym typeface="Arial Black"/>
              </a:rPr>
              <a:t>CUIDADO COM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67E22"/>
                </a:solidFill>
                <a:latin typeface="Arial Black"/>
                <a:ea typeface="Arial Black"/>
                <a:cs typeface="Arial Black"/>
                <a:sym typeface="Arial Black"/>
              </a:rPr>
              <a:t>A EXPECTATIVA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d94641431f_0_96"/>
          <p:cNvSpPr/>
          <p:nvPr/>
        </p:nvSpPr>
        <p:spPr>
          <a:xfrm>
            <a:off x="792465" y="262888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Cada caso é um caso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d94641431f_0_96"/>
          <p:cNvSpPr/>
          <p:nvPr/>
        </p:nvSpPr>
        <p:spPr>
          <a:xfrm>
            <a:off x="792465" y="304036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Modelo trabalhista ≠ tributário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d94641431f_0_96"/>
          <p:cNvSpPr/>
          <p:nvPr/>
        </p:nvSpPr>
        <p:spPr>
          <a:xfrm>
            <a:off x="792465" y="345184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Análises exigem customização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d94641431f_0_96"/>
          <p:cNvSpPr/>
          <p:nvPr/>
        </p:nvSpPr>
        <p:spPr>
          <a:xfrm>
            <a:off x="792465" y="386332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Sem "solução mágica de prateleira"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d94641431f_0_96"/>
          <p:cNvSpPr/>
          <p:nvPr/>
        </p:nvSpPr>
        <p:spPr>
          <a:xfrm>
            <a:off x="3992865" y="1165840"/>
            <a:ext cx="365760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d94641431f_0_96"/>
          <p:cNvSpPr/>
          <p:nvPr/>
        </p:nvSpPr>
        <p:spPr>
          <a:xfrm>
            <a:off x="3992865" y="1165840"/>
            <a:ext cx="3657600" cy="54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d94641431f_0_96"/>
          <p:cNvSpPr/>
          <p:nvPr/>
        </p:nvSpPr>
        <p:spPr>
          <a:xfrm>
            <a:off x="4084305" y="130300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APLICAÇÕES DA JURIMETRIA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9" name="Google Shape;469;g3d94641431f_0_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75745" y="1714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g3d94641431f_0_96"/>
          <p:cNvSpPr/>
          <p:nvPr/>
        </p:nvSpPr>
        <p:spPr>
          <a:xfrm>
            <a:off x="4541505" y="171448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KPIs: taxa de êxito, custo/processo, tramitação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1" name="Google Shape;471;g3d94641431f_0_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75745" y="21442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g3d94641431f_0_96"/>
          <p:cNvSpPr/>
          <p:nvPr/>
        </p:nvSpPr>
        <p:spPr>
          <a:xfrm>
            <a:off x="4541505" y="2144248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Pesquisas: AIR, ARR, relatórios setoriais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3" name="Google Shape;473;g3d94641431f_0_9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75745" y="25740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g3d94641431f_0_96"/>
          <p:cNvSpPr/>
          <p:nvPr/>
        </p:nvSpPr>
        <p:spPr>
          <a:xfrm>
            <a:off x="4541505" y="2574016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Provisionamento: desfecho × tempo × valor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5" name="Google Shape;475;g3d94641431f_0_9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75745" y="300378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g3d94641431f_0_96"/>
          <p:cNvSpPr/>
          <p:nvPr/>
        </p:nvSpPr>
        <p:spPr>
          <a:xfrm>
            <a:off x="4541505" y="3003784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Contencioso de massa: triagem e acordos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7" name="Google Shape;477;g3d94641431f_0_9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75745" y="34335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3d94641431f_0_96"/>
          <p:cNvSpPr/>
          <p:nvPr/>
        </p:nvSpPr>
        <p:spPr>
          <a:xfrm>
            <a:off x="4541505" y="3433552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Dashboards para clientes e stakeholders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9" name="Google Shape;479;g3d94641431f_0_9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175745" y="3863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g3d94641431f_0_96"/>
          <p:cNvSpPr/>
          <p:nvPr/>
        </p:nvSpPr>
        <p:spPr>
          <a:xfrm>
            <a:off x="4541505" y="386332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Acadêmica: pesquisas e produção científica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d94641431f_0_96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5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5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Qualitativo vs. Quantitativo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5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5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Quando cada abordagem funciona melhor, e como se complementam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8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Abordagem Qualitativa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8"/>
          <p:cNvSpPr txBox="1"/>
          <p:nvPr/>
        </p:nvSpPr>
        <p:spPr>
          <a:xfrm>
            <a:off x="750000" y="1180475"/>
            <a:ext cx="6374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 base tradicional da argumentação jurídica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8"/>
          <p:cNvSpPr/>
          <p:nvPr/>
        </p:nvSpPr>
        <p:spPr>
          <a:xfrm>
            <a:off x="750000" y="1600475"/>
            <a:ext cx="6374700" cy="6999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8"/>
          <p:cNvSpPr txBox="1"/>
          <p:nvPr/>
        </p:nvSpPr>
        <p:spPr>
          <a:xfrm>
            <a:off x="910708" y="1600475"/>
            <a:ext cx="60531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Analisa em profundidade casos concretos, doutrina e precedentes, privilegiando o contexto, a interpretação e a ratio decidendi.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8"/>
          <p:cNvSpPr txBox="1"/>
          <p:nvPr/>
        </p:nvSpPr>
        <p:spPr>
          <a:xfrm>
            <a:off x="750000" y="2478875"/>
            <a:ext cx="34251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Funciona bem para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8"/>
          <p:cNvSpPr txBox="1"/>
          <p:nvPr/>
        </p:nvSpPr>
        <p:spPr>
          <a:xfrm>
            <a:off x="750000" y="2831089"/>
            <a:ext cx="3578100" cy="14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Interpretar normas e construir teses.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Ler um precedente paradigmático em detalhe.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Entender o raciocínio de um juiz ou de uma câmara.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Argumentar no caso concreto, em peça ou sustentação.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8"/>
          <p:cNvSpPr txBox="1"/>
          <p:nvPr/>
        </p:nvSpPr>
        <p:spPr>
          <a:xfrm>
            <a:off x="4415601" y="2478875"/>
            <a:ext cx="34251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Limita-se 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8"/>
          <p:cNvSpPr txBox="1"/>
          <p:nvPr/>
        </p:nvSpPr>
        <p:spPr>
          <a:xfrm>
            <a:off x="4415601" y="2831089"/>
            <a:ext cx="3425100" cy="14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Generalizar para uma carteira inteira.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Identificar padrões em milhares de processos.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Estimar tempo e valor de condenação.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Calibrar provisão ou ponto de acordo.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8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9"/>
          <p:cNvSpPr txBox="1"/>
          <p:nvPr/>
        </p:nvSpPr>
        <p:spPr>
          <a:xfrm>
            <a:off x="750000" y="500000"/>
            <a:ext cx="59499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Abordagem Quantitativa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9"/>
          <p:cNvSpPr txBox="1"/>
          <p:nvPr/>
        </p:nvSpPr>
        <p:spPr>
          <a:xfrm>
            <a:off x="750000" y="1135625"/>
            <a:ext cx="6554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O que a Jurimetria traz de novo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9"/>
          <p:cNvSpPr/>
          <p:nvPr/>
        </p:nvSpPr>
        <p:spPr>
          <a:xfrm>
            <a:off x="750000" y="1555625"/>
            <a:ext cx="6554100" cy="6999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9"/>
          <p:cNvSpPr txBox="1"/>
          <p:nvPr/>
        </p:nvSpPr>
        <p:spPr>
          <a:xfrm>
            <a:off x="915232" y="1555625"/>
            <a:ext cx="62235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Analisa conjuntos grandes de processos ou decisões, mede frequências, tempos e valores, e identifica padrões estatisticamente sustentáveis.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9"/>
          <p:cNvSpPr txBox="1"/>
          <p:nvPr/>
        </p:nvSpPr>
        <p:spPr>
          <a:xfrm>
            <a:off x="750000" y="2355625"/>
            <a:ext cx="3375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Funciona bem para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9"/>
          <p:cNvSpPr txBox="1"/>
          <p:nvPr/>
        </p:nvSpPr>
        <p:spPr>
          <a:xfrm>
            <a:off x="750000" y="2755625"/>
            <a:ext cx="3375900" cy="17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Medir taxa de êxito por vara e tipo de caso.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Estimar tempo médio e mediano de tramitação.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Comparar carteiras, escritórios e correspondentes.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Apoiar provisionamento e acordo.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9"/>
          <p:cNvSpPr txBox="1"/>
          <p:nvPr/>
        </p:nvSpPr>
        <p:spPr>
          <a:xfrm>
            <a:off x="4362786" y="2355625"/>
            <a:ext cx="3375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Limita-se 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9"/>
          <p:cNvSpPr txBox="1"/>
          <p:nvPr/>
        </p:nvSpPr>
        <p:spPr>
          <a:xfrm>
            <a:off x="4362786" y="2755625"/>
            <a:ext cx="3375900" cy="17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Ler o caso concreto em toda sua nuance.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Captar argumentos jurídicos sutis.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Substituir o exame das razões de decidir.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>
                <a:srgbClr val="E8A317"/>
              </a:buClr>
              <a:buSzPts val="1100"/>
              <a:buFont typeface="Arial"/>
              <a:buChar char="■"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Responder sem dados confiáveis e bem tratados.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9"/>
          <p:cNvSpPr txBox="1"/>
          <p:nvPr/>
        </p:nvSpPr>
        <p:spPr>
          <a:xfrm>
            <a:off x="750000" y="4400000"/>
            <a:ext cx="595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Nunes (2019); Katz e Bommarito (2013).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9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Comparação Lado a Lado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0"/>
          <p:cNvSpPr txBox="1"/>
          <p:nvPr/>
        </p:nvSpPr>
        <p:spPr>
          <a:xfrm>
            <a:off x="750000" y="1187950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Uma síntese prática das diferenças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0"/>
          <p:cNvSpPr/>
          <p:nvPr/>
        </p:nvSpPr>
        <p:spPr>
          <a:xfrm>
            <a:off x="750000" y="1647950"/>
            <a:ext cx="6800700" cy="3801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0"/>
          <p:cNvSpPr txBox="1"/>
          <p:nvPr/>
        </p:nvSpPr>
        <p:spPr>
          <a:xfrm>
            <a:off x="864298" y="1647950"/>
            <a:ext cx="205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Dimensão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0"/>
          <p:cNvSpPr txBox="1"/>
          <p:nvPr/>
        </p:nvSpPr>
        <p:spPr>
          <a:xfrm>
            <a:off x="2944477" y="1657900"/>
            <a:ext cx="1943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Qualitativa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0"/>
          <p:cNvSpPr txBox="1"/>
          <p:nvPr/>
        </p:nvSpPr>
        <p:spPr>
          <a:xfrm>
            <a:off x="5321909" y="1647950"/>
            <a:ext cx="2114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Quantitativa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0"/>
          <p:cNvSpPr/>
          <p:nvPr/>
        </p:nvSpPr>
        <p:spPr>
          <a:xfrm>
            <a:off x="750000" y="2027950"/>
            <a:ext cx="6800700" cy="429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0"/>
          <p:cNvSpPr txBox="1"/>
          <p:nvPr/>
        </p:nvSpPr>
        <p:spPr>
          <a:xfrm>
            <a:off x="864298" y="2087950"/>
            <a:ext cx="21714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Objeto de análise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0"/>
          <p:cNvSpPr txBox="1"/>
          <p:nvPr/>
        </p:nvSpPr>
        <p:spPr>
          <a:xfrm>
            <a:off x="2681525" y="2087950"/>
            <a:ext cx="2469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Caso concreto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0"/>
          <p:cNvSpPr txBox="1"/>
          <p:nvPr/>
        </p:nvSpPr>
        <p:spPr>
          <a:xfrm>
            <a:off x="5264760" y="2087950"/>
            <a:ext cx="22287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Conjunto de casos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0"/>
          <p:cNvSpPr/>
          <p:nvPr/>
        </p:nvSpPr>
        <p:spPr>
          <a:xfrm>
            <a:off x="750000" y="2467950"/>
            <a:ext cx="6800700" cy="42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0"/>
          <p:cNvSpPr txBox="1"/>
          <p:nvPr/>
        </p:nvSpPr>
        <p:spPr>
          <a:xfrm>
            <a:off x="864298" y="2527950"/>
            <a:ext cx="21714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Pergunta típica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0"/>
          <p:cNvSpPr txBox="1"/>
          <p:nvPr/>
        </p:nvSpPr>
        <p:spPr>
          <a:xfrm>
            <a:off x="2681525" y="2527950"/>
            <a:ext cx="2469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 que este caso foi decidido assim?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0"/>
          <p:cNvSpPr txBox="1"/>
          <p:nvPr/>
        </p:nvSpPr>
        <p:spPr>
          <a:xfrm>
            <a:off x="5264760" y="2527950"/>
            <a:ext cx="22287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Quantas vezes casos como este são decididos assim?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0"/>
          <p:cNvSpPr/>
          <p:nvPr/>
        </p:nvSpPr>
        <p:spPr>
          <a:xfrm>
            <a:off x="750000" y="2907950"/>
            <a:ext cx="6800700" cy="429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0"/>
          <p:cNvSpPr txBox="1"/>
          <p:nvPr/>
        </p:nvSpPr>
        <p:spPr>
          <a:xfrm>
            <a:off x="864298" y="2967950"/>
            <a:ext cx="21714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Fonte principal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0"/>
          <p:cNvSpPr txBox="1"/>
          <p:nvPr/>
        </p:nvSpPr>
        <p:spPr>
          <a:xfrm>
            <a:off x="2681525" y="2967950"/>
            <a:ext cx="2469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Doutrina, precedentes, peças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0"/>
          <p:cNvSpPr txBox="1"/>
          <p:nvPr/>
        </p:nvSpPr>
        <p:spPr>
          <a:xfrm>
            <a:off x="5264760" y="2967950"/>
            <a:ext cx="22287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Base de dados estruturada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0"/>
          <p:cNvSpPr/>
          <p:nvPr/>
        </p:nvSpPr>
        <p:spPr>
          <a:xfrm>
            <a:off x="750000" y="3347950"/>
            <a:ext cx="6800700" cy="42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0"/>
          <p:cNvSpPr txBox="1"/>
          <p:nvPr/>
        </p:nvSpPr>
        <p:spPr>
          <a:xfrm>
            <a:off x="864298" y="3407950"/>
            <a:ext cx="21714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Instrumental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0"/>
          <p:cNvSpPr txBox="1"/>
          <p:nvPr/>
        </p:nvSpPr>
        <p:spPr>
          <a:xfrm>
            <a:off x="2681525" y="3407950"/>
            <a:ext cx="2469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Leitura, argumentação, interpretação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0"/>
          <p:cNvSpPr txBox="1"/>
          <p:nvPr/>
        </p:nvSpPr>
        <p:spPr>
          <a:xfrm>
            <a:off x="5264760" y="3407950"/>
            <a:ext cx="22287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Estatística e modelos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0"/>
          <p:cNvSpPr/>
          <p:nvPr/>
        </p:nvSpPr>
        <p:spPr>
          <a:xfrm>
            <a:off x="750000" y="3787950"/>
            <a:ext cx="6800700" cy="429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0"/>
          <p:cNvSpPr txBox="1"/>
          <p:nvPr/>
        </p:nvSpPr>
        <p:spPr>
          <a:xfrm>
            <a:off x="864298" y="3847950"/>
            <a:ext cx="21714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0"/>
          <p:cNvSpPr txBox="1"/>
          <p:nvPr/>
        </p:nvSpPr>
        <p:spPr>
          <a:xfrm>
            <a:off x="2681525" y="3847950"/>
            <a:ext cx="2469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Tese, parecer, peça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0"/>
          <p:cNvSpPr txBox="1"/>
          <p:nvPr/>
        </p:nvSpPr>
        <p:spPr>
          <a:xfrm>
            <a:off x="5264760" y="3847950"/>
            <a:ext cx="22287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Métrica, estimativa, dashboard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0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1"/>
          <p:cNvSpPr txBox="1"/>
          <p:nvPr/>
        </p:nvSpPr>
        <p:spPr>
          <a:xfrm>
            <a:off x="750000" y="500000"/>
            <a:ext cx="71745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As Duas Abordagens se Complementam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1"/>
          <p:cNvSpPr txBox="1"/>
          <p:nvPr/>
        </p:nvSpPr>
        <p:spPr>
          <a:xfrm>
            <a:off x="750000" y="1180975"/>
            <a:ext cx="6524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Jurimetria amplia, não substitui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1"/>
          <p:cNvSpPr/>
          <p:nvPr/>
        </p:nvSpPr>
        <p:spPr>
          <a:xfrm>
            <a:off x="966825" y="1537750"/>
            <a:ext cx="2247900" cy="1400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1"/>
          <p:cNvSpPr txBox="1"/>
          <p:nvPr/>
        </p:nvSpPr>
        <p:spPr>
          <a:xfrm>
            <a:off x="966825" y="1737750"/>
            <a:ext cx="2247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Qualitativa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1"/>
          <p:cNvSpPr txBox="1"/>
          <p:nvPr/>
        </p:nvSpPr>
        <p:spPr>
          <a:xfrm>
            <a:off x="1112619" y="2237750"/>
            <a:ext cx="19563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Explica o porquê do caso concreto.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1"/>
          <p:cNvSpPr txBox="1"/>
          <p:nvPr/>
        </p:nvSpPr>
        <p:spPr>
          <a:xfrm>
            <a:off x="2997787" y="1887850"/>
            <a:ext cx="20286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1"/>
          <p:cNvSpPr/>
          <p:nvPr/>
        </p:nvSpPr>
        <p:spPr>
          <a:xfrm>
            <a:off x="4794625" y="1537750"/>
            <a:ext cx="2247900" cy="1400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1"/>
          <p:cNvSpPr txBox="1"/>
          <p:nvPr/>
        </p:nvSpPr>
        <p:spPr>
          <a:xfrm>
            <a:off x="4794625" y="1737750"/>
            <a:ext cx="2247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Quantitativa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1"/>
          <p:cNvSpPr txBox="1"/>
          <p:nvPr/>
        </p:nvSpPr>
        <p:spPr>
          <a:xfrm>
            <a:off x="4940420" y="2237750"/>
            <a:ext cx="19563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Mostra o padrão da carteira.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1"/>
          <p:cNvSpPr/>
          <p:nvPr/>
        </p:nvSpPr>
        <p:spPr>
          <a:xfrm>
            <a:off x="750000" y="3287850"/>
            <a:ext cx="6524100" cy="8001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1"/>
          <p:cNvSpPr txBox="1"/>
          <p:nvPr/>
        </p:nvSpPr>
        <p:spPr>
          <a:xfrm>
            <a:off x="914472" y="3357850"/>
            <a:ext cx="6195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advogado com dados </a:t>
            </a:r>
            <a:r>
              <a:rPr b="1" i="0" lang="en-US" sz="1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não deixa de ser advogado</a:t>
            </a: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Ele ganha um instrumento para fundamentar melhor o que já faz.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2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2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Quatro tipos de decisão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2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Onde dados podem apoiar o dia a dia do advogado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3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Decisões Apoiadas por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3"/>
          <p:cNvSpPr txBox="1"/>
          <p:nvPr/>
        </p:nvSpPr>
        <p:spPr>
          <a:xfrm>
            <a:off x="750000" y="1195425"/>
            <a:ext cx="62103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Quatro grandes classes no dia a dia do advogado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3"/>
          <p:cNvSpPr/>
          <p:nvPr/>
        </p:nvSpPr>
        <p:spPr>
          <a:xfrm>
            <a:off x="750000" y="1659650"/>
            <a:ext cx="3263400" cy="13263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3"/>
          <p:cNvSpPr/>
          <p:nvPr/>
        </p:nvSpPr>
        <p:spPr>
          <a:xfrm>
            <a:off x="956109" y="1781101"/>
            <a:ext cx="641400" cy="619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3"/>
          <p:cNvSpPr txBox="1"/>
          <p:nvPr/>
        </p:nvSpPr>
        <p:spPr>
          <a:xfrm>
            <a:off x="1723292" y="1880706"/>
            <a:ext cx="2232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Contencioso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3"/>
          <p:cNvSpPr txBox="1"/>
          <p:nvPr/>
        </p:nvSpPr>
        <p:spPr>
          <a:xfrm>
            <a:off x="933208" y="2521769"/>
            <a:ext cx="28968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Escolher foro e tese quando há opção; decidir se recorre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3"/>
          <p:cNvSpPr/>
          <p:nvPr/>
        </p:nvSpPr>
        <p:spPr>
          <a:xfrm>
            <a:off x="4185146" y="1673463"/>
            <a:ext cx="3263400" cy="13263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3"/>
          <p:cNvSpPr/>
          <p:nvPr/>
        </p:nvSpPr>
        <p:spPr>
          <a:xfrm>
            <a:off x="4391254" y="1781101"/>
            <a:ext cx="641400" cy="619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3"/>
          <p:cNvSpPr txBox="1"/>
          <p:nvPr/>
        </p:nvSpPr>
        <p:spPr>
          <a:xfrm>
            <a:off x="5158437" y="1880706"/>
            <a:ext cx="2232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Negociação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3"/>
          <p:cNvSpPr txBox="1"/>
          <p:nvPr/>
        </p:nvSpPr>
        <p:spPr>
          <a:xfrm>
            <a:off x="4368353" y="2521769"/>
            <a:ext cx="28968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Calibrar faixa de acordo com base em desfecho e tempo esperados.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3"/>
          <p:cNvSpPr/>
          <p:nvPr/>
        </p:nvSpPr>
        <p:spPr>
          <a:xfrm>
            <a:off x="750000" y="3151779"/>
            <a:ext cx="3263400" cy="13263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3"/>
          <p:cNvSpPr/>
          <p:nvPr/>
        </p:nvSpPr>
        <p:spPr>
          <a:xfrm>
            <a:off x="956109" y="3273230"/>
            <a:ext cx="641400" cy="619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3"/>
          <p:cNvSpPr txBox="1"/>
          <p:nvPr/>
        </p:nvSpPr>
        <p:spPr>
          <a:xfrm>
            <a:off x="1723292" y="3372835"/>
            <a:ext cx="2232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Provisionamento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3"/>
          <p:cNvSpPr txBox="1"/>
          <p:nvPr/>
        </p:nvSpPr>
        <p:spPr>
          <a:xfrm>
            <a:off x="933208" y="4013897"/>
            <a:ext cx="28968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Revisar reservas contábeis com base em estimativas estatísticas.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3"/>
          <p:cNvSpPr/>
          <p:nvPr/>
        </p:nvSpPr>
        <p:spPr>
          <a:xfrm>
            <a:off x="4185146" y="3151779"/>
            <a:ext cx="3263400" cy="13263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3"/>
          <p:cNvSpPr/>
          <p:nvPr/>
        </p:nvSpPr>
        <p:spPr>
          <a:xfrm>
            <a:off x="4391254" y="3273230"/>
            <a:ext cx="641400" cy="619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3"/>
          <p:cNvSpPr txBox="1"/>
          <p:nvPr/>
        </p:nvSpPr>
        <p:spPr>
          <a:xfrm>
            <a:off x="5158437" y="3372835"/>
            <a:ext cx="2232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Gestão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3"/>
          <p:cNvSpPr txBox="1"/>
          <p:nvPr/>
        </p:nvSpPr>
        <p:spPr>
          <a:xfrm>
            <a:off x="4368353" y="4013897"/>
            <a:ext cx="28968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Avaliar performance de correspondentes, varas e equipes.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3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4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Os Quatro Tipos no XY&amp;A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4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Como cada classe aparece no escritório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4"/>
          <p:cNvSpPr/>
          <p:nvPr/>
        </p:nvSpPr>
        <p:spPr>
          <a:xfrm>
            <a:off x="750000" y="1750000"/>
            <a:ext cx="6338100" cy="530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4"/>
          <p:cNvSpPr txBox="1"/>
          <p:nvPr/>
        </p:nvSpPr>
        <p:spPr>
          <a:xfrm>
            <a:off x="856521" y="1830000"/>
            <a:ext cx="17043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Contencioso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4"/>
          <p:cNvSpPr txBox="1"/>
          <p:nvPr/>
        </p:nvSpPr>
        <p:spPr>
          <a:xfrm>
            <a:off x="2614125" y="1830000"/>
            <a:ext cx="4367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 qual vara concentrar a distribuição de renovatórias? Em quais casos vale recorrer?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4"/>
          <p:cNvSpPr/>
          <p:nvPr/>
        </p:nvSpPr>
        <p:spPr>
          <a:xfrm>
            <a:off x="750000" y="2310000"/>
            <a:ext cx="6338100" cy="53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4"/>
          <p:cNvSpPr txBox="1"/>
          <p:nvPr/>
        </p:nvSpPr>
        <p:spPr>
          <a:xfrm>
            <a:off x="856521" y="2390000"/>
            <a:ext cx="17043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Negociação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4"/>
          <p:cNvSpPr txBox="1"/>
          <p:nvPr/>
        </p:nvSpPr>
        <p:spPr>
          <a:xfrm>
            <a:off x="2614125" y="2390000"/>
            <a:ext cx="4367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Qual faixa de desconto faz sentido oferecer em acordo antes da perícia?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4"/>
          <p:cNvSpPr/>
          <p:nvPr/>
        </p:nvSpPr>
        <p:spPr>
          <a:xfrm>
            <a:off x="750000" y="2870000"/>
            <a:ext cx="6338100" cy="530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4"/>
          <p:cNvSpPr txBox="1"/>
          <p:nvPr/>
        </p:nvSpPr>
        <p:spPr>
          <a:xfrm>
            <a:off x="856521" y="2950000"/>
            <a:ext cx="17043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Provisionamento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4"/>
          <p:cNvSpPr txBox="1"/>
          <p:nvPr/>
        </p:nvSpPr>
        <p:spPr>
          <a:xfrm>
            <a:off x="2614125" y="2950000"/>
            <a:ext cx="4367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Os R$ 45 mi estão bem calibrados? Onde há subprovisão ou sobreprovisão?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4"/>
          <p:cNvSpPr/>
          <p:nvPr/>
        </p:nvSpPr>
        <p:spPr>
          <a:xfrm>
            <a:off x="750000" y="3430000"/>
            <a:ext cx="6338100" cy="53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4"/>
          <p:cNvSpPr txBox="1"/>
          <p:nvPr/>
        </p:nvSpPr>
        <p:spPr>
          <a:xfrm>
            <a:off x="856521" y="3510000"/>
            <a:ext cx="17043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Gestão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4"/>
          <p:cNvSpPr txBox="1"/>
          <p:nvPr/>
        </p:nvSpPr>
        <p:spPr>
          <a:xfrm>
            <a:off x="2614125" y="3510000"/>
            <a:ext cx="4367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Qual correspondente entrega melhor resultado ajustado a custo? Há perfis a demitir?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4"/>
          <p:cNvSpPr txBox="1"/>
          <p:nvPr/>
        </p:nvSpPr>
        <p:spPr>
          <a:xfrm>
            <a:off x="750000" y="4090000"/>
            <a:ext cx="5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Todas essas perguntas caem em alguma etapa do ciclo da ciência de dados, que será vista na Aula 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4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8b75b7e57c_0_0"/>
          <p:cNvSpPr/>
          <p:nvPr/>
        </p:nvSpPr>
        <p:spPr>
          <a:xfrm>
            <a:off x="1097280" y="920000"/>
            <a:ext cx="1900000" cy="380000"/>
          </a:xfrm>
          <a:prstGeom prst="roundRect">
            <a:avLst>
              <a:gd fmla="val 16667" name="adj"/>
            </a:avLst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g38b75b7e57c_0_0"/>
          <p:cNvSpPr txBox="1"/>
          <p:nvPr/>
        </p:nvSpPr>
        <p:spPr>
          <a:xfrm>
            <a:off x="1097280" y="920000"/>
            <a:ext cx="190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EXEMPLO PRÁTICO</a:t>
            </a:r>
            <a:endParaRPr/>
          </a:p>
        </p:txBody>
      </p:sp>
      <p:sp>
        <p:nvSpPr>
          <p:cNvPr id="621" name="Google Shape;621;g38b75b7e57c_0_0"/>
          <p:cNvSpPr txBox="1"/>
          <p:nvPr/>
        </p:nvSpPr>
        <p:spPr>
          <a:xfrm>
            <a:off x="1097275" y="15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Case real</a:t>
            </a:r>
            <a:endParaRPr/>
          </a:p>
        </p:txBody>
      </p:sp>
      <p:sp>
        <p:nvSpPr>
          <p:cNvPr id="622" name="Google Shape;622;g38b75b7e57c_0_0"/>
          <p:cNvSpPr txBox="1"/>
          <p:nvPr/>
        </p:nvSpPr>
        <p:spPr>
          <a:xfrm>
            <a:off x="1097280" y="2300000"/>
            <a:ext cx="6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Como a jurimetria reduziu R$ 5,7 milhões em provisão de uma carteira de renovatórias</a:t>
            </a:r>
            <a:endParaRPr/>
          </a:p>
        </p:txBody>
      </p:sp>
      <p:sp>
        <p:nvSpPr>
          <p:cNvPr id="623" name="Google Shape;623;g38b75b7e57c_0_0"/>
          <p:cNvSpPr/>
          <p:nvPr/>
        </p:nvSpPr>
        <p:spPr>
          <a:xfrm>
            <a:off x="1097280" y="300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g38b75b7e57c_0_0"/>
          <p:cNvSpPr txBox="1"/>
          <p:nvPr/>
        </p:nvSpPr>
        <p:spPr>
          <a:xfrm>
            <a:off x="1097280" y="3150000"/>
            <a:ext cx="65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Caso baseado em projeto real. Nome da empresa preservado por sigilo contratual.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Contexto e desafio</a:t>
            </a:r>
            <a:endParaRPr/>
          </a:p>
        </p:txBody>
      </p:sp>
      <p:sp>
        <p:nvSpPr>
          <p:cNvPr id="630" name="Google Shape;630;p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O cliente, a carteira e o problema posto na mesa do sócio</a:t>
            </a:r>
            <a:endParaRPr/>
          </a:p>
        </p:txBody>
      </p:sp>
      <p:sp>
        <p:nvSpPr>
          <p:cNvPr id="631" name="Google Shape;631;p2"/>
          <p:cNvSpPr/>
          <p:nvPr/>
        </p:nvSpPr>
        <p:spPr>
          <a:xfrm>
            <a:off x="750000" y="1750000"/>
            <a:ext cx="2850000" cy="7000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"/>
          <p:cNvSpPr txBox="1"/>
          <p:nvPr/>
        </p:nvSpPr>
        <p:spPr>
          <a:xfrm>
            <a:off x="900000" y="1840000"/>
            <a:ext cx="255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280</a:t>
            </a:r>
            <a:endParaRPr/>
          </a:p>
        </p:txBody>
      </p:sp>
      <p:sp>
        <p:nvSpPr>
          <p:cNvPr id="633" name="Google Shape;633;p2"/>
          <p:cNvSpPr txBox="1"/>
          <p:nvPr/>
        </p:nvSpPr>
        <p:spPr>
          <a:xfrm>
            <a:off x="900000" y="2210000"/>
            <a:ext cx="255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lojas no Sul e Sudeste</a:t>
            </a:r>
            <a:endParaRPr/>
          </a:p>
        </p:txBody>
      </p:sp>
      <p:sp>
        <p:nvSpPr>
          <p:cNvPr id="634" name="Google Shape;634;p2"/>
          <p:cNvSpPr/>
          <p:nvPr/>
        </p:nvSpPr>
        <p:spPr>
          <a:xfrm>
            <a:off x="3750000" y="1750000"/>
            <a:ext cx="2850000" cy="7000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"/>
          <p:cNvSpPr txBox="1"/>
          <p:nvPr/>
        </p:nvSpPr>
        <p:spPr>
          <a:xfrm>
            <a:off x="3900000" y="1840000"/>
            <a:ext cx="255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1.247</a:t>
            </a:r>
            <a:endParaRPr/>
          </a:p>
        </p:txBody>
      </p:sp>
      <p:sp>
        <p:nvSpPr>
          <p:cNvPr id="636" name="Google Shape;636;p2"/>
          <p:cNvSpPr txBox="1"/>
          <p:nvPr/>
        </p:nvSpPr>
        <p:spPr>
          <a:xfrm>
            <a:off x="3900000" y="2210000"/>
            <a:ext cx="255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renovatórias ativas</a:t>
            </a:r>
            <a:endParaRPr/>
          </a:p>
        </p:txBody>
      </p:sp>
      <p:sp>
        <p:nvSpPr>
          <p:cNvPr id="637" name="Google Shape;637;p2"/>
          <p:cNvSpPr/>
          <p:nvPr/>
        </p:nvSpPr>
        <p:spPr>
          <a:xfrm>
            <a:off x="750000" y="2550000"/>
            <a:ext cx="2850000" cy="7000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"/>
          <p:cNvSpPr txBox="1"/>
          <p:nvPr/>
        </p:nvSpPr>
        <p:spPr>
          <a:xfrm>
            <a:off x="900000" y="2640000"/>
            <a:ext cx="255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R$ 18 mi</a:t>
            </a:r>
            <a:endParaRPr/>
          </a:p>
        </p:txBody>
      </p:sp>
      <p:sp>
        <p:nvSpPr>
          <p:cNvPr id="639" name="Google Shape;639;p2"/>
          <p:cNvSpPr txBox="1"/>
          <p:nvPr/>
        </p:nvSpPr>
        <p:spPr>
          <a:xfrm>
            <a:off x="900000" y="3010000"/>
            <a:ext cx="255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provisão original</a:t>
            </a:r>
            <a:endParaRPr/>
          </a:p>
        </p:txBody>
      </p:sp>
      <p:sp>
        <p:nvSpPr>
          <p:cNvPr id="640" name="Google Shape;640;p2"/>
          <p:cNvSpPr/>
          <p:nvPr/>
        </p:nvSpPr>
        <p:spPr>
          <a:xfrm>
            <a:off x="3750000" y="2550000"/>
            <a:ext cx="2850000" cy="7000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"/>
          <p:cNvSpPr txBox="1"/>
          <p:nvPr/>
        </p:nvSpPr>
        <p:spPr>
          <a:xfrm>
            <a:off x="3900000" y="2640000"/>
            <a:ext cx="255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? %</a:t>
            </a:r>
            <a:endParaRPr/>
          </a:p>
        </p:txBody>
      </p:sp>
      <p:sp>
        <p:nvSpPr>
          <p:cNvPr id="642" name="Google Shape;642;p2"/>
          <p:cNvSpPr txBox="1"/>
          <p:nvPr/>
        </p:nvSpPr>
        <p:spPr>
          <a:xfrm>
            <a:off x="3900000" y="3010000"/>
            <a:ext cx="255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taxa de êxito real</a:t>
            </a:r>
            <a:endParaRPr/>
          </a:p>
        </p:txBody>
      </p:sp>
      <p:sp>
        <p:nvSpPr>
          <p:cNvPr id="643" name="Google Shape;643;p2"/>
          <p:cNvSpPr/>
          <p:nvPr/>
        </p:nvSpPr>
        <p:spPr>
          <a:xfrm>
            <a:off x="750000" y="3500000"/>
            <a:ext cx="5950000" cy="800000"/>
          </a:xfrm>
          <a:prstGeom prst="roundRect">
            <a:avLst>
              <a:gd fmla="val 16667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"/>
          <p:cNvSpPr txBox="1"/>
          <p:nvPr/>
        </p:nvSpPr>
        <p:spPr>
          <a:xfrm>
            <a:off x="900000" y="3580000"/>
            <a:ext cx="5650000" cy="6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O problema na mesa do sócio: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auditoria contábil questionou se os R$ 18 mi de provisão refletiam o risco real da carteira. Sem dados, a defesa do número era impossível.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4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Abordagem jurimétrica em 4 etapas</a:t>
            </a:r>
            <a:endParaRPr/>
          </a:p>
        </p:txBody>
      </p:sp>
      <p:sp>
        <p:nvSpPr>
          <p:cNvPr id="650" name="Google Shape;650;p24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Da pergunta de negócio à evidência estatística</a:t>
            </a:r>
            <a:endParaRPr/>
          </a:p>
        </p:txBody>
      </p:sp>
      <p:sp>
        <p:nvSpPr>
          <p:cNvPr id="651" name="Google Shape;651;p24"/>
          <p:cNvSpPr/>
          <p:nvPr/>
        </p:nvSpPr>
        <p:spPr>
          <a:xfrm>
            <a:off x="750000" y="1750000"/>
            <a:ext cx="2850000" cy="11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4"/>
          <p:cNvSpPr/>
          <p:nvPr/>
        </p:nvSpPr>
        <p:spPr>
          <a:xfrm>
            <a:off x="880000" y="1860000"/>
            <a:ext cx="460000" cy="4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/>
          </a:p>
        </p:txBody>
      </p:sp>
      <p:sp>
        <p:nvSpPr>
          <p:cNvPr id="653" name="Google Shape;653;p24"/>
          <p:cNvSpPr txBox="1"/>
          <p:nvPr/>
        </p:nvSpPr>
        <p:spPr>
          <a:xfrm>
            <a:off x="1450000" y="1910000"/>
            <a:ext cx="205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Pergunta</a:t>
            </a:r>
            <a:endParaRPr/>
          </a:p>
        </p:txBody>
      </p:sp>
      <p:sp>
        <p:nvSpPr>
          <p:cNvPr id="654" name="Google Shape;654;p24"/>
          <p:cNvSpPr txBox="1"/>
          <p:nvPr/>
        </p:nvSpPr>
        <p:spPr>
          <a:xfrm>
            <a:off x="910000" y="2350000"/>
            <a:ext cx="253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Qual a probabilidade de êxito por vara e o valor médio de condenação na renovatória de varejo?</a:t>
            </a:r>
            <a:endParaRPr/>
          </a:p>
        </p:txBody>
      </p:sp>
      <p:sp>
        <p:nvSpPr>
          <p:cNvPr id="655" name="Google Shape;655;p24"/>
          <p:cNvSpPr/>
          <p:nvPr/>
        </p:nvSpPr>
        <p:spPr>
          <a:xfrm>
            <a:off x="3750000" y="1750000"/>
            <a:ext cx="2850000" cy="11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4"/>
          <p:cNvSpPr/>
          <p:nvPr/>
        </p:nvSpPr>
        <p:spPr>
          <a:xfrm>
            <a:off x="3880000" y="1860000"/>
            <a:ext cx="460000" cy="4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/>
          </a:p>
        </p:txBody>
      </p:sp>
      <p:sp>
        <p:nvSpPr>
          <p:cNvPr id="657" name="Google Shape;657;p24"/>
          <p:cNvSpPr txBox="1"/>
          <p:nvPr/>
        </p:nvSpPr>
        <p:spPr>
          <a:xfrm>
            <a:off x="4450000" y="1910000"/>
            <a:ext cx="205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Coleta</a:t>
            </a:r>
            <a:endParaRPr/>
          </a:p>
        </p:txBody>
      </p:sp>
      <p:sp>
        <p:nvSpPr>
          <p:cNvPr id="658" name="Google Shape;658;p24"/>
          <p:cNvSpPr txBox="1"/>
          <p:nvPr/>
        </p:nvSpPr>
        <p:spPr>
          <a:xfrm>
            <a:off x="3910000" y="2350000"/>
            <a:ext cx="253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Levantamento de 1.247 sentenças do TJSP e TJRS de 2018 a 2024, filtradas por matéria e perfil de parte.</a:t>
            </a:r>
            <a:endParaRPr/>
          </a:p>
        </p:txBody>
      </p:sp>
      <p:sp>
        <p:nvSpPr>
          <p:cNvPr id="659" name="Google Shape;659;p24"/>
          <p:cNvSpPr/>
          <p:nvPr/>
        </p:nvSpPr>
        <p:spPr>
          <a:xfrm>
            <a:off x="750000" y="3030000"/>
            <a:ext cx="2850000" cy="11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4"/>
          <p:cNvSpPr/>
          <p:nvPr/>
        </p:nvSpPr>
        <p:spPr>
          <a:xfrm>
            <a:off x="880000" y="3140000"/>
            <a:ext cx="460000" cy="4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/>
          </a:p>
        </p:txBody>
      </p:sp>
      <p:sp>
        <p:nvSpPr>
          <p:cNvPr id="661" name="Google Shape;661;p24"/>
          <p:cNvSpPr txBox="1"/>
          <p:nvPr/>
        </p:nvSpPr>
        <p:spPr>
          <a:xfrm>
            <a:off x="1450000" y="3190000"/>
            <a:ext cx="205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Análise</a:t>
            </a:r>
            <a:endParaRPr/>
          </a:p>
        </p:txBody>
      </p:sp>
      <p:sp>
        <p:nvSpPr>
          <p:cNvPr id="662" name="Google Shape;662;p24"/>
          <p:cNvSpPr txBox="1"/>
          <p:nvPr/>
        </p:nvSpPr>
        <p:spPr>
          <a:xfrm>
            <a:off x="910000" y="3630000"/>
            <a:ext cx="253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Estatística descritiva por vara, tipo de pedido e desfecho, cruzada com tempo e valor.</a:t>
            </a:r>
            <a:endParaRPr/>
          </a:p>
        </p:txBody>
      </p:sp>
      <p:sp>
        <p:nvSpPr>
          <p:cNvPr id="663" name="Google Shape;663;p24"/>
          <p:cNvSpPr/>
          <p:nvPr/>
        </p:nvSpPr>
        <p:spPr>
          <a:xfrm>
            <a:off x="3750000" y="3030000"/>
            <a:ext cx="2850000" cy="11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4"/>
          <p:cNvSpPr/>
          <p:nvPr/>
        </p:nvSpPr>
        <p:spPr>
          <a:xfrm>
            <a:off x="3880000" y="3140000"/>
            <a:ext cx="460000" cy="4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/>
          </a:p>
        </p:txBody>
      </p:sp>
      <p:sp>
        <p:nvSpPr>
          <p:cNvPr id="665" name="Google Shape;665;p24"/>
          <p:cNvSpPr txBox="1"/>
          <p:nvPr/>
        </p:nvSpPr>
        <p:spPr>
          <a:xfrm>
            <a:off x="4450000" y="3190000"/>
            <a:ext cx="205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Recomendação</a:t>
            </a:r>
            <a:endParaRPr/>
          </a:p>
        </p:txBody>
      </p:sp>
      <p:sp>
        <p:nvSpPr>
          <p:cNvPr id="666" name="Google Shape;666;p24"/>
          <p:cNvSpPr txBox="1"/>
          <p:nvPr/>
        </p:nvSpPr>
        <p:spPr>
          <a:xfrm>
            <a:off x="3910000" y="3630000"/>
            <a:ext cx="253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Provisão recalibrada por faixa de risco e estratégia diferenciada de acordo nos juízos identificados.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4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Achado 1: a taxa de êxito varia muito</a:t>
            </a:r>
            <a:endParaRPr/>
          </a:p>
        </p:txBody>
      </p:sp>
      <p:sp>
        <p:nvSpPr>
          <p:cNvPr id="672" name="Google Shape;672;p44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Procedência por vara em 1.247 renovatórias analisadas</a:t>
            </a:r>
            <a:endParaRPr/>
          </a:p>
        </p:txBody>
      </p:sp>
      <p:sp>
        <p:nvSpPr>
          <p:cNvPr id="673" name="Google Shape;673;p44"/>
          <p:cNvSpPr/>
          <p:nvPr/>
        </p:nvSpPr>
        <p:spPr>
          <a:xfrm>
            <a:off x="2750000" y="1830000"/>
            <a:ext cx="6000" cy="19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44"/>
          <p:cNvSpPr txBox="1"/>
          <p:nvPr/>
        </p:nvSpPr>
        <p:spPr>
          <a:xfrm>
            <a:off x="2500000" y="1550000"/>
            <a:ext cx="5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  <a:endParaRPr/>
          </a:p>
        </p:txBody>
      </p:sp>
      <p:sp>
        <p:nvSpPr>
          <p:cNvPr id="675" name="Google Shape;675;p44"/>
          <p:cNvSpPr/>
          <p:nvPr/>
        </p:nvSpPr>
        <p:spPr>
          <a:xfrm>
            <a:off x="3625000" y="1830000"/>
            <a:ext cx="6000" cy="19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44"/>
          <p:cNvSpPr txBox="1"/>
          <p:nvPr/>
        </p:nvSpPr>
        <p:spPr>
          <a:xfrm>
            <a:off x="3375000" y="1550000"/>
            <a:ext cx="5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  <a:endParaRPr/>
          </a:p>
        </p:txBody>
      </p:sp>
      <p:sp>
        <p:nvSpPr>
          <p:cNvPr id="677" name="Google Shape;677;p44"/>
          <p:cNvSpPr/>
          <p:nvPr/>
        </p:nvSpPr>
        <p:spPr>
          <a:xfrm>
            <a:off x="4500000" y="1830000"/>
            <a:ext cx="6000" cy="19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4"/>
          <p:cNvSpPr txBox="1"/>
          <p:nvPr/>
        </p:nvSpPr>
        <p:spPr>
          <a:xfrm>
            <a:off x="4250000" y="1550000"/>
            <a:ext cx="5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/>
          </a:p>
        </p:txBody>
      </p:sp>
      <p:sp>
        <p:nvSpPr>
          <p:cNvPr id="679" name="Google Shape;679;p44"/>
          <p:cNvSpPr/>
          <p:nvPr/>
        </p:nvSpPr>
        <p:spPr>
          <a:xfrm>
            <a:off x="5375000" y="1830000"/>
            <a:ext cx="6000" cy="19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44"/>
          <p:cNvSpPr txBox="1"/>
          <p:nvPr/>
        </p:nvSpPr>
        <p:spPr>
          <a:xfrm>
            <a:off x="5125000" y="1550000"/>
            <a:ext cx="5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  <a:endParaRPr/>
          </a:p>
        </p:txBody>
      </p:sp>
      <p:sp>
        <p:nvSpPr>
          <p:cNvPr id="681" name="Google Shape;681;p44"/>
          <p:cNvSpPr/>
          <p:nvPr/>
        </p:nvSpPr>
        <p:spPr>
          <a:xfrm>
            <a:off x="6250000" y="1830000"/>
            <a:ext cx="6000" cy="19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44"/>
          <p:cNvSpPr txBox="1"/>
          <p:nvPr/>
        </p:nvSpPr>
        <p:spPr>
          <a:xfrm>
            <a:off x="6000000" y="1550000"/>
            <a:ext cx="5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/>
          </a:p>
        </p:txBody>
      </p:sp>
      <p:sp>
        <p:nvSpPr>
          <p:cNvPr id="683" name="Google Shape;683;p44"/>
          <p:cNvSpPr txBox="1"/>
          <p:nvPr/>
        </p:nvSpPr>
        <p:spPr>
          <a:xfrm>
            <a:off x="1050000" y="1930000"/>
            <a:ext cx="162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Vara A (TJSP)</a:t>
            </a:r>
            <a:endParaRPr/>
          </a:p>
        </p:txBody>
      </p:sp>
      <p:sp>
        <p:nvSpPr>
          <p:cNvPr id="684" name="Google Shape;684;p44"/>
          <p:cNvSpPr/>
          <p:nvPr/>
        </p:nvSpPr>
        <p:spPr>
          <a:xfrm>
            <a:off x="2750000" y="1950000"/>
            <a:ext cx="2730000" cy="16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44"/>
          <p:cNvSpPr txBox="1"/>
          <p:nvPr/>
        </p:nvSpPr>
        <p:spPr>
          <a:xfrm>
            <a:off x="5530000" y="1930000"/>
            <a:ext cx="40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78%</a:t>
            </a:r>
            <a:endParaRPr/>
          </a:p>
        </p:txBody>
      </p:sp>
      <p:sp>
        <p:nvSpPr>
          <p:cNvPr id="686" name="Google Shape;686;p44"/>
          <p:cNvSpPr txBox="1"/>
          <p:nvPr/>
        </p:nvSpPr>
        <p:spPr>
          <a:xfrm>
            <a:off x="1050000" y="2180000"/>
            <a:ext cx="162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Vara B (TJSP)</a:t>
            </a:r>
            <a:endParaRPr/>
          </a:p>
        </p:txBody>
      </p:sp>
      <p:sp>
        <p:nvSpPr>
          <p:cNvPr id="687" name="Google Shape;687;p44"/>
          <p:cNvSpPr/>
          <p:nvPr/>
        </p:nvSpPr>
        <p:spPr>
          <a:xfrm>
            <a:off x="2750000" y="2200000"/>
            <a:ext cx="2485000" cy="16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44"/>
          <p:cNvSpPr txBox="1"/>
          <p:nvPr/>
        </p:nvSpPr>
        <p:spPr>
          <a:xfrm>
            <a:off x="5285000" y="2180000"/>
            <a:ext cx="40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71%</a:t>
            </a:r>
            <a:endParaRPr/>
          </a:p>
        </p:txBody>
      </p:sp>
      <p:sp>
        <p:nvSpPr>
          <p:cNvPr id="689" name="Google Shape;689;p44"/>
          <p:cNvSpPr txBox="1"/>
          <p:nvPr/>
        </p:nvSpPr>
        <p:spPr>
          <a:xfrm>
            <a:off x="1050000" y="2430000"/>
            <a:ext cx="162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Vara C (TJRS)</a:t>
            </a:r>
            <a:endParaRPr/>
          </a:p>
        </p:txBody>
      </p:sp>
      <p:sp>
        <p:nvSpPr>
          <p:cNvPr id="690" name="Google Shape;690;p44"/>
          <p:cNvSpPr/>
          <p:nvPr/>
        </p:nvSpPr>
        <p:spPr>
          <a:xfrm>
            <a:off x="2750000" y="2450000"/>
            <a:ext cx="2240000" cy="1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44"/>
          <p:cNvSpPr txBox="1"/>
          <p:nvPr/>
        </p:nvSpPr>
        <p:spPr>
          <a:xfrm>
            <a:off x="5040000" y="2430000"/>
            <a:ext cx="40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64%</a:t>
            </a:r>
            <a:endParaRPr/>
          </a:p>
        </p:txBody>
      </p:sp>
      <p:sp>
        <p:nvSpPr>
          <p:cNvPr id="692" name="Google Shape;692;p44"/>
          <p:cNvSpPr txBox="1"/>
          <p:nvPr/>
        </p:nvSpPr>
        <p:spPr>
          <a:xfrm>
            <a:off x="1050000" y="2680000"/>
            <a:ext cx="162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Média da carteira</a:t>
            </a:r>
            <a:endParaRPr/>
          </a:p>
        </p:txBody>
      </p:sp>
      <p:sp>
        <p:nvSpPr>
          <p:cNvPr id="693" name="Google Shape;693;p44"/>
          <p:cNvSpPr/>
          <p:nvPr/>
        </p:nvSpPr>
        <p:spPr>
          <a:xfrm>
            <a:off x="2750000" y="2700000"/>
            <a:ext cx="1820000" cy="160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44"/>
          <p:cNvSpPr txBox="1"/>
          <p:nvPr/>
        </p:nvSpPr>
        <p:spPr>
          <a:xfrm>
            <a:off x="4620000" y="2680000"/>
            <a:ext cx="40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52%</a:t>
            </a:r>
            <a:endParaRPr/>
          </a:p>
        </p:txBody>
      </p:sp>
      <p:sp>
        <p:nvSpPr>
          <p:cNvPr id="695" name="Google Shape;695;p44"/>
          <p:cNvSpPr txBox="1"/>
          <p:nvPr/>
        </p:nvSpPr>
        <p:spPr>
          <a:xfrm>
            <a:off x="1050000" y="2930000"/>
            <a:ext cx="162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Vara D (TJSP)</a:t>
            </a:r>
            <a:endParaRPr/>
          </a:p>
        </p:txBody>
      </p:sp>
      <p:sp>
        <p:nvSpPr>
          <p:cNvPr id="696" name="Google Shape;696;p44"/>
          <p:cNvSpPr/>
          <p:nvPr/>
        </p:nvSpPr>
        <p:spPr>
          <a:xfrm>
            <a:off x="2750000" y="2950000"/>
            <a:ext cx="1435000" cy="1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44"/>
          <p:cNvSpPr txBox="1"/>
          <p:nvPr/>
        </p:nvSpPr>
        <p:spPr>
          <a:xfrm>
            <a:off x="4235000" y="2930000"/>
            <a:ext cx="40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41%</a:t>
            </a:r>
            <a:endParaRPr/>
          </a:p>
        </p:txBody>
      </p:sp>
      <p:sp>
        <p:nvSpPr>
          <p:cNvPr id="698" name="Google Shape;698;p44"/>
          <p:cNvSpPr txBox="1"/>
          <p:nvPr/>
        </p:nvSpPr>
        <p:spPr>
          <a:xfrm>
            <a:off x="1050000" y="3180000"/>
            <a:ext cx="162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Vara E (TJSP)</a:t>
            </a:r>
            <a:endParaRPr/>
          </a:p>
        </p:txBody>
      </p:sp>
      <p:sp>
        <p:nvSpPr>
          <p:cNvPr id="699" name="Google Shape;699;p44"/>
          <p:cNvSpPr/>
          <p:nvPr/>
        </p:nvSpPr>
        <p:spPr>
          <a:xfrm>
            <a:off x="2750000" y="3200000"/>
            <a:ext cx="1155000" cy="1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4"/>
          <p:cNvSpPr txBox="1"/>
          <p:nvPr/>
        </p:nvSpPr>
        <p:spPr>
          <a:xfrm>
            <a:off x="3955000" y="3180000"/>
            <a:ext cx="40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33%</a:t>
            </a:r>
            <a:endParaRPr/>
          </a:p>
        </p:txBody>
      </p:sp>
      <p:sp>
        <p:nvSpPr>
          <p:cNvPr id="701" name="Google Shape;701;p44"/>
          <p:cNvSpPr txBox="1"/>
          <p:nvPr/>
        </p:nvSpPr>
        <p:spPr>
          <a:xfrm>
            <a:off x="1050000" y="3430000"/>
            <a:ext cx="162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Vara F (TJRS)</a:t>
            </a:r>
            <a:endParaRPr/>
          </a:p>
        </p:txBody>
      </p:sp>
      <p:sp>
        <p:nvSpPr>
          <p:cNvPr id="702" name="Google Shape;702;p44"/>
          <p:cNvSpPr/>
          <p:nvPr/>
        </p:nvSpPr>
        <p:spPr>
          <a:xfrm>
            <a:off x="2750000" y="3450000"/>
            <a:ext cx="980000" cy="1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4"/>
          <p:cNvSpPr txBox="1"/>
          <p:nvPr/>
        </p:nvSpPr>
        <p:spPr>
          <a:xfrm>
            <a:off x="3780000" y="3430000"/>
            <a:ext cx="400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28%</a:t>
            </a:r>
            <a:endParaRPr/>
          </a:p>
        </p:txBody>
      </p:sp>
      <p:sp>
        <p:nvSpPr>
          <p:cNvPr id="704" name="Google Shape;704;p44"/>
          <p:cNvSpPr/>
          <p:nvPr/>
        </p:nvSpPr>
        <p:spPr>
          <a:xfrm>
            <a:off x="750000" y="3930000"/>
            <a:ext cx="5950000" cy="5300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4"/>
          <p:cNvSpPr txBox="1"/>
          <p:nvPr/>
        </p:nvSpPr>
        <p:spPr>
          <a:xfrm>
            <a:off x="900000" y="4000000"/>
            <a:ext cx="56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Insight: </a:t>
            </a: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duas varas concentram desempenho 50% acima da média; outras três caem 40% abaixo. A provisão precisa refletir essa heterogeneidade.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5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Achado 2: tempo × valor</a:t>
            </a:r>
            <a:endParaRPr/>
          </a:p>
        </p:txBody>
      </p:sp>
      <p:sp>
        <p:nvSpPr>
          <p:cNvPr id="711" name="Google Shape;711;p45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Cruzamento de tempo de tramitação e valor médio de condenação</a:t>
            </a:r>
            <a:endParaRPr/>
          </a:p>
        </p:txBody>
      </p:sp>
      <p:sp>
        <p:nvSpPr>
          <p:cNvPr id="712" name="Google Shape;712;p45"/>
          <p:cNvSpPr/>
          <p:nvPr/>
        </p:nvSpPr>
        <p:spPr>
          <a:xfrm>
            <a:off x="750000" y="1700000"/>
            <a:ext cx="1700000" cy="3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5"/>
          <p:cNvSpPr txBox="1"/>
          <p:nvPr/>
        </p:nvSpPr>
        <p:spPr>
          <a:xfrm>
            <a:off x="830000" y="1760000"/>
            <a:ext cx="15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Faixa de tempo</a:t>
            </a:r>
            <a:endParaRPr/>
          </a:p>
        </p:txBody>
      </p:sp>
      <p:sp>
        <p:nvSpPr>
          <p:cNvPr id="714" name="Google Shape;714;p45"/>
          <p:cNvSpPr/>
          <p:nvPr/>
        </p:nvSpPr>
        <p:spPr>
          <a:xfrm>
            <a:off x="2450000" y="1700000"/>
            <a:ext cx="1400000" cy="3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5"/>
          <p:cNvSpPr txBox="1"/>
          <p:nvPr/>
        </p:nvSpPr>
        <p:spPr>
          <a:xfrm>
            <a:off x="2530000" y="1760000"/>
            <a:ext cx="12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Casos</a:t>
            </a:r>
            <a:endParaRPr/>
          </a:p>
        </p:txBody>
      </p:sp>
      <p:sp>
        <p:nvSpPr>
          <p:cNvPr id="716" name="Google Shape;716;p45"/>
          <p:cNvSpPr/>
          <p:nvPr/>
        </p:nvSpPr>
        <p:spPr>
          <a:xfrm>
            <a:off x="3850000" y="1700000"/>
            <a:ext cx="1400000" cy="3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45"/>
          <p:cNvSpPr txBox="1"/>
          <p:nvPr/>
        </p:nvSpPr>
        <p:spPr>
          <a:xfrm>
            <a:off x="3930000" y="1760000"/>
            <a:ext cx="12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Valor médio</a:t>
            </a:r>
            <a:endParaRPr/>
          </a:p>
        </p:txBody>
      </p:sp>
      <p:sp>
        <p:nvSpPr>
          <p:cNvPr id="718" name="Google Shape;718;p45"/>
          <p:cNvSpPr/>
          <p:nvPr/>
        </p:nvSpPr>
        <p:spPr>
          <a:xfrm>
            <a:off x="5250000" y="1700000"/>
            <a:ext cx="1450000" cy="3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45"/>
          <p:cNvSpPr txBox="1"/>
          <p:nvPr/>
        </p:nvSpPr>
        <p:spPr>
          <a:xfrm>
            <a:off x="5330000" y="176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Var. vs. média</a:t>
            </a:r>
            <a:endParaRPr/>
          </a:p>
        </p:txBody>
      </p:sp>
      <p:sp>
        <p:nvSpPr>
          <p:cNvPr id="720" name="Google Shape;720;p45"/>
          <p:cNvSpPr/>
          <p:nvPr/>
        </p:nvSpPr>
        <p:spPr>
          <a:xfrm>
            <a:off x="750000" y="2060000"/>
            <a:ext cx="1700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5"/>
          <p:cNvSpPr txBox="1"/>
          <p:nvPr/>
        </p:nvSpPr>
        <p:spPr>
          <a:xfrm>
            <a:off x="830000" y="2120000"/>
            <a:ext cx="15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Até 18 meses</a:t>
            </a:r>
            <a:endParaRPr/>
          </a:p>
        </p:txBody>
      </p:sp>
      <p:sp>
        <p:nvSpPr>
          <p:cNvPr id="722" name="Google Shape;722;p45"/>
          <p:cNvSpPr/>
          <p:nvPr/>
        </p:nvSpPr>
        <p:spPr>
          <a:xfrm>
            <a:off x="2450000" y="2060000"/>
            <a:ext cx="1400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5"/>
          <p:cNvSpPr txBox="1"/>
          <p:nvPr/>
        </p:nvSpPr>
        <p:spPr>
          <a:xfrm>
            <a:off x="2530000" y="2120000"/>
            <a:ext cx="12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412</a:t>
            </a:r>
            <a:endParaRPr/>
          </a:p>
        </p:txBody>
      </p:sp>
      <p:sp>
        <p:nvSpPr>
          <p:cNvPr id="724" name="Google Shape;724;p45"/>
          <p:cNvSpPr/>
          <p:nvPr/>
        </p:nvSpPr>
        <p:spPr>
          <a:xfrm>
            <a:off x="3850000" y="2060000"/>
            <a:ext cx="1400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45"/>
          <p:cNvSpPr txBox="1"/>
          <p:nvPr/>
        </p:nvSpPr>
        <p:spPr>
          <a:xfrm>
            <a:off x="3930000" y="2120000"/>
            <a:ext cx="12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R$ 11.300</a:t>
            </a:r>
            <a:endParaRPr/>
          </a:p>
        </p:txBody>
      </p:sp>
      <p:sp>
        <p:nvSpPr>
          <p:cNvPr id="726" name="Google Shape;726;p45"/>
          <p:cNvSpPr/>
          <p:nvPr/>
        </p:nvSpPr>
        <p:spPr>
          <a:xfrm>
            <a:off x="5250000" y="2060000"/>
            <a:ext cx="1450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5"/>
          <p:cNvSpPr txBox="1"/>
          <p:nvPr/>
        </p:nvSpPr>
        <p:spPr>
          <a:xfrm>
            <a:off x="5330000" y="212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7D4F"/>
                </a:solidFill>
                <a:latin typeface="Arial Black"/>
                <a:ea typeface="Arial Black"/>
                <a:cs typeface="Arial Black"/>
                <a:sym typeface="Arial Black"/>
              </a:rPr>
              <a:t>-32%</a:t>
            </a:r>
            <a:endParaRPr/>
          </a:p>
        </p:txBody>
      </p:sp>
      <p:sp>
        <p:nvSpPr>
          <p:cNvPr id="728" name="Google Shape;728;p45"/>
          <p:cNvSpPr/>
          <p:nvPr/>
        </p:nvSpPr>
        <p:spPr>
          <a:xfrm>
            <a:off x="750000" y="2420000"/>
            <a:ext cx="1700000" cy="3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5"/>
          <p:cNvSpPr txBox="1"/>
          <p:nvPr/>
        </p:nvSpPr>
        <p:spPr>
          <a:xfrm>
            <a:off x="830000" y="2480000"/>
            <a:ext cx="15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19 a 36 meses</a:t>
            </a:r>
            <a:endParaRPr/>
          </a:p>
        </p:txBody>
      </p:sp>
      <p:sp>
        <p:nvSpPr>
          <p:cNvPr id="730" name="Google Shape;730;p45"/>
          <p:cNvSpPr/>
          <p:nvPr/>
        </p:nvSpPr>
        <p:spPr>
          <a:xfrm>
            <a:off x="2450000" y="2420000"/>
            <a:ext cx="1400000" cy="3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5"/>
          <p:cNvSpPr txBox="1"/>
          <p:nvPr/>
        </p:nvSpPr>
        <p:spPr>
          <a:xfrm>
            <a:off x="2530000" y="2480000"/>
            <a:ext cx="12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528</a:t>
            </a:r>
            <a:endParaRPr/>
          </a:p>
        </p:txBody>
      </p:sp>
      <p:sp>
        <p:nvSpPr>
          <p:cNvPr id="732" name="Google Shape;732;p45"/>
          <p:cNvSpPr/>
          <p:nvPr/>
        </p:nvSpPr>
        <p:spPr>
          <a:xfrm>
            <a:off x="3850000" y="2420000"/>
            <a:ext cx="1400000" cy="3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5"/>
          <p:cNvSpPr txBox="1"/>
          <p:nvPr/>
        </p:nvSpPr>
        <p:spPr>
          <a:xfrm>
            <a:off x="3930000" y="2480000"/>
            <a:ext cx="12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R$ 16.700</a:t>
            </a:r>
            <a:endParaRPr/>
          </a:p>
        </p:txBody>
      </p:sp>
      <p:sp>
        <p:nvSpPr>
          <p:cNvPr id="734" name="Google Shape;734;p45"/>
          <p:cNvSpPr/>
          <p:nvPr/>
        </p:nvSpPr>
        <p:spPr>
          <a:xfrm>
            <a:off x="5250000" y="2420000"/>
            <a:ext cx="1450000" cy="3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45"/>
          <p:cNvSpPr txBox="1"/>
          <p:nvPr/>
        </p:nvSpPr>
        <p:spPr>
          <a:xfrm>
            <a:off x="5330000" y="248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 Black"/>
                <a:ea typeface="Arial Black"/>
                <a:cs typeface="Arial Black"/>
                <a:sym typeface="Arial Black"/>
              </a:rPr>
              <a:t>Base</a:t>
            </a:r>
            <a:endParaRPr/>
          </a:p>
        </p:txBody>
      </p:sp>
      <p:sp>
        <p:nvSpPr>
          <p:cNvPr id="736" name="Google Shape;736;p45"/>
          <p:cNvSpPr/>
          <p:nvPr/>
        </p:nvSpPr>
        <p:spPr>
          <a:xfrm>
            <a:off x="750000" y="2780000"/>
            <a:ext cx="1700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5"/>
          <p:cNvSpPr txBox="1"/>
          <p:nvPr/>
        </p:nvSpPr>
        <p:spPr>
          <a:xfrm>
            <a:off x="830000" y="2840000"/>
            <a:ext cx="15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37 a 60 meses</a:t>
            </a:r>
            <a:endParaRPr/>
          </a:p>
        </p:txBody>
      </p:sp>
      <p:sp>
        <p:nvSpPr>
          <p:cNvPr id="738" name="Google Shape;738;p45"/>
          <p:cNvSpPr/>
          <p:nvPr/>
        </p:nvSpPr>
        <p:spPr>
          <a:xfrm>
            <a:off x="2450000" y="2780000"/>
            <a:ext cx="1400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5"/>
          <p:cNvSpPr txBox="1"/>
          <p:nvPr/>
        </p:nvSpPr>
        <p:spPr>
          <a:xfrm>
            <a:off x="2530000" y="2840000"/>
            <a:ext cx="12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241</a:t>
            </a:r>
            <a:endParaRPr/>
          </a:p>
        </p:txBody>
      </p:sp>
      <p:sp>
        <p:nvSpPr>
          <p:cNvPr id="740" name="Google Shape;740;p45"/>
          <p:cNvSpPr/>
          <p:nvPr/>
        </p:nvSpPr>
        <p:spPr>
          <a:xfrm>
            <a:off x="3850000" y="2780000"/>
            <a:ext cx="1400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5"/>
          <p:cNvSpPr txBox="1"/>
          <p:nvPr/>
        </p:nvSpPr>
        <p:spPr>
          <a:xfrm>
            <a:off x="3930000" y="2840000"/>
            <a:ext cx="12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R$ 24.900</a:t>
            </a:r>
            <a:endParaRPr/>
          </a:p>
        </p:txBody>
      </p:sp>
      <p:sp>
        <p:nvSpPr>
          <p:cNvPr id="742" name="Google Shape;742;p45"/>
          <p:cNvSpPr/>
          <p:nvPr/>
        </p:nvSpPr>
        <p:spPr>
          <a:xfrm>
            <a:off x="5250000" y="2780000"/>
            <a:ext cx="1450000" cy="3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5"/>
          <p:cNvSpPr txBox="1"/>
          <p:nvPr/>
        </p:nvSpPr>
        <p:spPr>
          <a:xfrm>
            <a:off x="5330000" y="284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+49%</a:t>
            </a:r>
            <a:endParaRPr/>
          </a:p>
        </p:txBody>
      </p:sp>
      <p:sp>
        <p:nvSpPr>
          <p:cNvPr id="744" name="Google Shape;744;p45"/>
          <p:cNvSpPr/>
          <p:nvPr/>
        </p:nvSpPr>
        <p:spPr>
          <a:xfrm>
            <a:off x="750000" y="3140000"/>
            <a:ext cx="1700000" cy="3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45"/>
          <p:cNvSpPr txBox="1"/>
          <p:nvPr/>
        </p:nvSpPr>
        <p:spPr>
          <a:xfrm>
            <a:off x="830000" y="3200000"/>
            <a:ext cx="15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Acima de 60 meses</a:t>
            </a:r>
            <a:endParaRPr/>
          </a:p>
        </p:txBody>
      </p:sp>
      <p:sp>
        <p:nvSpPr>
          <p:cNvPr id="746" name="Google Shape;746;p45"/>
          <p:cNvSpPr/>
          <p:nvPr/>
        </p:nvSpPr>
        <p:spPr>
          <a:xfrm>
            <a:off x="2450000" y="3140000"/>
            <a:ext cx="1400000" cy="3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5"/>
          <p:cNvSpPr txBox="1"/>
          <p:nvPr/>
        </p:nvSpPr>
        <p:spPr>
          <a:xfrm>
            <a:off x="2530000" y="3200000"/>
            <a:ext cx="12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66</a:t>
            </a:r>
            <a:endParaRPr/>
          </a:p>
        </p:txBody>
      </p:sp>
      <p:sp>
        <p:nvSpPr>
          <p:cNvPr id="748" name="Google Shape;748;p45"/>
          <p:cNvSpPr/>
          <p:nvPr/>
        </p:nvSpPr>
        <p:spPr>
          <a:xfrm>
            <a:off x="3850000" y="3140000"/>
            <a:ext cx="1400000" cy="3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45"/>
          <p:cNvSpPr txBox="1"/>
          <p:nvPr/>
        </p:nvSpPr>
        <p:spPr>
          <a:xfrm>
            <a:off x="3930000" y="3200000"/>
            <a:ext cx="124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R$ 41.200</a:t>
            </a:r>
            <a:endParaRPr/>
          </a:p>
        </p:txBody>
      </p:sp>
      <p:sp>
        <p:nvSpPr>
          <p:cNvPr id="750" name="Google Shape;750;p45"/>
          <p:cNvSpPr/>
          <p:nvPr/>
        </p:nvSpPr>
        <p:spPr>
          <a:xfrm>
            <a:off x="5250000" y="3140000"/>
            <a:ext cx="1450000" cy="3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45"/>
          <p:cNvSpPr txBox="1"/>
          <p:nvPr/>
        </p:nvSpPr>
        <p:spPr>
          <a:xfrm>
            <a:off x="5330000" y="3200000"/>
            <a:ext cx="129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+147%</a:t>
            </a:r>
            <a:endParaRPr/>
          </a:p>
        </p:txBody>
      </p:sp>
      <p:sp>
        <p:nvSpPr>
          <p:cNvPr id="752" name="Google Shape;752;p45"/>
          <p:cNvSpPr/>
          <p:nvPr/>
        </p:nvSpPr>
        <p:spPr>
          <a:xfrm>
            <a:off x="750000" y="3750000"/>
            <a:ext cx="5950000" cy="6000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45"/>
          <p:cNvSpPr txBox="1"/>
          <p:nvPr/>
        </p:nvSpPr>
        <p:spPr>
          <a:xfrm>
            <a:off x="900000" y="3830000"/>
            <a:ext cx="565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Insight: </a:t>
            </a: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casos que duram mais saem mais caros. A janela ótima para acordo é entre 19 e 36 meses, antes da escalada de valor observada na cauda longa.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6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Resultado: três decisões objetivas</a:t>
            </a:r>
            <a:endParaRPr/>
          </a:p>
        </p:txBody>
      </p:sp>
      <p:sp>
        <p:nvSpPr>
          <p:cNvPr id="759" name="Google Shape;759;p46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Da análise para a contabilidade, a estratégia e a operação</a:t>
            </a:r>
            <a:endParaRPr/>
          </a:p>
        </p:txBody>
      </p:sp>
      <p:sp>
        <p:nvSpPr>
          <p:cNvPr id="760" name="Google Shape;760;p46"/>
          <p:cNvSpPr/>
          <p:nvPr/>
        </p:nvSpPr>
        <p:spPr>
          <a:xfrm>
            <a:off x="750000" y="1700000"/>
            <a:ext cx="1900000" cy="21500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46"/>
          <p:cNvSpPr txBox="1"/>
          <p:nvPr/>
        </p:nvSpPr>
        <p:spPr>
          <a:xfrm>
            <a:off x="830000" y="1900000"/>
            <a:ext cx="1740000" cy="5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R$ 12,3 mi</a:t>
            </a:r>
            <a:endParaRPr/>
          </a:p>
        </p:txBody>
      </p:sp>
      <p:sp>
        <p:nvSpPr>
          <p:cNvPr id="762" name="Google Shape;762;p46"/>
          <p:cNvSpPr txBox="1"/>
          <p:nvPr/>
        </p:nvSpPr>
        <p:spPr>
          <a:xfrm>
            <a:off x="850000" y="2550000"/>
            <a:ext cx="17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Provisão recalibrada</a:t>
            </a:r>
            <a:endParaRPr/>
          </a:p>
        </p:txBody>
      </p:sp>
      <p:sp>
        <p:nvSpPr>
          <p:cNvPr id="763" name="Google Shape;763;p46"/>
          <p:cNvSpPr txBox="1"/>
          <p:nvPr/>
        </p:nvSpPr>
        <p:spPr>
          <a:xfrm>
            <a:off x="900000" y="3000000"/>
            <a:ext cx="16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Redução de R$ 5,7 mi com base em risco efetivo por vara, validada pela auditoria.</a:t>
            </a:r>
            <a:endParaRPr/>
          </a:p>
        </p:txBody>
      </p:sp>
      <p:sp>
        <p:nvSpPr>
          <p:cNvPr id="764" name="Google Shape;764;p46"/>
          <p:cNvSpPr/>
          <p:nvPr/>
        </p:nvSpPr>
        <p:spPr>
          <a:xfrm>
            <a:off x="2800000" y="1700000"/>
            <a:ext cx="1900000" cy="21500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46"/>
          <p:cNvSpPr txBox="1"/>
          <p:nvPr/>
        </p:nvSpPr>
        <p:spPr>
          <a:xfrm>
            <a:off x="2880000" y="1900000"/>
            <a:ext cx="1740000" cy="5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3 varas</a:t>
            </a:r>
            <a:endParaRPr/>
          </a:p>
        </p:txBody>
      </p:sp>
      <p:sp>
        <p:nvSpPr>
          <p:cNvPr id="766" name="Google Shape;766;p46"/>
          <p:cNvSpPr txBox="1"/>
          <p:nvPr/>
        </p:nvSpPr>
        <p:spPr>
          <a:xfrm>
            <a:off x="2900000" y="2550000"/>
            <a:ext cx="17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Foro priorizado</a:t>
            </a:r>
            <a:endParaRPr/>
          </a:p>
        </p:txBody>
      </p:sp>
      <p:sp>
        <p:nvSpPr>
          <p:cNvPr id="767" name="Google Shape;767;p46"/>
          <p:cNvSpPr txBox="1"/>
          <p:nvPr/>
        </p:nvSpPr>
        <p:spPr>
          <a:xfrm>
            <a:off x="2950000" y="3000000"/>
            <a:ext cx="16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Mapeamento das varas com taxa de êxito 50% acima da média orientou a distribuição.</a:t>
            </a:r>
            <a:endParaRPr/>
          </a:p>
        </p:txBody>
      </p:sp>
      <p:sp>
        <p:nvSpPr>
          <p:cNvPr id="768" name="Google Shape;768;p46"/>
          <p:cNvSpPr/>
          <p:nvPr/>
        </p:nvSpPr>
        <p:spPr>
          <a:xfrm>
            <a:off x="4850000" y="1700000"/>
            <a:ext cx="1900000" cy="21500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46"/>
          <p:cNvSpPr txBox="1"/>
          <p:nvPr/>
        </p:nvSpPr>
        <p:spPr>
          <a:xfrm>
            <a:off x="4930000" y="1900000"/>
            <a:ext cx="1740000" cy="5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19 a 36 meses</a:t>
            </a:r>
            <a:endParaRPr/>
          </a:p>
        </p:txBody>
      </p:sp>
      <p:sp>
        <p:nvSpPr>
          <p:cNvPr id="770" name="Google Shape;770;p46"/>
          <p:cNvSpPr txBox="1"/>
          <p:nvPr/>
        </p:nvSpPr>
        <p:spPr>
          <a:xfrm>
            <a:off x="4950000" y="2550000"/>
            <a:ext cx="17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Janela de acordo</a:t>
            </a:r>
            <a:endParaRPr/>
          </a:p>
        </p:txBody>
      </p:sp>
      <p:sp>
        <p:nvSpPr>
          <p:cNvPr id="771" name="Google Shape;771;p46"/>
          <p:cNvSpPr txBox="1"/>
          <p:nvPr/>
        </p:nvSpPr>
        <p:spPr>
          <a:xfrm>
            <a:off x="5000000" y="3000000"/>
            <a:ext cx="16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Política de proposta ativa nessa faixa, evitando a cauda longa de cases acima de 60 meses.</a:t>
            </a:r>
            <a:endParaRPr/>
          </a:p>
        </p:txBody>
      </p:sp>
      <p:sp>
        <p:nvSpPr>
          <p:cNvPr id="772" name="Google Shape;772;p46"/>
          <p:cNvSpPr/>
          <p:nvPr/>
        </p:nvSpPr>
        <p:spPr>
          <a:xfrm>
            <a:off x="750000" y="4000000"/>
            <a:ext cx="5950000" cy="380000"/>
          </a:xfrm>
          <a:prstGeom prst="roundRect">
            <a:avLst>
              <a:gd fmla="val 16667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6"/>
          <p:cNvSpPr txBox="1"/>
          <p:nvPr/>
        </p:nvSpPr>
        <p:spPr>
          <a:xfrm>
            <a:off x="900000" y="4010000"/>
            <a:ext cx="56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Conclusão do case: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jurimetria não substituiu a advocacia, mas deu ao sócio dados para defender cada decisão diante do board e da auditoria.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5"/>
          <p:cNvSpPr txBox="1"/>
          <p:nvPr/>
        </p:nvSpPr>
        <p:spPr>
          <a:xfrm>
            <a:off x="1097275" y="900000"/>
            <a:ext cx="18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35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Fundamentos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35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35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População, amostra e tipos de variáveis para o operador do Direito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36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População vs. Amostra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36"/>
          <p:cNvSpPr txBox="1"/>
          <p:nvPr/>
        </p:nvSpPr>
        <p:spPr>
          <a:xfrm>
            <a:off x="750000" y="1145000"/>
            <a:ext cx="69801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O ponto de partida de qualquer análise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36"/>
          <p:cNvSpPr/>
          <p:nvPr/>
        </p:nvSpPr>
        <p:spPr>
          <a:xfrm>
            <a:off x="750000" y="1583302"/>
            <a:ext cx="3343500" cy="15654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36"/>
          <p:cNvSpPr txBox="1"/>
          <p:nvPr/>
        </p:nvSpPr>
        <p:spPr>
          <a:xfrm>
            <a:off x="925974" y="1739838"/>
            <a:ext cx="29916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POPULAÇÃO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6"/>
          <p:cNvSpPr txBox="1"/>
          <p:nvPr/>
        </p:nvSpPr>
        <p:spPr>
          <a:xfrm>
            <a:off x="925974" y="2104783"/>
            <a:ext cx="29916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conjunto completo de casos que se quer estudar. Ex.: todos os julgados de locação do TJSP entre 2010 e 2024.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36"/>
          <p:cNvSpPr/>
          <p:nvPr/>
        </p:nvSpPr>
        <p:spPr>
          <a:xfrm>
            <a:off x="4328147" y="1583302"/>
            <a:ext cx="3343500" cy="15654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36"/>
          <p:cNvSpPr txBox="1"/>
          <p:nvPr/>
        </p:nvSpPr>
        <p:spPr>
          <a:xfrm>
            <a:off x="4504122" y="1739838"/>
            <a:ext cx="29916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AMOSTRA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36"/>
          <p:cNvSpPr txBox="1"/>
          <p:nvPr/>
        </p:nvSpPr>
        <p:spPr>
          <a:xfrm>
            <a:off x="4504122" y="2082355"/>
            <a:ext cx="29916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Subconjunto da população usado quando estudar tudo é inviável. Ex.: ler 300 processos de uma carteira de 10.000.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36"/>
          <p:cNvSpPr/>
          <p:nvPr/>
        </p:nvSpPr>
        <p:spPr>
          <a:xfrm>
            <a:off x="750000" y="3250000"/>
            <a:ext cx="6921600" cy="800100"/>
          </a:xfrm>
          <a:prstGeom prst="roundRect">
            <a:avLst>
              <a:gd fmla="val 16667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36"/>
          <p:cNvSpPr txBox="1"/>
          <p:nvPr/>
        </p:nvSpPr>
        <p:spPr>
          <a:xfrm>
            <a:off x="924495" y="3320000"/>
            <a:ext cx="65727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Regra de ouro: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toda amostra precisa ser representativa da população. Amostra enviesada produz conclusão enviesada, por mais sofisticado que seja o cálculo.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36"/>
          <p:cNvSpPr txBox="1"/>
          <p:nvPr/>
        </p:nvSpPr>
        <p:spPr>
          <a:xfrm>
            <a:off x="750000" y="4400000"/>
            <a:ext cx="595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Wheelan (2016).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36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d94641431f_0_145"/>
          <p:cNvSpPr txBox="1"/>
          <p:nvPr/>
        </p:nvSpPr>
        <p:spPr>
          <a:xfrm>
            <a:off x="750000" y="500000"/>
            <a:ext cx="594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Exemplo de amostra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g3d94641431f_0_145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g3d94641431f_0_145"/>
          <p:cNvSpPr txBox="1"/>
          <p:nvPr/>
        </p:nvSpPr>
        <p:spPr>
          <a:xfrm>
            <a:off x="750000" y="1379950"/>
            <a:ext cx="66438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300" lIns="38300" spcFirstLastPara="1" rIns="38300" wrap="square" tIns="38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0"/>
              <a:buFont typeface="Arial"/>
              <a:buNone/>
            </a:pPr>
            <a:r>
              <a:rPr b="1" i="0" lang="en-US" sz="134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Contexto: </a:t>
            </a:r>
            <a:r>
              <a:rPr b="0" i="0" lang="en-US" sz="134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Base de dados com todos os recursos publicados no STJ de janeiro à julho de 2025</a:t>
            </a:r>
            <a:endParaRPr b="0" i="0" sz="1340" u="none" cap="none" strike="noStrike">
              <a:solidFill>
                <a:srgbClr val="1B2A4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801" lvl="0" marL="19143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40"/>
              <a:buFont typeface="Arial"/>
              <a:buChar char="●"/>
            </a:pPr>
            <a:r>
              <a:rPr b="0" i="0" lang="en-US" sz="134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18.790 recursos julgados.</a:t>
            </a:r>
            <a:endParaRPr b="0" i="0" sz="1340" u="none" cap="none" strike="noStrike">
              <a:solidFill>
                <a:srgbClr val="1B2A4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801" lvl="0" marL="19143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40"/>
              <a:buFont typeface="Arial"/>
              <a:buChar char="●"/>
            </a:pPr>
            <a:r>
              <a:rPr b="0" i="0" lang="en-US" sz="134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Filtro das três UFs mais representativas (com maior volume de recursos julgados no STJ).</a:t>
            </a:r>
            <a:endParaRPr b="1" i="0" sz="1340" u="none" cap="none" strike="noStrike">
              <a:solidFill>
                <a:srgbClr val="1B2A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5" name="Google Shape;805;g3d94641431f_0_1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6355" y="2904529"/>
            <a:ext cx="1618011" cy="1127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g3d94641431f_0_1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4469" y="2924142"/>
            <a:ext cx="1735684" cy="108848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g3d94641431f_0_145"/>
          <p:cNvSpPr txBox="1"/>
          <p:nvPr/>
        </p:nvSpPr>
        <p:spPr>
          <a:xfrm>
            <a:off x="2073463" y="2500237"/>
            <a:ext cx="10839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4125" lIns="94125" spcFirstLastPara="1" rIns="94125" wrap="square" tIns="94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1"/>
              <a:buFont typeface="Arial"/>
              <a:buNone/>
            </a:pPr>
            <a:r>
              <a:rPr b="0" i="0" lang="en-US" sz="139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População</a:t>
            </a:r>
            <a:endParaRPr b="0" i="0" sz="14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g3d94641431f_0_145"/>
          <p:cNvSpPr txBox="1"/>
          <p:nvPr/>
        </p:nvSpPr>
        <p:spPr>
          <a:xfrm>
            <a:off x="4353302" y="2500239"/>
            <a:ext cx="16182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4125" lIns="94125" spcFirstLastPara="1" rIns="94125" wrap="square" tIns="94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1"/>
              <a:buFont typeface="Arial"/>
              <a:buNone/>
            </a:pPr>
            <a:r>
              <a:rPr b="0" i="0" lang="en-US" sz="139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Amostra aelatória</a:t>
            </a:r>
            <a:endParaRPr b="0" i="0" sz="14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7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Uma Analogia Jurídica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37"/>
          <p:cNvSpPr txBox="1"/>
          <p:nvPr/>
        </p:nvSpPr>
        <p:spPr>
          <a:xfrm>
            <a:off x="750000" y="1150575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Amostra está para a população como prova está para a pretensão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37"/>
          <p:cNvSpPr/>
          <p:nvPr/>
        </p:nvSpPr>
        <p:spPr>
          <a:xfrm>
            <a:off x="750000" y="1570575"/>
            <a:ext cx="2850000" cy="21999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37"/>
          <p:cNvSpPr txBox="1"/>
          <p:nvPr/>
        </p:nvSpPr>
        <p:spPr>
          <a:xfrm>
            <a:off x="900000" y="1720575"/>
            <a:ext cx="255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NO DIREITO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37"/>
          <p:cNvSpPr txBox="1"/>
          <p:nvPr/>
        </p:nvSpPr>
        <p:spPr>
          <a:xfrm>
            <a:off x="900000" y="2170575"/>
            <a:ext cx="2550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juiz decide sobre fatos que, em regra, não presenciou.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25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prova funciona como recorte confiável da realidade.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25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Prova mal produzida gera decisão mal fundamentada.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37"/>
          <p:cNvSpPr/>
          <p:nvPr/>
        </p:nvSpPr>
        <p:spPr>
          <a:xfrm>
            <a:off x="3800000" y="1570575"/>
            <a:ext cx="2850000" cy="21999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37"/>
          <p:cNvSpPr txBox="1"/>
          <p:nvPr/>
        </p:nvSpPr>
        <p:spPr>
          <a:xfrm>
            <a:off x="3950000" y="1720575"/>
            <a:ext cx="255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NA JURIMETRIA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37"/>
          <p:cNvSpPr txBox="1"/>
          <p:nvPr/>
        </p:nvSpPr>
        <p:spPr>
          <a:xfrm>
            <a:off x="3950000" y="2170575"/>
            <a:ext cx="2550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analista conclui sobre casos que não leu um a 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25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amostra funciona como recorte confiável da carteira.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250"/>
              </a:spcBef>
              <a:spcAft>
                <a:spcPts val="0"/>
              </a:spcAft>
              <a:buClr>
                <a:srgbClr val="E8A317"/>
              </a:buClr>
              <a:buSzPts val="1200"/>
              <a:buFont typeface="Arial"/>
              <a:buChar char="■"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Amostra mal colhida gera conclusão mal fundamentada.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37"/>
          <p:cNvSpPr txBox="1"/>
          <p:nvPr/>
        </p:nvSpPr>
        <p:spPr>
          <a:xfrm>
            <a:off x="750000" y="4094375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1" lang="en-US" sz="13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Nos dois casos, ônus da qualidade do recorte recai sobre quem decide.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37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38"/>
          <p:cNvSpPr txBox="1"/>
          <p:nvPr/>
        </p:nvSpPr>
        <p:spPr>
          <a:xfrm>
            <a:off x="750000" y="500000"/>
            <a:ext cx="59499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Tipos de Variáveis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38"/>
          <p:cNvSpPr txBox="1"/>
          <p:nvPr/>
        </p:nvSpPr>
        <p:spPr>
          <a:xfrm>
            <a:off x="750000" y="1187975"/>
            <a:ext cx="59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Três famílias que cobrem quase todo dado jurídico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38"/>
          <p:cNvSpPr/>
          <p:nvPr/>
        </p:nvSpPr>
        <p:spPr>
          <a:xfrm>
            <a:off x="750000" y="1533215"/>
            <a:ext cx="6950400" cy="890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38"/>
          <p:cNvSpPr txBox="1"/>
          <p:nvPr/>
        </p:nvSpPr>
        <p:spPr>
          <a:xfrm>
            <a:off x="866814" y="1613215"/>
            <a:ext cx="1869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Categóricas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38"/>
          <p:cNvSpPr txBox="1"/>
          <p:nvPr/>
        </p:nvSpPr>
        <p:spPr>
          <a:xfrm>
            <a:off x="866814" y="1881090"/>
            <a:ext cx="1950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Classes sem ordem natural ou com ordem fixa.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38"/>
          <p:cNvSpPr txBox="1"/>
          <p:nvPr/>
        </p:nvSpPr>
        <p:spPr>
          <a:xfrm>
            <a:off x="2948710" y="1693215"/>
            <a:ext cx="4731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Exemplos no XY&amp;A: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38"/>
          <p:cNvSpPr txBox="1"/>
          <p:nvPr/>
        </p:nvSpPr>
        <p:spPr>
          <a:xfrm>
            <a:off x="2948710" y="1973215"/>
            <a:ext cx="4731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Classe, comarca, sentenca, assunto.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8"/>
          <p:cNvSpPr/>
          <p:nvPr/>
        </p:nvSpPr>
        <p:spPr>
          <a:xfrm>
            <a:off x="750000" y="2445739"/>
            <a:ext cx="6950400" cy="89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38"/>
          <p:cNvSpPr txBox="1"/>
          <p:nvPr/>
        </p:nvSpPr>
        <p:spPr>
          <a:xfrm>
            <a:off x="866814" y="2525739"/>
            <a:ext cx="1869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Numéricas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38"/>
          <p:cNvSpPr txBox="1"/>
          <p:nvPr/>
        </p:nvSpPr>
        <p:spPr>
          <a:xfrm>
            <a:off x="866825" y="2829364"/>
            <a:ext cx="1950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Valores que podem ser somados, comparados, medidos.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38"/>
          <p:cNvSpPr txBox="1"/>
          <p:nvPr/>
        </p:nvSpPr>
        <p:spPr>
          <a:xfrm>
            <a:off x="2948710" y="2605739"/>
            <a:ext cx="4731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Exemplos no XY&amp;A: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38"/>
          <p:cNvSpPr txBox="1"/>
          <p:nvPr/>
        </p:nvSpPr>
        <p:spPr>
          <a:xfrm>
            <a:off x="2948710" y="2885739"/>
            <a:ext cx="4731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Valor da causa, valor do aluguel, valor corrigido pelo juiz.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38"/>
          <p:cNvSpPr/>
          <p:nvPr/>
        </p:nvSpPr>
        <p:spPr>
          <a:xfrm>
            <a:off x="750000" y="3447975"/>
            <a:ext cx="6950400" cy="890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38"/>
          <p:cNvSpPr txBox="1"/>
          <p:nvPr/>
        </p:nvSpPr>
        <p:spPr>
          <a:xfrm>
            <a:off x="866814" y="3527975"/>
            <a:ext cx="1869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Temporais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38"/>
          <p:cNvSpPr txBox="1"/>
          <p:nvPr/>
        </p:nvSpPr>
        <p:spPr>
          <a:xfrm>
            <a:off x="866814" y="3907975"/>
            <a:ext cx="1869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Datas e intervalos de tempo.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38"/>
          <p:cNvSpPr txBox="1"/>
          <p:nvPr/>
        </p:nvSpPr>
        <p:spPr>
          <a:xfrm>
            <a:off x="2939977" y="3607975"/>
            <a:ext cx="4731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Exemplos no XY&amp;A: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38"/>
          <p:cNvSpPr txBox="1"/>
          <p:nvPr/>
        </p:nvSpPr>
        <p:spPr>
          <a:xfrm>
            <a:off x="2939977" y="3887975"/>
            <a:ext cx="4731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 de distribuição, data da sentença, data do trânsito, tempo até sentença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38"/>
          <p:cNvSpPr txBox="1"/>
          <p:nvPr/>
        </p:nvSpPr>
        <p:spPr>
          <a:xfrm>
            <a:off x="750000" y="4400000"/>
            <a:ext cx="595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Wheelan (2016).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38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39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Variáveis na Base XY&amp;A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39"/>
          <p:cNvSpPr txBox="1"/>
          <p:nvPr/>
        </p:nvSpPr>
        <p:spPr>
          <a:xfrm>
            <a:off x="750000" y="1145000"/>
            <a:ext cx="59499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Aplicando a classificação à carteira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39"/>
          <p:cNvSpPr/>
          <p:nvPr/>
        </p:nvSpPr>
        <p:spPr>
          <a:xfrm>
            <a:off x="750000" y="1702662"/>
            <a:ext cx="1950000" cy="1919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39"/>
          <p:cNvSpPr/>
          <p:nvPr/>
        </p:nvSpPr>
        <p:spPr>
          <a:xfrm>
            <a:off x="750000" y="1702662"/>
            <a:ext cx="1950000" cy="306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39"/>
          <p:cNvSpPr txBox="1"/>
          <p:nvPr/>
        </p:nvSpPr>
        <p:spPr>
          <a:xfrm>
            <a:off x="850000" y="1764078"/>
            <a:ext cx="17499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Categóricas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39"/>
          <p:cNvSpPr txBox="1"/>
          <p:nvPr/>
        </p:nvSpPr>
        <p:spPr>
          <a:xfrm>
            <a:off x="930000" y="2109546"/>
            <a:ext cx="1650000" cy="14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Tipo de 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Comarca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Sentença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Polo autor/réu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39"/>
          <p:cNvSpPr/>
          <p:nvPr/>
        </p:nvSpPr>
        <p:spPr>
          <a:xfrm>
            <a:off x="2820000" y="1702662"/>
            <a:ext cx="1950000" cy="1919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39"/>
          <p:cNvSpPr/>
          <p:nvPr/>
        </p:nvSpPr>
        <p:spPr>
          <a:xfrm>
            <a:off x="2820000" y="1702662"/>
            <a:ext cx="1950000" cy="306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39"/>
          <p:cNvSpPr txBox="1"/>
          <p:nvPr/>
        </p:nvSpPr>
        <p:spPr>
          <a:xfrm>
            <a:off x="2920000" y="1764078"/>
            <a:ext cx="17499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Numéricas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39"/>
          <p:cNvSpPr txBox="1"/>
          <p:nvPr/>
        </p:nvSpPr>
        <p:spPr>
          <a:xfrm>
            <a:off x="3000000" y="2109546"/>
            <a:ext cx="1650000" cy="14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Valor da causa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Valor do aluguel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Valor do aluguel  corrigido pelo juiz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39"/>
          <p:cNvSpPr/>
          <p:nvPr/>
        </p:nvSpPr>
        <p:spPr>
          <a:xfrm>
            <a:off x="4890000" y="1702662"/>
            <a:ext cx="1950000" cy="19191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39"/>
          <p:cNvSpPr/>
          <p:nvPr/>
        </p:nvSpPr>
        <p:spPr>
          <a:xfrm>
            <a:off x="4890000" y="1702662"/>
            <a:ext cx="1950000" cy="306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9"/>
          <p:cNvSpPr txBox="1"/>
          <p:nvPr/>
        </p:nvSpPr>
        <p:spPr>
          <a:xfrm>
            <a:off x="4990000" y="1764078"/>
            <a:ext cx="17499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Temporais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39"/>
          <p:cNvSpPr txBox="1"/>
          <p:nvPr/>
        </p:nvSpPr>
        <p:spPr>
          <a:xfrm>
            <a:off x="5070000" y="2109546"/>
            <a:ext cx="1650000" cy="14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 da distribuição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 da sentença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 do trânsito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5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Tempo até o trânsito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39"/>
          <p:cNvSpPr/>
          <p:nvPr/>
        </p:nvSpPr>
        <p:spPr>
          <a:xfrm>
            <a:off x="750000" y="4078050"/>
            <a:ext cx="5949900" cy="3999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39"/>
          <p:cNvSpPr txBox="1"/>
          <p:nvPr/>
        </p:nvSpPr>
        <p:spPr>
          <a:xfrm>
            <a:off x="900000" y="4108050"/>
            <a:ext cx="5649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Toda análise futura combina variáveis destas três famílias. Saber classificá-las é o primeiro passo.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39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41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Síntese do Bloco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41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Cinco pontos para levar para casa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41"/>
          <p:cNvSpPr/>
          <p:nvPr/>
        </p:nvSpPr>
        <p:spPr>
          <a:xfrm>
            <a:off x="750000" y="1750000"/>
            <a:ext cx="500000" cy="50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41"/>
          <p:cNvSpPr txBox="1"/>
          <p:nvPr/>
        </p:nvSpPr>
        <p:spPr>
          <a:xfrm>
            <a:off x="1350000" y="1810000"/>
            <a:ext cx="530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Jurimetria aplica ciência de dados ao Direito, com objetivos empíricos, quantitativos e aplicados.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41"/>
          <p:cNvSpPr/>
          <p:nvPr/>
        </p:nvSpPr>
        <p:spPr>
          <a:xfrm>
            <a:off x="750000" y="2320000"/>
            <a:ext cx="500000" cy="50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41"/>
          <p:cNvSpPr txBox="1"/>
          <p:nvPr/>
        </p:nvSpPr>
        <p:spPr>
          <a:xfrm>
            <a:off x="1350000" y="2380000"/>
            <a:ext cx="530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Dados não substituem a análise jurídica; eles fundamentam decisões de litígio, negociação, provisionamento e gestão.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41"/>
          <p:cNvSpPr/>
          <p:nvPr/>
        </p:nvSpPr>
        <p:spPr>
          <a:xfrm>
            <a:off x="750000" y="2890000"/>
            <a:ext cx="500000" cy="50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41"/>
          <p:cNvSpPr txBox="1"/>
          <p:nvPr/>
        </p:nvSpPr>
        <p:spPr>
          <a:xfrm>
            <a:off x="1350000" y="2950000"/>
            <a:ext cx="530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abordagem qualitativa responde pelo caso concreto; a quantitativa responde pela carteira.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41"/>
          <p:cNvSpPr/>
          <p:nvPr/>
        </p:nvSpPr>
        <p:spPr>
          <a:xfrm>
            <a:off x="750000" y="3460000"/>
            <a:ext cx="500000" cy="50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41"/>
          <p:cNvSpPr txBox="1"/>
          <p:nvPr/>
        </p:nvSpPr>
        <p:spPr>
          <a:xfrm>
            <a:off x="1350000" y="3520000"/>
            <a:ext cx="530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Toda análise começa por distinguir população, amostra e variáveis categóricas, numéricas e temporais.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41"/>
          <p:cNvSpPr/>
          <p:nvPr/>
        </p:nvSpPr>
        <p:spPr>
          <a:xfrm>
            <a:off x="750000" y="4030000"/>
            <a:ext cx="500000" cy="50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41"/>
          <p:cNvSpPr txBox="1"/>
          <p:nvPr/>
        </p:nvSpPr>
        <p:spPr>
          <a:xfrm>
            <a:off x="1350000" y="4090000"/>
            <a:ext cx="530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Transformar uma dúvida jurídica em pergunta jurimétrica é a ponte que vamos atravessar no Bloco 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42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Ponte para o Bloco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4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O que vem a seguir, depois do intervalo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42"/>
          <p:cNvSpPr txBox="1"/>
          <p:nvPr/>
        </p:nvSpPr>
        <p:spPr>
          <a:xfrm>
            <a:off x="750000" y="1585100"/>
            <a:ext cx="15000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E8A317"/>
                </a:solidFill>
                <a:latin typeface="Arial Black"/>
                <a:ea typeface="Arial Black"/>
                <a:cs typeface="Arial Black"/>
                <a:sym typeface="Arial Black"/>
              </a:rPr>
              <a:t>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42"/>
          <p:cNvSpPr txBox="1"/>
          <p:nvPr/>
        </p:nvSpPr>
        <p:spPr>
          <a:xfrm>
            <a:off x="2200000" y="1780000"/>
            <a:ext cx="45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Do conceito à prática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42"/>
          <p:cNvSpPr txBox="1"/>
          <p:nvPr/>
        </p:nvSpPr>
        <p:spPr>
          <a:xfrm>
            <a:off x="2200000" y="2100000"/>
            <a:ext cx="45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No Bloco 2 vamos aplicar o que acabamos de discutir.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42"/>
          <p:cNvSpPr/>
          <p:nvPr/>
        </p:nvSpPr>
        <p:spPr>
          <a:xfrm>
            <a:off x="790000" y="265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42"/>
          <p:cNvSpPr txBox="1"/>
          <p:nvPr/>
        </p:nvSpPr>
        <p:spPr>
          <a:xfrm>
            <a:off x="1075695" y="2600000"/>
            <a:ext cx="2637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Justiça em Números e DataJud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42"/>
          <p:cNvSpPr txBox="1"/>
          <p:nvPr/>
        </p:nvSpPr>
        <p:spPr>
          <a:xfrm>
            <a:off x="3822762" y="2600000"/>
            <a:ext cx="3406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Panorama do uso de dados no Judiciário brasileiro.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42"/>
          <p:cNvSpPr/>
          <p:nvPr/>
        </p:nvSpPr>
        <p:spPr>
          <a:xfrm>
            <a:off x="790000" y="308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42"/>
          <p:cNvSpPr txBox="1"/>
          <p:nvPr/>
        </p:nvSpPr>
        <p:spPr>
          <a:xfrm>
            <a:off x="1075695" y="3030000"/>
            <a:ext cx="2637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Painéis do CNJ, na prática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42"/>
          <p:cNvSpPr txBox="1"/>
          <p:nvPr/>
        </p:nvSpPr>
        <p:spPr>
          <a:xfrm>
            <a:off x="3822762" y="3030000"/>
            <a:ext cx="3406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Demonstração ao vivo.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42"/>
          <p:cNvSpPr/>
          <p:nvPr/>
        </p:nvSpPr>
        <p:spPr>
          <a:xfrm>
            <a:off x="790000" y="351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42"/>
          <p:cNvSpPr txBox="1"/>
          <p:nvPr/>
        </p:nvSpPr>
        <p:spPr>
          <a:xfrm>
            <a:off x="1075695" y="3460000"/>
            <a:ext cx="2637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Leitura crítica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42"/>
          <p:cNvSpPr txBox="1"/>
          <p:nvPr/>
        </p:nvSpPr>
        <p:spPr>
          <a:xfrm>
            <a:off x="3822762" y="3460000"/>
            <a:ext cx="3406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Quais perguntas fazer ao olhar um número.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42"/>
          <p:cNvSpPr/>
          <p:nvPr/>
        </p:nvSpPr>
        <p:spPr>
          <a:xfrm>
            <a:off x="790000" y="394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42"/>
          <p:cNvSpPr txBox="1"/>
          <p:nvPr/>
        </p:nvSpPr>
        <p:spPr>
          <a:xfrm>
            <a:off x="1075695" y="3890000"/>
            <a:ext cx="2637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Dúvida → pergunta jurimétrica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42"/>
          <p:cNvSpPr txBox="1"/>
          <p:nvPr/>
        </p:nvSpPr>
        <p:spPr>
          <a:xfrm>
            <a:off x="3822762" y="3890000"/>
            <a:ext cx="3406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ponte fundamental que sustenta a Aula 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42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43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Referências do Bloco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43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Fontes citadas ao longo do conteúdo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43"/>
          <p:cNvSpPr txBox="1"/>
          <p:nvPr/>
        </p:nvSpPr>
        <p:spPr>
          <a:xfrm>
            <a:off x="750000" y="1780000"/>
            <a:ext cx="7025100" cy="27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NUNES, Marcelo Guedes. Jurimetria: como a estatística pode reinventar o Direito. 2. ed. São Paulo: Revista dos Tribunais, 2019.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ZABALA, Filipe Jaeger; SILVEIRA, Fabiano Feijó. Jurimetria: estatística aplicada ao Direito. Revista Direito e Liberdade, v. 16, n. 1, 2014.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KATZ, Daniel Martin; BOMMARITO, Michael J. Quantitative Legal Prediction. Emory Law Journal, v. 62, 2013.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WHEELAN, Charles. Estatística: o que é, para que serve, como funciona. Rio de Janeiro: Zahar, 2016.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E8A317"/>
              </a:buClr>
              <a:buSzPts val="1150"/>
              <a:buFont typeface="Arial"/>
              <a:buChar char="■"/>
            </a:pPr>
            <a:r>
              <a:rPr b="0" i="0" lang="en-US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ASSOCIAÇÃO BRASILEIRA DE JURIMETRIA (ABJ). Relatórios e publicações. Disponível em: abj.org.br.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43"/>
          <p:cNvSpPr txBox="1"/>
          <p:nvPr/>
        </p:nvSpPr>
        <p:spPr>
          <a:xfrm>
            <a:off x="750000" y="4300000"/>
            <a:ext cx="5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Leituras complementares estarão indicadas ao longo dos próximos blocos.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43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d94641431f_0_127"/>
          <p:cNvSpPr/>
          <p:nvPr/>
        </p:nvSpPr>
        <p:spPr>
          <a:xfrm>
            <a:off x="822960" y="914400"/>
            <a:ext cx="5486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Fim do Bloco 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g3d94641431f_0_127"/>
          <p:cNvSpPr/>
          <p:nvPr/>
        </p:nvSpPr>
        <p:spPr>
          <a:xfrm>
            <a:off x="822960" y="1691640"/>
            <a:ext cx="18288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g3d94641431f_0_127"/>
          <p:cNvSpPr/>
          <p:nvPr/>
        </p:nvSpPr>
        <p:spPr>
          <a:xfrm>
            <a:off x="822960" y="2391995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8A317"/>
                </a:solidFill>
                <a:latin typeface="Arial"/>
                <a:ea typeface="Arial"/>
                <a:cs typeface="Arial"/>
                <a:sym typeface="Arial"/>
              </a:rPr>
              <a:t>Intervalo de 15 minutos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g3d94641431f_0_127"/>
          <p:cNvSpPr txBox="1"/>
          <p:nvPr/>
        </p:nvSpPr>
        <p:spPr>
          <a:xfrm>
            <a:off x="822955" y="2849200"/>
            <a:ext cx="5486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No Bloco 2: painéis do Judiciário e a ponte para a pergunta jurimétrica.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2026-02-14T20:12:37Z</dcterms:created>
  <dc:creator>Bruno Daleffi</dc:creator>
</cp:coreProperties>
</file>