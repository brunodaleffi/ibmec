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y="5143500" cx="9144000"/>
  <p:notesSz cx="5143500" cy="9144000"/>
  <p:embeddedFontLst>
    <p:embeddedFont>
      <p:font typeface="Arial Black"/>
      <p:regular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60">
          <p15:clr>
            <a:srgbClr val="747775"/>
          </p15:clr>
        </p15:guide>
      </p15:sldGuideLst>
    </p:ext>
    <p:ext uri="GoogleSlidesCustomDataVersion2">
      <go:slidesCustomData xmlns:go="http://customooxmlschemas.google.com/" r:id="rId56" roundtripDataSignature="AMtx7mjHKX+VEjHDruAr8tuIzsWadxQT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font" Target="fonts/ArialBlack-regular.fntdata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d94641431f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g3d94641431f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" name="Google Shape;23;g3d94641431f_0_3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" name="Google Shape;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" name="Google Shape;8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1" name="Google Shape;13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" name="Google Shape;14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" name="Google Shape;19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1" name="Google Shape;21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9" name="Google Shape;21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5" name="Google Shape;29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8" name="Google Shape;31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3" name="Google Shape;37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1" name="Google Shape;38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d94641431f_0_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" name="Google Shape;403;g3d94641431f_0_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4" name="Google Shape;404;g3d94641431f_0_7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9" name="Google Shape;41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0" name="Google Shape;440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d94641431f_0_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g3d94641431f_0_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5" name="Google Shape;455;g3d94641431f_0_9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84" name="Google Shape;484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2" name="Google Shape;492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5" name="Google Shape;505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9" name="Google Shape;519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0" name="Google Shape;550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6" name="Google Shape;566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4" name="Google Shape;57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7" name="Google Shape;597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8b75b7e57c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7" name="Google Shape;617;g38b75b7e57c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4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1" name="Google Shape;781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9" name="Google Shape;789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3d94641431f_0_1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5" name="Google Shape;805;g3d94641431f_0_1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6" name="Google Shape;816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0" name="Google Shape;830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3" name="Google Shape;853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4" name="Google Shape;874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1" name="Google Shape;891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3" name="Google Shape;913;p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3d94641431f_0_1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2" name="Google Shape;922;g3d94641431f_0_1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3" name="Google Shape;923;g3d94641431f_0_1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cs.google.com/spreadsheets/d/1aS4vONWGQIGg2DOqpeVsQNEe0uXi25zZ/edit?gid=1835807719#gid=1835807719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10" Type="http://schemas.openxmlformats.org/officeDocument/2006/relationships/image" Target="../media/image3.png"/><Relationship Id="rId9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7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1097275" y="914400"/>
            <a:ext cx="67905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JURIMETRIA E ANÁLISE DE DADOS PARA DECISÕES ESTRATÉGICAS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097280" y="278892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1097280" y="29260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i="0" lang="en-US" sz="2000" u="none" cap="none" strike="noStrike">
                <a:solidFill>
                  <a:srgbClr val="E8A317"/>
                </a:solidFill>
              </a:rPr>
              <a:t>Aula 1 – Bloco 1</a:t>
            </a:r>
            <a:endParaRPr i="0" sz="1400" u="none" cap="none" strike="noStrike">
              <a:solidFill>
                <a:srgbClr val="000000"/>
              </a:solidFill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1097280" y="3337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Por que dados importam e como transformar dúvidas jurídicas em perguntas jurimétricas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d94641431f_0_32"/>
          <p:cNvSpPr/>
          <p:nvPr/>
        </p:nvSpPr>
        <p:spPr>
          <a:xfrm>
            <a:off x="571502" y="502925"/>
            <a:ext cx="7386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Sobre o Docente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g3d94641431f_0_32"/>
          <p:cNvSpPr/>
          <p:nvPr/>
        </p:nvSpPr>
        <p:spPr>
          <a:xfrm>
            <a:off x="571485" y="1115575"/>
            <a:ext cx="6217800" cy="2450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g3d94641431f_0_32"/>
          <p:cNvSpPr/>
          <p:nvPr/>
        </p:nvSpPr>
        <p:spPr>
          <a:xfrm>
            <a:off x="617200" y="1115476"/>
            <a:ext cx="6863700" cy="816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g3d94641431f_0_32"/>
          <p:cNvSpPr/>
          <p:nvPr/>
        </p:nvSpPr>
        <p:spPr>
          <a:xfrm>
            <a:off x="708660" y="128016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Bruno Daleffi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g3d94641431f_0_32"/>
          <p:cNvSpPr/>
          <p:nvPr/>
        </p:nvSpPr>
        <p:spPr>
          <a:xfrm>
            <a:off x="708650" y="1828800"/>
            <a:ext cx="42957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Bacharelado em Estatística pelo IME-USP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 •  Graduação sanduíche na Universidade do Porto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Mestre em Inteligência Artificial pela POLI-USP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Sócio e Head de Operações e Ciência de Dados na</a:t>
            </a:r>
            <a:endParaRPr b="0" i="0" sz="13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Terranova Consultoria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Coordenador e Orientador de Pesquisa na ABJ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d94641431f_0_32"/>
          <p:cNvSpPr/>
          <p:nvPr/>
        </p:nvSpPr>
        <p:spPr>
          <a:xfrm>
            <a:off x="708660" y="3787140"/>
            <a:ext cx="1828800" cy="41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g3d94641431f_0_32"/>
          <p:cNvSpPr/>
          <p:nvPr/>
        </p:nvSpPr>
        <p:spPr>
          <a:xfrm>
            <a:off x="708660" y="378714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Estatística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d94641431f_0_32"/>
          <p:cNvSpPr/>
          <p:nvPr/>
        </p:nvSpPr>
        <p:spPr>
          <a:xfrm>
            <a:off x="2720340" y="3787140"/>
            <a:ext cx="1828800" cy="4116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g3d94641431f_0_32"/>
          <p:cNvSpPr/>
          <p:nvPr/>
        </p:nvSpPr>
        <p:spPr>
          <a:xfrm>
            <a:off x="2720340" y="378714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Inteligência Artificial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g3d94641431f_0_32"/>
          <p:cNvSpPr/>
          <p:nvPr/>
        </p:nvSpPr>
        <p:spPr>
          <a:xfrm>
            <a:off x="4732020" y="3787140"/>
            <a:ext cx="1828800" cy="4116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g3d94641431f_0_32"/>
          <p:cNvSpPr/>
          <p:nvPr/>
        </p:nvSpPr>
        <p:spPr>
          <a:xfrm>
            <a:off x="4732020" y="378714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Jurimetria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" name="Google Shape;36;g3d94641431f_0_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30210" y="1266760"/>
            <a:ext cx="2450700" cy="245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"/>
          <p:cNvSpPr txBox="1"/>
          <p:nvPr/>
        </p:nvSpPr>
        <p:spPr>
          <a:xfrm>
            <a:off x="750000" y="500000"/>
            <a:ext cx="67008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Agenda do Bloco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750000" y="1330000"/>
            <a:ext cx="6700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vamos percorrer nas próximas 1h50min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785321" y="17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1370945" y="17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Apresentação da disciplina, metodologia e avaliação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4640749" y="17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5226372" y="17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O caso fio condutor: escritório X, Y &amp; Associados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785321" y="23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3"/>
          <p:cNvSpPr txBox="1"/>
          <p:nvPr/>
        </p:nvSpPr>
        <p:spPr>
          <a:xfrm>
            <a:off x="1370945" y="23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 base do trabalho final: 16.110 julgados do TJSP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640749" y="23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5226372" y="23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O que é Jurimetria: conceito, histórico e a ABJ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785321" y="29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"/>
          <p:cNvSpPr txBox="1"/>
          <p:nvPr/>
        </p:nvSpPr>
        <p:spPr>
          <a:xfrm>
            <a:off x="1370945" y="29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Por que dados importam para o operador do Direito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4640749" y="29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6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 txBox="1"/>
          <p:nvPr/>
        </p:nvSpPr>
        <p:spPr>
          <a:xfrm>
            <a:off x="5226372" y="29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Abordagem qualitativa vs. 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785321" y="35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7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 txBox="1"/>
          <p:nvPr/>
        </p:nvSpPr>
        <p:spPr>
          <a:xfrm>
            <a:off x="1370945" y="35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Tipos de decisões jurídicas apoiadas por dados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40749" y="3500000"/>
            <a:ext cx="4731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8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 txBox="1"/>
          <p:nvPr/>
        </p:nvSpPr>
        <p:spPr>
          <a:xfrm>
            <a:off x="5226372" y="3560000"/>
            <a:ext cx="270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Fundamentos de dados: população, amostra e variáveis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50006" y="905100"/>
            <a:ext cx="16893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Objetivos de Aprendizagem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Ao final deste bloco, você será capaz 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790000" y="178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"/>
          <p:cNvSpPr txBox="1"/>
          <p:nvPr/>
        </p:nvSpPr>
        <p:spPr>
          <a:xfrm>
            <a:off x="1060000" y="17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Compreender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4"/>
          <p:cNvSpPr txBox="1"/>
          <p:nvPr/>
        </p:nvSpPr>
        <p:spPr>
          <a:xfrm>
            <a:off x="2571750" y="1750000"/>
            <a:ext cx="53238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é Jurimetria, como ela nasceu e por que ganhou tração no Brasil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790000" y="230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1060000" y="227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Identificar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2281650" y="2270000"/>
            <a:ext cx="54336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que tipos de decisão jurídica podem ser apoiadas por dados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790000" y="282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1060000" y="279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Distinguir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2164025" y="2790000"/>
            <a:ext cx="55512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abordagens qualitativa e quantitativa e saber quando cada uma funciona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90000" y="334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 txBox="1"/>
          <p:nvPr/>
        </p:nvSpPr>
        <p:spPr>
          <a:xfrm>
            <a:off x="1060000" y="331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Dominar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2046425" y="3310000"/>
            <a:ext cx="56688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os fundamentos de dados: população, amostra e tipos de variáveis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90000" y="386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 txBox="1"/>
          <p:nvPr/>
        </p:nvSpPr>
        <p:spPr>
          <a:xfrm>
            <a:off x="1060000" y="383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Transformar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 txBox="1"/>
          <p:nvPr/>
        </p:nvSpPr>
        <p:spPr>
          <a:xfrm>
            <a:off x="2454150" y="3830000"/>
            <a:ext cx="53943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uma dúvida jurídica vaga em uma pergunta jurimétrica bem formulada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750006" y="905100"/>
            <a:ext cx="16893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/>
          <p:nvPr/>
        </p:nvSpPr>
        <p:spPr>
          <a:xfrm>
            <a:off x="750000" y="500000"/>
            <a:ext cx="62019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Do Conceito ao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"/>
          <p:cNvSpPr txBox="1"/>
          <p:nvPr/>
        </p:nvSpPr>
        <p:spPr>
          <a:xfrm>
            <a:off x="750000" y="1330000"/>
            <a:ext cx="6201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Como este bloco se conecta ao que vocês vão apresentar na Aula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5"/>
          <p:cNvSpPr txBox="1"/>
          <p:nvPr/>
        </p:nvSpPr>
        <p:spPr>
          <a:xfrm>
            <a:off x="750000" y="1730000"/>
            <a:ext cx="62019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conceito daqui volta, na Aula 6, aplicado a dados reais.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750000" y="2150000"/>
            <a:ext cx="2255100" cy="2000100"/>
          </a:xfrm>
          <a:prstGeom prst="roundRect">
            <a:avLst>
              <a:gd fmla="val 16667" name="adj"/>
            </a:avLst>
          </a:prstGeom>
          <a:solidFill>
            <a:srgbClr val="FCE5C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5"/>
          <p:cNvSpPr txBox="1"/>
          <p:nvPr/>
        </p:nvSpPr>
        <p:spPr>
          <a:xfrm>
            <a:off x="928027" y="2300000"/>
            <a:ext cx="1899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HOJE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928027" y="2630000"/>
            <a:ext cx="1899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Fundamentos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928027" y="3200000"/>
            <a:ext cx="1899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Conceitos, histórico e tipos de dados. Primeiro contato com a base do trabalho.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3183033" y="2150000"/>
            <a:ext cx="2255100" cy="2000100"/>
          </a:xfrm>
          <a:prstGeom prst="roundRect">
            <a:avLst>
              <a:gd fmla="val 16667" name="adj"/>
            </a:avLst>
          </a:prstGeom>
          <a:solidFill>
            <a:srgbClr val="FCE5C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5"/>
          <p:cNvSpPr txBox="1"/>
          <p:nvPr/>
        </p:nvSpPr>
        <p:spPr>
          <a:xfrm>
            <a:off x="3361059" y="2300000"/>
            <a:ext cx="1899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AULAS 2 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3361059" y="2630000"/>
            <a:ext cx="1899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Método e aceleração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3361059" y="3200000"/>
            <a:ext cx="1899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Ciclo da ciência de dados em modo raiz e depois com IA generativa.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5616064" y="2150000"/>
            <a:ext cx="2255100" cy="2000100"/>
          </a:xfrm>
          <a:prstGeom prst="roundRect">
            <a:avLst>
              <a:gd fmla="val 16667" name="adj"/>
            </a:avLst>
          </a:prstGeom>
          <a:solidFill>
            <a:srgbClr val="FCE5C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5794091" y="2300000"/>
            <a:ext cx="1899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AULA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5794091" y="2630000"/>
            <a:ext cx="1899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Apresentação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5794091" y="3200000"/>
            <a:ext cx="1899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Grupos aplicam o ciclo aos 16.110 julgados de locação e apresentam a análise.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750005" y="905100"/>
            <a:ext cx="15636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6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disciplina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6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Carga horária, metodologia, avaliação e cronologia de aprendizado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750000" y="500000"/>
            <a:ext cx="7143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Panorama da Disciplina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750000" y="1330000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Como vamos trabalhar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750000" y="1750000"/>
            <a:ext cx="33615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24h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50000" y="2430000"/>
            <a:ext cx="336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de aula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50000" y="2700000"/>
            <a:ext cx="3361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6 encontros de 4h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4351500" y="1750000"/>
            <a:ext cx="33615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4351500" y="2430000"/>
            <a:ext cx="336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blocos por aula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4351500" y="2700000"/>
            <a:ext cx="3361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~1h50 cada, com intervalo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50000" y="3000000"/>
            <a:ext cx="33615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Excel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750000" y="3680000"/>
            <a:ext cx="336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 IA generativa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750000" y="3950000"/>
            <a:ext cx="3361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sem exigir programação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7"/>
          <p:cNvSpPr txBox="1"/>
          <p:nvPr/>
        </p:nvSpPr>
        <p:spPr>
          <a:xfrm>
            <a:off x="4351500" y="3000000"/>
            <a:ext cx="33615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16.110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 txBox="1"/>
          <p:nvPr/>
        </p:nvSpPr>
        <p:spPr>
          <a:xfrm>
            <a:off x="4351500" y="3680000"/>
            <a:ext cx="336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julgados reais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 txBox="1"/>
          <p:nvPr/>
        </p:nvSpPr>
        <p:spPr>
          <a:xfrm>
            <a:off x="4351500" y="3950000"/>
            <a:ext cx="3361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base do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750006" y="905100"/>
            <a:ext cx="18006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 txBox="1"/>
          <p:nvPr/>
        </p:nvSpPr>
        <p:spPr>
          <a:xfrm>
            <a:off x="750000" y="500000"/>
            <a:ext cx="712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Metodologia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50000" y="1105720"/>
            <a:ext cx="71283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Teórico-prática em dois blocos equilibrados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50000" y="1421152"/>
            <a:ext cx="71283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aula tem dois blocos de 1h50 com intervalo de 15 minutos. O primeiro concentra fundamentos conceituais; o segundo aprofunda a aplicação prática com Excel e IA generativa.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750000" y="2392047"/>
            <a:ext cx="3414600" cy="18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929709" y="2532047"/>
            <a:ext cx="3055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BLOCO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929709" y="2842054"/>
            <a:ext cx="3131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Fundamentos conceituais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929709" y="3366810"/>
            <a:ext cx="30552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Exposição dialogada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Discussão de conceitos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Interação com a turma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4463995" y="2392047"/>
            <a:ext cx="3414600" cy="18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4643705" y="2532047"/>
            <a:ext cx="3055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BLOCO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4643705" y="2842048"/>
            <a:ext cx="3055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Aplicação prática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4643705" y="3366810"/>
            <a:ext cx="30552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Demonstrações em Excel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Uso de IA generativa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Exercícios e estudos de caso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750006" y="905101"/>
            <a:ext cx="1797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/>
          <p:nvPr/>
        </p:nvSpPr>
        <p:spPr>
          <a:xfrm>
            <a:off x="750000" y="500000"/>
            <a:ext cx="71649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Cronologia de Aprendizado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750000" y="1150576"/>
            <a:ext cx="7164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progressão pedagógica das 6 aulas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750000" y="1570576"/>
            <a:ext cx="7164600" cy="4101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846333" y="165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1893952" y="165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FUNDAMENTO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3760399" y="165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Entender o que é Jurimetria e por que importa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9"/>
          <p:cNvSpPr/>
          <p:nvPr/>
        </p:nvSpPr>
        <p:spPr>
          <a:xfrm>
            <a:off x="750000" y="2010576"/>
            <a:ext cx="7164600" cy="41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846333" y="209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1893952" y="209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MÉTODO –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3760399" y="209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Ciclo da ciência de dados: perguntar, mapear, coletar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9"/>
          <p:cNvSpPr/>
          <p:nvPr/>
        </p:nvSpPr>
        <p:spPr>
          <a:xfrm>
            <a:off x="750000" y="2450576"/>
            <a:ext cx="7164600" cy="41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846333" y="253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1893952" y="253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MÉTODO –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3760399" y="253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Ciclo da ciência de dados: tratar, analisar, apresentar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750000" y="2890576"/>
            <a:ext cx="7164600" cy="41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846333" y="297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9"/>
          <p:cNvSpPr txBox="1"/>
          <p:nvPr/>
        </p:nvSpPr>
        <p:spPr>
          <a:xfrm>
            <a:off x="1893952" y="297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MODELOS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 txBox="1"/>
          <p:nvPr/>
        </p:nvSpPr>
        <p:spPr>
          <a:xfrm>
            <a:off x="3760399" y="297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Inferência e 4 modelos preditivos para decisão estratégica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750000" y="3330576"/>
            <a:ext cx="7164600" cy="41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846333" y="341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 txBox="1"/>
          <p:nvPr/>
        </p:nvSpPr>
        <p:spPr>
          <a:xfrm>
            <a:off x="1893952" y="341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ACELERAÇÃO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9"/>
          <p:cNvSpPr txBox="1"/>
          <p:nvPr/>
        </p:nvSpPr>
        <p:spPr>
          <a:xfrm>
            <a:off x="3760399" y="341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Revisitar o ciclo com IA generativa em todas as etapas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750000" y="3770576"/>
            <a:ext cx="7164600" cy="41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9"/>
          <p:cNvSpPr txBox="1"/>
          <p:nvPr/>
        </p:nvSpPr>
        <p:spPr>
          <a:xfrm>
            <a:off x="846333" y="3850576"/>
            <a:ext cx="963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AULA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1893952" y="3850576"/>
            <a:ext cx="18063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APRESENTAÇÃO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9"/>
          <p:cNvSpPr txBox="1"/>
          <p:nvPr/>
        </p:nvSpPr>
        <p:spPr>
          <a:xfrm>
            <a:off x="3760399" y="3850576"/>
            <a:ext cx="40701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Trabalho final sobre a base real de 16.110 julgados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750000" y="4380000"/>
            <a:ext cx="7164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Estamos aqui, na Aula 1. A progressão é acumulativa: cada aula constrói sobre a anterior.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750006" y="905100"/>
            <a:ext cx="18063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"/>
          <p:cNvSpPr txBox="1"/>
          <p:nvPr/>
        </p:nvSpPr>
        <p:spPr>
          <a:xfrm>
            <a:off x="750000" y="500000"/>
            <a:ext cx="7172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Sistema de Avaliação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 txBox="1"/>
          <p:nvPr/>
        </p:nvSpPr>
        <p:spPr>
          <a:xfrm>
            <a:off x="750000" y="1173004"/>
            <a:ext cx="7171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Dois instrumentos, 10 pontos no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0"/>
          <p:cNvSpPr txBox="1"/>
          <p:nvPr/>
        </p:nvSpPr>
        <p:spPr>
          <a:xfrm>
            <a:off x="930807" y="1643004"/>
            <a:ext cx="30132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b="1" i="0" lang="en-US" sz="6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3,0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0"/>
          <p:cNvSpPr txBox="1"/>
          <p:nvPr/>
        </p:nvSpPr>
        <p:spPr>
          <a:xfrm>
            <a:off x="930807" y="2743004"/>
            <a:ext cx="3013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0"/>
          <p:cNvSpPr txBox="1"/>
          <p:nvPr/>
        </p:nvSpPr>
        <p:spPr>
          <a:xfrm>
            <a:off x="930807" y="3043004"/>
            <a:ext cx="3013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Atividades Individuais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0"/>
          <p:cNvSpPr txBox="1"/>
          <p:nvPr/>
        </p:nvSpPr>
        <p:spPr>
          <a:xfrm>
            <a:off x="930807" y="3343004"/>
            <a:ext cx="30132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Instrumento 1: 4 atividades, média aritmética simples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7" name="Google Shape;187;p10"/>
          <p:cNvCxnSpPr/>
          <p:nvPr/>
        </p:nvCxnSpPr>
        <p:spPr>
          <a:xfrm>
            <a:off x="4366134" y="1743004"/>
            <a:ext cx="0" cy="2199900"/>
          </a:xfrm>
          <a:prstGeom prst="straightConnector1">
            <a:avLst/>
          </a:prstGeom>
          <a:noFill/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10"/>
          <p:cNvSpPr txBox="1"/>
          <p:nvPr/>
        </p:nvSpPr>
        <p:spPr>
          <a:xfrm>
            <a:off x="4727748" y="1643004"/>
            <a:ext cx="30132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b="1" i="0" lang="en-US" sz="6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7,0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4727748" y="2743004"/>
            <a:ext cx="3013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4727748" y="3043004"/>
            <a:ext cx="3013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Trabalho em Grupo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4727748" y="3343004"/>
            <a:ext cx="30132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Instrumento 2: apresentação oral em grupos de até 6, na Aula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750000" y="4350000"/>
            <a:ext cx="7172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Total: 10,0 pontos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750006" y="905100"/>
            <a:ext cx="18081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Como Funcionam os Instrumentos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750000" y="1100000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Detalhamento da avaliação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71500" y="1500000"/>
            <a:ext cx="3522000" cy="27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"/>
          <p:cNvSpPr txBox="1"/>
          <p:nvPr/>
        </p:nvSpPr>
        <p:spPr>
          <a:xfrm>
            <a:off x="753666" y="1650000"/>
            <a:ext cx="3157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INSTRUMENTO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1"/>
          <p:cNvSpPr txBox="1"/>
          <p:nvPr/>
        </p:nvSpPr>
        <p:spPr>
          <a:xfrm>
            <a:off x="753666" y="1970000"/>
            <a:ext cx="31575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Atividades em sala (3,0 pts)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1"/>
          <p:cNvSpPr txBox="1"/>
          <p:nvPr/>
        </p:nvSpPr>
        <p:spPr>
          <a:xfrm>
            <a:off x="753666" y="2500000"/>
            <a:ext cx="3157500" cy="1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Ao final das Aulas 1 a 4, uma atividade com 2 a 3 perguntas objetivas.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Cenário: caso fictício X, Y &amp; Associados.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Entrega até a aula seguinte; correção comentada em sala.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Nota final = média aritmética das 4 entregas.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4275549" y="1500000"/>
            <a:ext cx="3522000" cy="27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1"/>
          <p:cNvSpPr txBox="1"/>
          <p:nvPr/>
        </p:nvSpPr>
        <p:spPr>
          <a:xfrm>
            <a:off x="4457716" y="1650000"/>
            <a:ext cx="3157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INSTRUMENTO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1"/>
          <p:cNvSpPr txBox="1"/>
          <p:nvPr/>
        </p:nvSpPr>
        <p:spPr>
          <a:xfrm>
            <a:off x="4457716" y="1970000"/>
            <a:ext cx="31575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Trabalho em grupo (7,0 pts)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4457716" y="2500000"/>
            <a:ext cx="3157500" cy="1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Grupos de até 6 participantes.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 real: 16.110 julgados TJSP, locação PJ, 2010 a 2024.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Apresentação oral na Aula 6: 20 min + 10 min de perguntas.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Escopo: análise descritiva exploratória (sem modelos preditivos).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750006" y="905100"/>
            <a:ext cx="18081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2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2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 caso X, Y &amp; Associados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2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 fio condutor das atividades em sala e o cliente do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3"/>
          <p:cNvSpPr txBox="1"/>
          <p:nvPr/>
        </p:nvSpPr>
        <p:spPr>
          <a:xfrm>
            <a:off x="750000" y="500000"/>
            <a:ext cx="7157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Perfil do Escritório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3"/>
          <p:cNvSpPr txBox="1"/>
          <p:nvPr/>
        </p:nvSpPr>
        <p:spPr>
          <a:xfrm>
            <a:off x="750000" y="1330000"/>
            <a:ext cx="7157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X, Y &amp; Associados (XY&amp;A)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3"/>
          <p:cNvSpPr/>
          <p:nvPr/>
        </p:nvSpPr>
        <p:spPr>
          <a:xfrm>
            <a:off x="750000" y="1750000"/>
            <a:ext cx="6727800" cy="38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3"/>
          <p:cNvSpPr txBox="1"/>
          <p:nvPr/>
        </p:nvSpPr>
        <p:spPr>
          <a:xfrm>
            <a:off x="851616" y="18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Porte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3"/>
          <p:cNvSpPr txBox="1"/>
          <p:nvPr/>
        </p:nvSpPr>
        <p:spPr>
          <a:xfrm>
            <a:off x="2376299" y="18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Médio, 40 advogados, sede em São Paulo/SP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3"/>
          <p:cNvSpPr/>
          <p:nvPr/>
        </p:nvSpPr>
        <p:spPr>
          <a:xfrm>
            <a:off x="750000" y="2150000"/>
            <a:ext cx="6727800" cy="38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3"/>
          <p:cNvSpPr txBox="1"/>
          <p:nvPr/>
        </p:nvSpPr>
        <p:spPr>
          <a:xfrm>
            <a:off x="851616" y="22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Atuação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3"/>
          <p:cNvSpPr txBox="1"/>
          <p:nvPr/>
        </p:nvSpPr>
        <p:spPr>
          <a:xfrm>
            <a:off x="2376299" y="22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Contencioso imobiliário, com foco em locação comercial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3"/>
          <p:cNvSpPr/>
          <p:nvPr/>
        </p:nvSpPr>
        <p:spPr>
          <a:xfrm>
            <a:off x="750000" y="2550000"/>
            <a:ext cx="6727800" cy="38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3"/>
          <p:cNvSpPr txBox="1"/>
          <p:nvPr/>
        </p:nvSpPr>
        <p:spPr>
          <a:xfrm>
            <a:off x="851616" y="26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Especialidade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3"/>
          <p:cNvSpPr txBox="1"/>
          <p:nvPr/>
        </p:nvSpPr>
        <p:spPr>
          <a:xfrm>
            <a:off x="2376299" y="26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Revisão e renovatória de aluguel para pessoa jurídica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3"/>
          <p:cNvSpPr/>
          <p:nvPr/>
        </p:nvSpPr>
        <p:spPr>
          <a:xfrm>
            <a:off x="750000" y="2950000"/>
            <a:ext cx="7157400" cy="38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3"/>
          <p:cNvSpPr txBox="1"/>
          <p:nvPr/>
        </p:nvSpPr>
        <p:spPr>
          <a:xfrm>
            <a:off x="851616" y="30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Carteira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3"/>
          <p:cNvSpPr txBox="1"/>
          <p:nvPr/>
        </p:nvSpPr>
        <p:spPr>
          <a:xfrm>
            <a:off x="2376307" y="30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16.110 julgados no TJSP no período de 2010 a 2024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3"/>
          <p:cNvSpPr/>
          <p:nvPr/>
        </p:nvSpPr>
        <p:spPr>
          <a:xfrm>
            <a:off x="750000" y="3350000"/>
            <a:ext cx="6727800" cy="38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3"/>
          <p:cNvSpPr txBox="1"/>
          <p:nvPr/>
        </p:nvSpPr>
        <p:spPr>
          <a:xfrm>
            <a:off x="851616" y="34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Gestão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3"/>
          <p:cNvSpPr txBox="1"/>
          <p:nvPr/>
        </p:nvSpPr>
        <p:spPr>
          <a:xfrm>
            <a:off x="2376299" y="34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Planilhas e e-mail; sem sistema, sem KPIs, sem controle automatizado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3"/>
          <p:cNvSpPr/>
          <p:nvPr/>
        </p:nvSpPr>
        <p:spPr>
          <a:xfrm>
            <a:off x="750000" y="3750000"/>
            <a:ext cx="7157400" cy="38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3"/>
          <p:cNvSpPr txBox="1"/>
          <p:nvPr/>
        </p:nvSpPr>
        <p:spPr>
          <a:xfrm>
            <a:off x="851616" y="3810000"/>
            <a:ext cx="1524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Pressão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3"/>
          <p:cNvSpPr txBox="1"/>
          <p:nvPr/>
        </p:nvSpPr>
        <p:spPr>
          <a:xfrm>
            <a:off x="2376307" y="3810000"/>
            <a:ext cx="510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Clientes corporativos exigem relatórios, previsibilidade e eficiência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3"/>
          <p:cNvSpPr txBox="1"/>
          <p:nvPr/>
        </p:nvSpPr>
        <p:spPr>
          <a:xfrm>
            <a:off x="750000" y="4250000"/>
            <a:ext cx="6045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Caso fictício construído para a disciplina. A carteira, porém, é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750006" y="905100"/>
            <a:ext cx="18045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4"/>
          <p:cNvSpPr txBox="1"/>
          <p:nvPr/>
        </p:nvSpPr>
        <p:spPr>
          <a:xfrm>
            <a:off x="750000" y="500000"/>
            <a:ext cx="71649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Panorama Financeiro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750000" y="1330000"/>
            <a:ext cx="7164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Os números que o sócio-gestor precisa explicar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4"/>
          <p:cNvSpPr/>
          <p:nvPr/>
        </p:nvSpPr>
        <p:spPr>
          <a:xfrm>
            <a:off x="750000" y="1632390"/>
            <a:ext cx="3432000" cy="12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4"/>
          <p:cNvSpPr txBox="1"/>
          <p:nvPr/>
        </p:nvSpPr>
        <p:spPr>
          <a:xfrm>
            <a:off x="930624" y="1752390"/>
            <a:ext cx="30705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R$ 18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4"/>
          <p:cNvSpPr txBox="1"/>
          <p:nvPr/>
        </p:nvSpPr>
        <p:spPr>
          <a:xfrm>
            <a:off x="930624" y="2272390"/>
            <a:ext cx="3070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faturamento anual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4"/>
          <p:cNvSpPr txBox="1"/>
          <p:nvPr/>
        </p:nvSpPr>
        <p:spPr>
          <a:xfrm>
            <a:off x="930624" y="2552390"/>
            <a:ext cx="3070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queda de 12% em 2 anos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4"/>
          <p:cNvSpPr/>
          <p:nvPr/>
        </p:nvSpPr>
        <p:spPr>
          <a:xfrm>
            <a:off x="4362479" y="1632390"/>
            <a:ext cx="3432000" cy="12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4"/>
          <p:cNvSpPr txBox="1"/>
          <p:nvPr/>
        </p:nvSpPr>
        <p:spPr>
          <a:xfrm>
            <a:off x="4543103" y="1752390"/>
            <a:ext cx="30705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R$ 2,8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4"/>
          <p:cNvSpPr txBox="1"/>
          <p:nvPr/>
        </p:nvSpPr>
        <p:spPr>
          <a:xfrm>
            <a:off x="4543103" y="2272390"/>
            <a:ext cx="3070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custo com correspondentes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4"/>
          <p:cNvSpPr txBox="1"/>
          <p:nvPr/>
        </p:nvSpPr>
        <p:spPr>
          <a:xfrm>
            <a:off x="4543103" y="2552390"/>
            <a:ext cx="3070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sem controle de qualidade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4"/>
          <p:cNvSpPr/>
          <p:nvPr/>
        </p:nvSpPr>
        <p:spPr>
          <a:xfrm>
            <a:off x="750000" y="2982390"/>
            <a:ext cx="3432000" cy="12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930624" y="3102390"/>
            <a:ext cx="30705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R$ 45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4"/>
          <p:cNvSpPr txBox="1"/>
          <p:nvPr/>
        </p:nvSpPr>
        <p:spPr>
          <a:xfrm>
            <a:off x="930624" y="3622389"/>
            <a:ext cx="3070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provisões judiciais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4"/>
          <p:cNvSpPr txBox="1"/>
          <p:nvPr/>
        </p:nvSpPr>
        <p:spPr>
          <a:xfrm>
            <a:off x="930624" y="3902390"/>
            <a:ext cx="3070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baseadas em intuição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4"/>
          <p:cNvSpPr/>
          <p:nvPr/>
        </p:nvSpPr>
        <p:spPr>
          <a:xfrm>
            <a:off x="4362479" y="2982390"/>
            <a:ext cx="3432000" cy="12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 txBox="1"/>
          <p:nvPr/>
        </p:nvSpPr>
        <p:spPr>
          <a:xfrm>
            <a:off x="4543103" y="3102390"/>
            <a:ext cx="30705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4"/>
          <p:cNvSpPr txBox="1"/>
          <p:nvPr/>
        </p:nvSpPr>
        <p:spPr>
          <a:xfrm>
            <a:off x="4543103" y="3622389"/>
            <a:ext cx="3070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taxa de êxito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"/>
          <p:cNvSpPr txBox="1"/>
          <p:nvPr/>
        </p:nvSpPr>
        <p:spPr>
          <a:xfrm>
            <a:off x="4543103" y="3902390"/>
            <a:ext cx="3070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desconhecida pelo escritório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4"/>
          <p:cNvSpPr txBox="1"/>
          <p:nvPr/>
        </p:nvSpPr>
        <p:spPr>
          <a:xfrm>
            <a:off x="750000" y="4340000"/>
            <a:ext cx="7164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Quatro perguntas em aberto que viraram oportunidade para a Jurimetria.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/>
          <p:nvPr/>
        </p:nvSpPr>
        <p:spPr>
          <a:xfrm>
            <a:off x="750006" y="905100"/>
            <a:ext cx="18063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/>
          <p:nvPr/>
        </p:nvSpPr>
        <p:spPr>
          <a:xfrm>
            <a:off x="750000" y="500000"/>
            <a:ext cx="7143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Carteira de Processos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5"/>
          <p:cNvSpPr txBox="1"/>
          <p:nvPr/>
        </p:nvSpPr>
        <p:spPr>
          <a:xfrm>
            <a:off x="750000" y="1330000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distribuição por tipo de 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5"/>
          <p:cNvSpPr/>
          <p:nvPr/>
        </p:nvSpPr>
        <p:spPr>
          <a:xfrm>
            <a:off x="750000" y="1750000"/>
            <a:ext cx="7143000" cy="399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5"/>
          <p:cNvSpPr txBox="1"/>
          <p:nvPr/>
        </p:nvSpPr>
        <p:spPr>
          <a:xfrm>
            <a:off x="930078" y="1790000"/>
            <a:ext cx="4081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Tipo de 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5"/>
          <p:cNvSpPr txBox="1"/>
          <p:nvPr/>
        </p:nvSpPr>
        <p:spPr>
          <a:xfrm>
            <a:off x="5071873" y="1790000"/>
            <a:ext cx="1320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Julgados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5"/>
          <p:cNvSpPr txBox="1"/>
          <p:nvPr/>
        </p:nvSpPr>
        <p:spPr>
          <a:xfrm>
            <a:off x="6452471" y="1790000"/>
            <a:ext cx="1320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% do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5"/>
          <p:cNvSpPr/>
          <p:nvPr/>
        </p:nvSpPr>
        <p:spPr>
          <a:xfrm>
            <a:off x="750000" y="2150000"/>
            <a:ext cx="7143000" cy="4599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5"/>
          <p:cNvSpPr/>
          <p:nvPr/>
        </p:nvSpPr>
        <p:spPr>
          <a:xfrm>
            <a:off x="750000" y="2150000"/>
            <a:ext cx="5762400" cy="4599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5"/>
          <p:cNvSpPr txBox="1"/>
          <p:nvPr/>
        </p:nvSpPr>
        <p:spPr>
          <a:xfrm>
            <a:off x="930078" y="2210000"/>
            <a:ext cx="40815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Renovatória de locação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5"/>
          <p:cNvSpPr txBox="1"/>
          <p:nvPr/>
        </p:nvSpPr>
        <p:spPr>
          <a:xfrm>
            <a:off x="5071873" y="2210000"/>
            <a:ext cx="132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13.201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5"/>
          <p:cNvSpPr txBox="1"/>
          <p:nvPr/>
        </p:nvSpPr>
        <p:spPr>
          <a:xfrm>
            <a:off x="6452471" y="2210000"/>
            <a:ext cx="132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82%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5"/>
          <p:cNvSpPr/>
          <p:nvPr/>
        </p:nvSpPr>
        <p:spPr>
          <a:xfrm>
            <a:off x="750000" y="2610000"/>
            <a:ext cx="7143000" cy="459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5"/>
          <p:cNvSpPr/>
          <p:nvPr/>
        </p:nvSpPr>
        <p:spPr>
          <a:xfrm>
            <a:off x="750000" y="2610000"/>
            <a:ext cx="1260600" cy="4599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5"/>
          <p:cNvSpPr txBox="1"/>
          <p:nvPr/>
        </p:nvSpPr>
        <p:spPr>
          <a:xfrm>
            <a:off x="930078" y="2670000"/>
            <a:ext cx="40815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Revisão de aluguel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5071873" y="2670000"/>
            <a:ext cx="132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2.909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5"/>
          <p:cNvSpPr txBox="1"/>
          <p:nvPr/>
        </p:nvSpPr>
        <p:spPr>
          <a:xfrm>
            <a:off x="6452471" y="2670000"/>
            <a:ext cx="132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5"/>
          <p:cNvSpPr/>
          <p:nvPr/>
        </p:nvSpPr>
        <p:spPr>
          <a:xfrm>
            <a:off x="750000" y="3070000"/>
            <a:ext cx="7143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930078" y="3140000"/>
            <a:ext cx="4081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5"/>
          <p:cNvSpPr txBox="1"/>
          <p:nvPr/>
        </p:nvSpPr>
        <p:spPr>
          <a:xfrm>
            <a:off x="5071873" y="3140000"/>
            <a:ext cx="13206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16.110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5"/>
          <p:cNvSpPr txBox="1"/>
          <p:nvPr/>
        </p:nvSpPr>
        <p:spPr>
          <a:xfrm>
            <a:off x="6452471" y="3140000"/>
            <a:ext cx="13206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100%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5"/>
          <p:cNvSpPr txBox="1"/>
          <p:nvPr/>
        </p:nvSpPr>
        <p:spPr>
          <a:xfrm>
            <a:off x="750000" y="4250000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 renovatória domina quase 5 de cada 6 processos. Esse desequilíbrio vai reaparecer em toda análise que o escritório fizer.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5"/>
          <p:cNvSpPr/>
          <p:nvPr/>
        </p:nvSpPr>
        <p:spPr>
          <a:xfrm>
            <a:off x="750006" y="905100"/>
            <a:ext cx="18009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6"/>
          <p:cNvSpPr txBox="1"/>
          <p:nvPr/>
        </p:nvSpPr>
        <p:spPr>
          <a:xfrm>
            <a:off x="750000" y="500000"/>
            <a:ext cx="7172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Os Desafios Reais do XY&amp;A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6"/>
          <p:cNvSpPr txBox="1"/>
          <p:nvPr/>
        </p:nvSpPr>
        <p:spPr>
          <a:xfrm>
            <a:off x="750000" y="1330000"/>
            <a:ext cx="7172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Pontos de dor que a Jurimetria pode endereçar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750000" y="1750000"/>
            <a:ext cx="34353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6"/>
          <p:cNvSpPr/>
          <p:nvPr/>
        </p:nvSpPr>
        <p:spPr>
          <a:xfrm>
            <a:off x="894645" y="1850000"/>
            <a:ext cx="6027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6"/>
          <p:cNvSpPr txBox="1"/>
          <p:nvPr/>
        </p:nvSpPr>
        <p:spPr>
          <a:xfrm>
            <a:off x="1617872" y="1870000"/>
            <a:ext cx="2410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Provisões no escuro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6"/>
          <p:cNvSpPr txBox="1"/>
          <p:nvPr/>
        </p:nvSpPr>
        <p:spPr>
          <a:xfrm>
            <a:off x="930807" y="2400000"/>
            <a:ext cx="30738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R$ 45 mi provisionados por intuição, sem estatística.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6"/>
          <p:cNvSpPr/>
          <p:nvPr/>
        </p:nvSpPr>
        <p:spPr>
          <a:xfrm>
            <a:off x="4366134" y="1750000"/>
            <a:ext cx="34353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6"/>
          <p:cNvSpPr/>
          <p:nvPr/>
        </p:nvSpPr>
        <p:spPr>
          <a:xfrm>
            <a:off x="4510780" y="1850000"/>
            <a:ext cx="6027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6"/>
          <p:cNvSpPr txBox="1"/>
          <p:nvPr/>
        </p:nvSpPr>
        <p:spPr>
          <a:xfrm>
            <a:off x="5234007" y="1870000"/>
            <a:ext cx="2410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Correspondentes sem métrica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6"/>
          <p:cNvSpPr txBox="1"/>
          <p:nvPr/>
        </p:nvSpPr>
        <p:spPr>
          <a:xfrm>
            <a:off x="4546941" y="2400000"/>
            <a:ext cx="30738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R$ 2,8 mi/ano gastos sem medir performance.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750000" y="3070000"/>
            <a:ext cx="34353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894645" y="3170000"/>
            <a:ext cx="6027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6"/>
          <p:cNvSpPr txBox="1"/>
          <p:nvPr/>
        </p:nvSpPr>
        <p:spPr>
          <a:xfrm>
            <a:off x="1617872" y="3190000"/>
            <a:ext cx="2410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Clientes exigentes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6"/>
          <p:cNvSpPr txBox="1"/>
          <p:nvPr/>
        </p:nvSpPr>
        <p:spPr>
          <a:xfrm>
            <a:off x="930807" y="3720000"/>
            <a:ext cx="30738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Redes de varejo pedem relatórios e previsibilidade.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4366134" y="3070000"/>
            <a:ext cx="34353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4510780" y="3170000"/>
            <a:ext cx="6027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6"/>
          <p:cNvSpPr txBox="1"/>
          <p:nvPr/>
        </p:nvSpPr>
        <p:spPr>
          <a:xfrm>
            <a:off x="5234007" y="3190000"/>
            <a:ext cx="2410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Sem taxa de êxito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6"/>
          <p:cNvSpPr txBox="1"/>
          <p:nvPr/>
        </p:nvSpPr>
        <p:spPr>
          <a:xfrm>
            <a:off x="4546941" y="3720000"/>
            <a:ext cx="30738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Não se mede resultado por vara, juiz ou perfil do caso.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750006" y="905100"/>
            <a:ext cx="18081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7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7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base do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7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16.110 julgados de revisão e renovatória de locação do TJSP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8"/>
          <p:cNvSpPr txBox="1"/>
          <p:nvPr/>
        </p:nvSpPr>
        <p:spPr>
          <a:xfrm>
            <a:off x="750000" y="500000"/>
            <a:ext cx="71502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</a:t>
            </a:r>
            <a:r>
              <a:rPr b="1" i="0" lang="en-US" sz="2400" u="sng" cap="none" strike="noStrike">
                <a:solidFill>
                  <a:schemeClr val="hlink"/>
                </a:solidFill>
                <a:latin typeface="Arial Black"/>
                <a:ea typeface="Arial Black"/>
                <a:cs typeface="Arial Black"/>
                <a:sym typeface="Arial Black"/>
                <a:hlinkClick r:id="rId4"/>
              </a:rPr>
              <a:t>Base</a:t>
            </a: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 do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8"/>
          <p:cNvSpPr txBox="1"/>
          <p:nvPr/>
        </p:nvSpPr>
        <p:spPr>
          <a:xfrm>
            <a:off x="750000" y="1160000"/>
            <a:ext cx="7150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Volume, tribunal, matéria e período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8"/>
          <p:cNvSpPr txBox="1"/>
          <p:nvPr/>
        </p:nvSpPr>
        <p:spPr>
          <a:xfrm>
            <a:off x="750000" y="1900000"/>
            <a:ext cx="45666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b="1" i="0" lang="en-US" sz="6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16.110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8"/>
          <p:cNvSpPr txBox="1"/>
          <p:nvPr/>
        </p:nvSpPr>
        <p:spPr>
          <a:xfrm>
            <a:off x="750000" y="2950000"/>
            <a:ext cx="4566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julgados de locação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8"/>
          <p:cNvSpPr txBox="1"/>
          <p:nvPr/>
        </p:nvSpPr>
        <p:spPr>
          <a:xfrm>
            <a:off x="4775771" y="1900000"/>
            <a:ext cx="1201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Tribunal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8"/>
          <p:cNvSpPr txBox="1"/>
          <p:nvPr/>
        </p:nvSpPr>
        <p:spPr>
          <a:xfrm>
            <a:off x="6037580" y="1900000"/>
            <a:ext cx="1862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TJSP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8"/>
          <p:cNvSpPr txBox="1"/>
          <p:nvPr/>
        </p:nvSpPr>
        <p:spPr>
          <a:xfrm>
            <a:off x="4775771" y="2240000"/>
            <a:ext cx="1201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Matéria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8"/>
          <p:cNvSpPr txBox="1"/>
          <p:nvPr/>
        </p:nvSpPr>
        <p:spPr>
          <a:xfrm>
            <a:off x="6037580" y="2240000"/>
            <a:ext cx="1862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Revisão e renovatória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8"/>
          <p:cNvSpPr txBox="1"/>
          <p:nvPr/>
        </p:nvSpPr>
        <p:spPr>
          <a:xfrm>
            <a:off x="4775771" y="2580000"/>
            <a:ext cx="1201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Período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8"/>
          <p:cNvSpPr txBox="1"/>
          <p:nvPr/>
        </p:nvSpPr>
        <p:spPr>
          <a:xfrm>
            <a:off x="6037580" y="2580000"/>
            <a:ext cx="1862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2010 a 2024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8"/>
          <p:cNvSpPr txBox="1"/>
          <p:nvPr/>
        </p:nvSpPr>
        <p:spPr>
          <a:xfrm>
            <a:off x="4775771" y="2920000"/>
            <a:ext cx="1201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Parte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8"/>
          <p:cNvSpPr txBox="1"/>
          <p:nvPr/>
        </p:nvSpPr>
        <p:spPr>
          <a:xfrm>
            <a:off x="6037580" y="2920000"/>
            <a:ext cx="1862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Pessoa jurídica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8"/>
          <p:cNvSpPr txBox="1"/>
          <p:nvPr/>
        </p:nvSpPr>
        <p:spPr>
          <a:xfrm>
            <a:off x="4775771" y="3260000"/>
            <a:ext cx="1201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Natureza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8"/>
          <p:cNvSpPr txBox="1"/>
          <p:nvPr/>
        </p:nvSpPr>
        <p:spPr>
          <a:xfrm>
            <a:off x="6037580" y="3260000"/>
            <a:ext cx="1862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População, não amostra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8"/>
          <p:cNvSpPr/>
          <p:nvPr/>
        </p:nvSpPr>
        <p:spPr>
          <a:xfrm>
            <a:off x="750000" y="3850000"/>
            <a:ext cx="7150200" cy="60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8"/>
          <p:cNvSpPr txBox="1"/>
          <p:nvPr/>
        </p:nvSpPr>
        <p:spPr>
          <a:xfrm>
            <a:off x="930258" y="3900000"/>
            <a:ext cx="67896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Como a base cobre todos os julgados do recorte, ela funciona como população completa para fins do exercício. Não há inferência amostral envolvida.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8"/>
          <p:cNvSpPr/>
          <p:nvPr/>
        </p:nvSpPr>
        <p:spPr>
          <a:xfrm>
            <a:off x="750006" y="905100"/>
            <a:ext cx="18027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9"/>
          <p:cNvSpPr txBox="1"/>
          <p:nvPr/>
        </p:nvSpPr>
        <p:spPr>
          <a:xfrm>
            <a:off x="750000" y="500000"/>
            <a:ext cx="71283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 Que a Base Permite Investigar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50000" y="1173186"/>
            <a:ext cx="60927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Exemplos de linhas exploratórias para o trabalho final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750000" y="1653175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9"/>
          <p:cNvSpPr txBox="1"/>
          <p:nvPr/>
        </p:nvSpPr>
        <p:spPr>
          <a:xfrm>
            <a:off x="1136995" y="1593175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Evolução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9"/>
          <p:cNvSpPr txBox="1"/>
          <p:nvPr/>
        </p:nvSpPr>
        <p:spPr>
          <a:xfrm>
            <a:off x="1136995" y="1963175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 de ações ao longo dos anos e sazonalidade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4370570" y="1633075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9"/>
          <p:cNvSpPr txBox="1"/>
          <p:nvPr/>
        </p:nvSpPr>
        <p:spPr>
          <a:xfrm>
            <a:off x="4757566" y="1573075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Geografia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9"/>
          <p:cNvSpPr txBox="1"/>
          <p:nvPr/>
        </p:nvSpPr>
        <p:spPr>
          <a:xfrm>
            <a:off x="4757566" y="1943075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distribuição por comarca, vara e regiões de São Paulo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750000" y="2553175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9"/>
          <p:cNvSpPr txBox="1"/>
          <p:nvPr/>
        </p:nvSpPr>
        <p:spPr>
          <a:xfrm>
            <a:off x="1136995" y="2493175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Tempo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9"/>
          <p:cNvSpPr txBox="1"/>
          <p:nvPr/>
        </p:nvSpPr>
        <p:spPr>
          <a:xfrm>
            <a:off x="1136995" y="2863175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tramitação de revisão vs. renovatória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9"/>
          <p:cNvSpPr/>
          <p:nvPr/>
        </p:nvSpPr>
        <p:spPr>
          <a:xfrm>
            <a:off x="4370570" y="2533075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4757566" y="2473075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Valor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9"/>
          <p:cNvSpPr txBox="1"/>
          <p:nvPr/>
        </p:nvSpPr>
        <p:spPr>
          <a:xfrm>
            <a:off x="4757566" y="2843075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distribuição do valor da causa por ano e tipo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9"/>
          <p:cNvSpPr/>
          <p:nvPr/>
        </p:nvSpPr>
        <p:spPr>
          <a:xfrm>
            <a:off x="750000" y="3373163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9"/>
          <p:cNvSpPr txBox="1"/>
          <p:nvPr/>
        </p:nvSpPr>
        <p:spPr>
          <a:xfrm>
            <a:off x="1136995" y="3313163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Desfecho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9"/>
          <p:cNvSpPr txBox="1"/>
          <p:nvPr/>
        </p:nvSpPr>
        <p:spPr>
          <a:xfrm>
            <a:off x="1136995" y="3683163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padrões de procedência, improcedência e acordo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9"/>
          <p:cNvSpPr/>
          <p:nvPr/>
        </p:nvSpPr>
        <p:spPr>
          <a:xfrm>
            <a:off x="4370570" y="3353063"/>
            <a:ext cx="274200" cy="21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9"/>
          <p:cNvSpPr txBox="1"/>
          <p:nvPr/>
        </p:nvSpPr>
        <p:spPr>
          <a:xfrm>
            <a:off x="4757566" y="3293063"/>
            <a:ext cx="31209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Varas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9"/>
          <p:cNvSpPr txBox="1"/>
          <p:nvPr/>
        </p:nvSpPr>
        <p:spPr>
          <a:xfrm>
            <a:off x="4757566" y="3663063"/>
            <a:ext cx="3120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concentração de resultados por juízo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9"/>
          <p:cNvSpPr txBox="1"/>
          <p:nvPr/>
        </p:nvSpPr>
        <p:spPr>
          <a:xfrm>
            <a:off x="750000" y="4350000"/>
            <a:ext cx="609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Cabe ao grupo escolher o recorte e definir as questões norteadoras do trabalho.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9"/>
          <p:cNvSpPr/>
          <p:nvPr/>
        </p:nvSpPr>
        <p:spPr>
          <a:xfrm>
            <a:off x="750006" y="905100"/>
            <a:ext cx="18027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0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0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 que é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20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Conceito, histórico e a Associação Brasileira de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1"/>
          <p:cNvSpPr txBox="1"/>
          <p:nvPr/>
        </p:nvSpPr>
        <p:spPr>
          <a:xfrm>
            <a:off x="750000" y="500000"/>
            <a:ext cx="70905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 que é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750000" y="1150000"/>
            <a:ext cx="70905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Uma definição operacional para o operador do Direito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1"/>
          <p:cNvSpPr/>
          <p:nvPr/>
        </p:nvSpPr>
        <p:spPr>
          <a:xfrm>
            <a:off x="750060" y="1550000"/>
            <a:ext cx="7150200" cy="120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 cap="flat" cmpd="sng" w="9525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930321" y="1570100"/>
            <a:ext cx="67899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Jurimetria é o campo que aplica </a:t>
            </a:r>
            <a:r>
              <a:rPr b="1" i="0" lang="en-US" sz="16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ciência de dados ao Direito</a:t>
            </a: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, com o objetivo de tornar decisões jurídicas mais informadas, previsíveis e auditáveis.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21"/>
          <p:cNvSpPr/>
          <p:nvPr/>
        </p:nvSpPr>
        <p:spPr>
          <a:xfrm>
            <a:off x="1643774" y="3000000"/>
            <a:ext cx="476700" cy="3999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21"/>
          <p:cNvSpPr txBox="1"/>
          <p:nvPr/>
        </p:nvSpPr>
        <p:spPr>
          <a:xfrm>
            <a:off x="1584189" y="3090000"/>
            <a:ext cx="595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21"/>
          <p:cNvSpPr txBox="1"/>
          <p:nvPr/>
        </p:nvSpPr>
        <p:spPr>
          <a:xfrm>
            <a:off x="750000" y="3480000"/>
            <a:ext cx="22641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Empírica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750000" y="3830000"/>
            <a:ext cx="2264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Parte de dados, não de opiniões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21"/>
          <p:cNvSpPr/>
          <p:nvPr/>
        </p:nvSpPr>
        <p:spPr>
          <a:xfrm>
            <a:off x="4086756" y="3000000"/>
            <a:ext cx="476700" cy="3999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1"/>
          <p:cNvSpPr txBox="1"/>
          <p:nvPr/>
        </p:nvSpPr>
        <p:spPr>
          <a:xfrm>
            <a:off x="4027171" y="3090000"/>
            <a:ext cx="595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3192982" y="3480000"/>
            <a:ext cx="22641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1"/>
          <p:cNvSpPr txBox="1"/>
          <p:nvPr/>
        </p:nvSpPr>
        <p:spPr>
          <a:xfrm>
            <a:off x="3192982" y="3830000"/>
            <a:ext cx="2264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Mede, compara e estima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6529737" y="3000000"/>
            <a:ext cx="476700" cy="3999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1"/>
          <p:cNvSpPr txBox="1"/>
          <p:nvPr/>
        </p:nvSpPr>
        <p:spPr>
          <a:xfrm>
            <a:off x="6470152" y="3090000"/>
            <a:ext cx="595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21"/>
          <p:cNvSpPr txBox="1"/>
          <p:nvPr/>
        </p:nvSpPr>
        <p:spPr>
          <a:xfrm>
            <a:off x="5635963" y="3480000"/>
            <a:ext cx="22641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Aplicada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5635963" y="3830000"/>
            <a:ext cx="2264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Serve à decisão estratégica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21"/>
          <p:cNvSpPr txBox="1"/>
          <p:nvPr/>
        </p:nvSpPr>
        <p:spPr>
          <a:xfrm>
            <a:off x="750000" y="4400000"/>
            <a:ext cx="70905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Nunes (2019); Zabala e Silveira (2014).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750006" y="905100"/>
            <a:ext cx="17874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d94641431f_0_79"/>
          <p:cNvSpPr/>
          <p:nvPr/>
        </p:nvSpPr>
        <p:spPr>
          <a:xfrm>
            <a:off x="749025" y="457050"/>
            <a:ext cx="7180200" cy="49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Diagrama de Venn: Onde Nasce a Jurimetria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7" name="Google Shape;407;g3d94641431f_0_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34" y="1045013"/>
            <a:ext cx="4731176" cy="3519753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g3d94641431f_0_79"/>
          <p:cNvSpPr/>
          <p:nvPr/>
        </p:nvSpPr>
        <p:spPr>
          <a:xfrm>
            <a:off x="5284450" y="1188111"/>
            <a:ext cx="2368200" cy="33393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g3d94641431f_0_79"/>
          <p:cNvSpPr/>
          <p:nvPr/>
        </p:nvSpPr>
        <p:spPr>
          <a:xfrm>
            <a:off x="5284450" y="1188111"/>
            <a:ext cx="23682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g3d94641431f_0_79"/>
          <p:cNvSpPr/>
          <p:nvPr/>
        </p:nvSpPr>
        <p:spPr>
          <a:xfrm>
            <a:off x="5387430" y="1368611"/>
            <a:ext cx="2162700" cy="72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 interseção 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3 campos é 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Jurimetria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d94641431f_0_79"/>
          <p:cNvSpPr/>
          <p:nvPr/>
        </p:nvSpPr>
        <p:spPr>
          <a:xfrm>
            <a:off x="5438921" y="2225977"/>
            <a:ext cx="22140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Direito × Estatística = Estatística Jurídica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g3d94641431f_0_79"/>
          <p:cNvSpPr/>
          <p:nvPr/>
        </p:nvSpPr>
        <p:spPr>
          <a:xfrm>
            <a:off x="5438921" y="2722357"/>
            <a:ext cx="22140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Direito × Computação = Direito Computacional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g3d94641431f_0_79"/>
          <p:cNvSpPr/>
          <p:nvPr/>
        </p:nvSpPr>
        <p:spPr>
          <a:xfrm>
            <a:off x="5438921" y="3218738"/>
            <a:ext cx="21627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Estatística × Computação = Ciência de Dados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g3d94641431f_0_79"/>
          <p:cNvSpPr/>
          <p:nvPr/>
        </p:nvSpPr>
        <p:spPr>
          <a:xfrm>
            <a:off x="5438921" y="3715113"/>
            <a:ext cx="20598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As 3 juntas = JURIMETRIA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g3d94641431f_0_79"/>
          <p:cNvSpPr/>
          <p:nvPr/>
        </p:nvSpPr>
        <p:spPr>
          <a:xfrm>
            <a:off x="556250" y="4339343"/>
            <a:ext cx="3639300" cy="27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Fonte: ABJ (abj.org.br)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g3d94641431f_0_79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2"/>
          <p:cNvSpPr txBox="1"/>
          <p:nvPr/>
        </p:nvSpPr>
        <p:spPr>
          <a:xfrm>
            <a:off x="750000" y="500000"/>
            <a:ext cx="7157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Histórico da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750000" y="1330000"/>
            <a:ext cx="6262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Da teoria ao movimento brasileiro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1118401" y="2600000"/>
            <a:ext cx="6262800" cy="201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2"/>
          <p:cNvSpPr/>
          <p:nvPr/>
        </p:nvSpPr>
        <p:spPr>
          <a:xfrm>
            <a:off x="1118401" y="2480000"/>
            <a:ext cx="273900" cy="260100"/>
          </a:xfrm>
          <a:prstGeom prst="ellipse">
            <a:avLst/>
          </a:prstGeom>
          <a:solidFill>
            <a:srgbClr val="E8A31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2"/>
          <p:cNvSpPr txBox="1"/>
          <p:nvPr/>
        </p:nvSpPr>
        <p:spPr>
          <a:xfrm>
            <a:off x="750000" y="1800000"/>
            <a:ext cx="1052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1949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2"/>
          <p:cNvSpPr txBox="1"/>
          <p:nvPr/>
        </p:nvSpPr>
        <p:spPr>
          <a:xfrm>
            <a:off x="879809" y="2820275"/>
            <a:ext cx="975600" cy="9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Lee Loevinger cunha o termo jurimetrics nos EUA.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3132327" y="2480000"/>
            <a:ext cx="273900" cy="260100"/>
          </a:xfrm>
          <a:prstGeom prst="ellipse">
            <a:avLst/>
          </a:prstGeom>
          <a:solidFill>
            <a:srgbClr val="E8A31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2"/>
          <p:cNvSpPr txBox="1"/>
          <p:nvPr/>
        </p:nvSpPr>
        <p:spPr>
          <a:xfrm>
            <a:off x="2732348" y="1800000"/>
            <a:ext cx="1052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1963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2"/>
          <p:cNvSpPr txBox="1"/>
          <p:nvPr/>
        </p:nvSpPr>
        <p:spPr>
          <a:xfrm>
            <a:off x="2574462" y="2900000"/>
            <a:ext cx="13683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Hans Baade edita o primeiro volume dedicado ao tema.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5114675" y="2480000"/>
            <a:ext cx="273900" cy="260100"/>
          </a:xfrm>
          <a:prstGeom prst="ellipse">
            <a:avLst/>
          </a:prstGeom>
          <a:solidFill>
            <a:srgbClr val="E8A31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22"/>
          <p:cNvSpPr txBox="1"/>
          <p:nvPr/>
        </p:nvSpPr>
        <p:spPr>
          <a:xfrm>
            <a:off x="4714696" y="1800000"/>
            <a:ext cx="1052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1971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22"/>
          <p:cNvSpPr txBox="1"/>
          <p:nvPr/>
        </p:nvSpPr>
        <p:spPr>
          <a:xfrm>
            <a:off x="4556810" y="2900000"/>
            <a:ext cx="13683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Primeira edição do Jurimetrics Journal, da ABA.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22"/>
          <p:cNvSpPr/>
          <p:nvPr/>
        </p:nvSpPr>
        <p:spPr>
          <a:xfrm>
            <a:off x="7097023" y="2480000"/>
            <a:ext cx="273900" cy="260100"/>
          </a:xfrm>
          <a:prstGeom prst="ellipse">
            <a:avLst/>
          </a:prstGeom>
          <a:solidFill>
            <a:srgbClr val="E8A317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2"/>
          <p:cNvSpPr txBox="1"/>
          <p:nvPr/>
        </p:nvSpPr>
        <p:spPr>
          <a:xfrm>
            <a:off x="6697045" y="1800000"/>
            <a:ext cx="1052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2011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2"/>
          <p:cNvSpPr txBox="1"/>
          <p:nvPr/>
        </p:nvSpPr>
        <p:spPr>
          <a:xfrm>
            <a:off x="6539158" y="2900000"/>
            <a:ext cx="13683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Fundação da ABJ, marco da Jurimetria no Brasil.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22"/>
          <p:cNvSpPr txBox="1"/>
          <p:nvPr/>
        </p:nvSpPr>
        <p:spPr>
          <a:xfrm>
            <a:off x="750000" y="4400000"/>
            <a:ext cx="62628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Nunes (2019).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3"/>
          <p:cNvSpPr txBox="1"/>
          <p:nvPr/>
        </p:nvSpPr>
        <p:spPr>
          <a:xfrm>
            <a:off x="750000" y="500000"/>
            <a:ext cx="712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ABJ: a Jurimetria no Brasil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23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Associação Brasileira de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23"/>
          <p:cNvSpPr/>
          <p:nvPr/>
        </p:nvSpPr>
        <p:spPr>
          <a:xfrm>
            <a:off x="750000" y="1667875"/>
            <a:ext cx="3115200" cy="24822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3"/>
          <p:cNvSpPr txBox="1"/>
          <p:nvPr/>
        </p:nvSpPr>
        <p:spPr>
          <a:xfrm>
            <a:off x="869807" y="1650000"/>
            <a:ext cx="28755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00"/>
              <a:buFont typeface="Arial"/>
              <a:buNone/>
            </a:pPr>
            <a:r>
              <a:rPr b="1" i="0" lang="en-US" sz="6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ABJ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3"/>
          <p:cNvSpPr txBox="1"/>
          <p:nvPr/>
        </p:nvSpPr>
        <p:spPr>
          <a:xfrm>
            <a:off x="869807" y="2473522"/>
            <a:ext cx="28755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Fundada em 2011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23"/>
          <p:cNvSpPr txBox="1"/>
          <p:nvPr/>
        </p:nvSpPr>
        <p:spPr>
          <a:xfrm>
            <a:off x="869807" y="2800000"/>
            <a:ext cx="28755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Principal entidade brasileira de pesquisa e aplicação da Jurimetria. Produz estudos, cursos e relatórios.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23"/>
          <p:cNvSpPr txBox="1"/>
          <p:nvPr/>
        </p:nvSpPr>
        <p:spPr>
          <a:xfrm>
            <a:off x="4044691" y="1750000"/>
            <a:ext cx="3834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Contribuições principais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3"/>
          <p:cNvSpPr txBox="1"/>
          <p:nvPr/>
        </p:nvSpPr>
        <p:spPr>
          <a:xfrm>
            <a:off x="4044691" y="2094088"/>
            <a:ext cx="3834000" cy="18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Relatórios sobre tempo de duração de processos no Brasil.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Estudos sobre execução fiscal, falências e varas cíveis.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Parcerias com tribunais, CNJ e faculdades de Direito.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3"/>
          <p:cNvSpPr txBox="1"/>
          <p:nvPr/>
        </p:nvSpPr>
        <p:spPr>
          <a:xfrm>
            <a:off x="750000" y="4400000"/>
            <a:ext cx="61554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ABJ, abj.org.br; Nunes (2019).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d94641431f_0_96"/>
          <p:cNvSpPr/>
          <p:nvPr/>
        </p:nvSpPr>
        <p:spPr>
          <a:xfrm>
            <a:off x="750000" y="457200"/>
            <a:ext cx="7113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Jurimetria não é produto, é ciência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g3d94641431f_0_96"/>
          <p:cNvSpPr/>
          <p:nvPr/>
        </p:nvSpPr>
        <p:spPr>
          <a:xfrm>
            <a:off x="563875" y="1165850"/>
            <a:ext cx="3296700" cy="32004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g3d94641431f_0_96"/>
          <p:cNvSpPr/>
          <p:nvPr/>
        </p:nvSpPr>
        <p:spPr>
          <a:xfrm>
            <a:off x="563875" y="1165850"/>
            <a:ext cx="3296700" cy="549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60" name="Google Shape;460;g3d94641431f_0_9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88396" y="1348730"/>
            <a:ext cx="6122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g3d94641431f_0_96"/>
          <p:cNvSpPr/>
          <p:nvPr/>
        </p:nvSpPr>
        <p:spPr>
          <a:xfrm>
            <a:off x="658069" y="1988810"/>
            <a:ext cx="3108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E67E22"/>
                </a:solidFill>
                <a:latin typeface="Arial Black"/>
                <a:ea typeface="Arial Black"/>
                <a:cs typeface="Arial Black"/>
                <a:sym typeface="Arial Black"/>
              </a:rPr>
              <a:t>CUIDADO 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600"/>
              <a:buFont typeface="Arial Black"/>
              <a:buNone/>
            </a:pPr>
            <a:r>
              <a:rPr b="1" i="0" lang="en-US" sz="1600" u="none" cap="none" strike="noStrike">
                <a:solidFill>
                  <a:srgbClr val="E67E22"/>
                </a:solidFill>
                <a:latin typeface="Arial Black"/>
                <a:ea typeface="Arial Black"/>
                <a:cs typeface="Arial Black"/>
                <a:sym typeface="Arial Black"/>
              </a:rPr>
              <a:t>A EXPECTATIVA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g3d94641431f_0_96"/>
          <p:cNvSpPr/>
          <p:nvPr/>
        </p:nvSpPr>
        <p:spPr>
          <a:xfrm>
            <a:off x="799360" y="2628890"/>
            <a:ext cx="292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50"/>
              <a:buFont typeface="Arial"/>
              <a:buChar char="•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caso é um caso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g3d94641431f_0_96"/>
          <p:cNvSpPr/>
          <p:nvPr/>
        </p:nvSpPr>
        <p:spPr>
          <a:xfrm>
            <a:off x="799360" y="3040370"/>
            <a:ext cx="292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50"/>
              <a:buFont typeface="Arial"/>
              <a:buChar char="•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Modelo trabalhista ≠ tributário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g3d94641431f_0_96"/>
          <p:cNvSpPr/>
          <p:nvPr/>
        </p:nvSpPr>
        <p:spPr>
          <a:xfrm>
            <a:off x="799360" y="3451850"/>
            <a:ext cx="292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50"/>
              <a:buFont typeface="Arial"/>
              <a:buChar char="•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Análises exigem customização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g3d94641431f_0_96"/>
          <p:cNvSpPr/>
          <p:nvPr/>
        </p:nvSpPr>
        <p:spPr>
          <a:xfrm>
            <a:off x="799360" y="3863330"/>
            <a:ext cx="292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50"/>
              <a:buFont typeface="Arial"/>
              <a:buChar char="•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Sem "solução mágica de prateleira"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g3d94641431f_0_96"/>
          <p:cNvSpPr/>
          <p:nvPr/>
        </p:nvSpPr>
        <p:spPr>
          <a:xfrm>
            <a:off x="4096145" y="1165850"/>
            <a:ext cx="376770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g3d94641431f_0_96"/>
          <p:cNvSpPr/>
          <p:nvPr/>
        </p:nvSpPr>
        <p:spPr>
          <a:xfrm>
            <a:off x="4096145" y="1165850"/>
            <a:ext cx="3767700" cy="54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g3d94641431f_0_96"/>
          <p:cNvSpPr/>
          <p:nvPr/>
        </p:nvSpPr>
        <p:spPr>
          <a:xfrm>
            <a:off x="4190339" y="1303010"/>
            <a:ext cx="3579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APLICAÇÕES DA JURIMETRIA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69" name="Google Shape;469;g3d94641431f_0_9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4533" y="1714490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g3d94641431f_0_96"/>
          <p:cNvSpPr/>
          <p:nvPr/>
        </p:nvSpPr>
        <p:spPr>
          <a:xfrm>
            <a:off x="4661309" y="1714490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KPIs: taxa de êxito, custo/processo, tramitação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1" name="Google Shape;471;g3d94641431f_0_9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84533" y="2144258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g3d94641431f_0_96"/>
          <p:cNvSpPr/>
          <p:nvPr/>
        </p:nvSpPr>
        <p:spPr>
          <a:xfrm>
            <a:off x="4661309" y="2144258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Pesquisas: AIR, ARR, relatórios setoriais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3" name="Google Shape;473;g3d94641431f_0_9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84533" y="2574026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g3d94641431f_0_96"/>
          <p:cNvSpPr/>
          <p:nvPr/>
        </p:nvSpPr>
        <p:spPr>
          <a:xfrm>
            <a:off x="4661309" y="2574026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Provisionamento: desfecho × tempo × valor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5" name="Google Shape;475;g3d94641431f_0_9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284533" y="3003794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g3d94641431f_0_96"/>
          <p:cNvSpPr/>
          <p:nvPr/>
        </p:nvSpPr>
        <p:spPr>
          <a:xfrm>
            <a:off x="4661309" y="3003794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Contencioso de massa: triagem e acordos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7" name="Google Shape;477;g3d94641431f_0_9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284533" y="3433562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g3d94641431f_0_96"/>
          <p:cNvSpPr/>
          <p:nvPr/>
        </p:nvSpPr>
        <p:spPr>
          <a:xfrm>
            <a:off x="4661309" y="3433562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Dashboards para clientes e stakeholders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9" name="Google Shape;479;g3d94641431f_0_9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284533" y="3863330"/>
            <a:ext cx="282582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g3d94641431f_0_96"/>
          <p:cNvSpPr/>
          <p:nvPr/>
        </p:nvSpPr>
        <p:spPr>
          <a:xfrm>
            <a:off x="4661309" y="3863330"/>
            <a:ext cx="30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Acadêmica: pesquisas e produção científica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g3d94641431f_0_96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5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25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Qualitativo vs. Quantitativo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5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25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Quando cada abordagem funciona melhor, e como se complementam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8"/>
          <p:cNvSpPr txBox="1"/>
          <p:nvPr/>
        </p:nvSpPr>
        <p:spPr>
          <a:xfrm>
            <a:off x="750000" y="500000"/>
            <a:ext cx="71649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Abordagem Qualitativa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8"/>
          <p:cNvSpPr txBox="1"/>
          <p:nvPr/>
        </p:nvSpPr>
        <p:spPr>
          <a:xfrm>
            <a:off x="750000" y="1180475"/>
            <a:ext cx="7164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base tradicional da argumentação jurídica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28"/>
          <p:cNvSpPr/>
          <p:nvPr/>
        </p:nvSpPr>
        <p:spPr>
          <a:xfrm>
            <a:off x="750000" y="1600475"/>
            <a:ext cx="7164900" cy="6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28"/>
          <p:cNvSpPr txBox="1"/>
          <p:nvPr/>
        </p:nvSpPr>
        <p:spPr>
          <a:xfrm>
            <a:off x="930632" y="1600475"/>
            <a:ext cx="68034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Analisa em profundidade casos concretos, doutrina e precedentes, privilegiando o contexto, a interpretação e a ratio decidendi.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8"/>
          <p:cNvSpPr txBox="1"/>
          <p:nvPr/>
        </p:nvSpPr>
        <p:spPr>
          <a:xfrm>
            <a:off x="750000" y="2478879"/>
            <a:ext cx="34608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Funciona bem para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8"/>
          <p:cNvSpPr txBox="1"/>
          <p:nvPr/>
        </p:nvSpPr>
        <p:spPr>
          <a:xfrm>
            <a:off x="750000" y="2831094"/>
            <a:ext cx="3615600" cy="14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Interpretar normas e construir teses.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Ler um precedente paradigmático em detalhe.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Entender o raciocínio de um juiz ou de uma câmara.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Argumentar no caso concreto, em peça ou sustentação.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8"/>
          <p:cNvSpPr txBox="1"/>
          <p:nvPr/>
        </p:nvSpPr>
        <p:spPr>
          <a:xfrm>
            <a:off x="4453959" y="2478879"/>
            <a:ext cx="34608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Limita-se 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4453959" y="2831094"/>
            <a:ext cx="3460800" cy="14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Generalizar para uma carteira inteira.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Identificar padrões em milhares de processos.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Estimar tempo e valor de condenação.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Calibrar provisão ou ponto de acordo.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8"/>
          <p:cNvSpPr/>
          <p:nvPr/>
        </p:nvSpPr>
        <p:spPr>
          <a:xfrm>
            <a:off x="750006" y="905100"/>
            <a:ext cx="18063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29"/>
          <p:cNvSpPr txBox="1"/>
          <p:nvPr/>
        </p:nvSpPr>
        <p:spPr>
          <a:xfrm>
            <a:off x="750000" y="500000"/>
            <a:ext cx="71502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Abordagem 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29"/>
          <p:cNvSpPr txBox="1"/>
          <p:nvPr/>
        </p:nvSpPr>
        <p:spPr>
          <a:xfrm>
            <a:off x="750000" y="1135625"/>
            <a:ext cx="7150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a Jurimetria traz de novo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29"/>
          <p:cNvSpPr/>
          <p:nvPr/>
        </p:nvSpPr>
        <p:spPr>
          <a:xfrm>
            <a:off x="750000" y="1555625"/>
            <a:ext cx="7150200" cy="6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29"/>
          <p:cNvSpPr txBox="1"/>
          <p:nvPr/>
        </p:nvSpPr>
        <p:spPr>
          <a:xfrm>
            <a:off x="930259" y="1555625"/>
            <a:ext cx="67893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Analisa conjuntos grandes de processos ou decisões, mede frequências, tempos e valores, e identifica padrões estatisticamente sustentáveis.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29"/>
          <p:cNvSpPr txBox="1"/>
          <p:nvPr/>
        </p:nvSpPr>
        <p:spPr>
          <a:xfrm>
            <a:off x="750000" y="2355625"/>
            <a:ext cx="3453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Funciona bem para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29"/>
          <p:cNvSpPr txBox="1"/>
          <p:nvPr/>
        </p:nvSpPr>
        <p:spPr>
          <a:xfrm>
            <a:off x="750000" y="2755625"/>
            <a:ext cx="3453900" cy="1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Medir taxa de êxito por vara e tipo de caso.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Estimar tempo médio e mediano de tramitação.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Comparar carteiras, escritórios e correspondentes.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Apoiar provisionamento e acordo.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9"/>
          <p:cNvSpPr txBox="1"/>
          <p:nvPr/>
        </p:nvSpPr>
        <p:spPr>
          <a:xfrm>
            <a:off x="4446280" y="2355625"/>
            <a:ext cx="3453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Limita-se 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29"/>
          <p:cNvSpPr txBox="1"/>
          <p:nvPr/>
        </p:nvSpPr>
        <p:spPr>
          <a:xfrm>
            <a:off x="4446280" y="2755625"/>
            <a:ext cx="3453900" cy="17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Ler o caso concreto em toda sua nuance.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Captar argumentos jurídicos sutis.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Substituir o exame das razões de decidir.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Responder sem dados confiáveis e bem tratados.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9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Nunes (2019); Katz e Bommarito (2013).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29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30"/>
          <p:cNvSpPr txBox="1"/>
          <p:nvPr/>
        </p:nvSpPr>
        <p:spPr>
          <a:xfrm>
            <a:off x="750000" y="500000"/>
            <a:ext cx="7157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Comparação Lado a Lado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30"/>
          <p:cNvSpPr txBox="1"/>
          <p:nvPr/>
        </p:nvSpPr>
        <p:spPr>
          <a:xfrm>
            <a:off x="750000" y="1187950"/>
            <a:ext cx="7157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Uma síntese prática das diferenças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30"/>
          <p:cNvSpPr/>
          <p:nvPr/>
        </p:nvSpPr>
        <p:spPr>
          <a:xfrm>
            <a:off x="750000" y="1647950"/>
            <a:ext cx="7157400" cy="38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30"/>
          <p:cNvSpPr txBox="1"/>
          <p:nvPr/>
        </p:nvSpPr>
        <p:spPr>
          <a:xfrm>
            <a:off x="870293" y="1647950"/>
            <a:ext cx="2165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Dimensão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30"/>
          <p:cNvSpPr txBox="1"/>
          <p:nvPr/>
        </p:nvSpPr>
        <p:spPr>
          <a:xfrm>
            <a:off x="3059578" y="1657900"/>
            <a:ext cx="2045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Qualitativa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30"/>
          <p:cNvSpPr txBox="1"/>
          <p:nvPr/>
        </p:nvSpPr>
        <p:spPr>
          <a:xfrm>
            <a:off x="5561708" y="1647950"/>
            <a:ext cx="2225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30"/>
          <p:cNvSpPr/>
          <p:nvPr/>
        </p:nvSpPr>
        <p:spPr>
          <a:xfrm>
            <a:off x="750000" y="2027950"/>
            <a:ext cx="7157400" cy="4299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30"/>
          <p:cNvSpPr txBox="1"/>
          <p:nvPr/>
        </p:nvSpPr>
        <p:spPr>
          <a:xfrm>
            <a:off x="870293" y="2087950"/>
            <a:ext cx="2285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Objeto de análise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30"/>
          <p:cNvSpPr txBox="1"/>
          <p:nvPr/>
        </p:nvSpPr>
        <p:spPr>
          <a:xfrm>
            <a:off x="2782834" y="2087950"/>
            <a:ext cx="25986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Caso concreto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30"/>
          <p:cNvSpPr txBox="1"/>
          <p:nvPr/>
        </p:nvSpPr>
        <p:spPr>
          <a:xfrm>
            <a:off x="5501561" y="2087950"/>
            <a:ext cx="2345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Conjunto de casos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30"/>
          <p:cNvSpPr/>
          <p:nvPr/>
        </p:nvSpPr>
        <p:spPr>
          <a:xfrm>
            <a:off x="750000" y="2467950"/>
            <a:ext cx="7157400" cy="429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30"/>
          <p:cNvSpPr txBox="1"/>
          <p:nvPr/>
        </p:nvSpPr>
        <p:spPr>
          <a:xfrm>
            <a:off x="870293" y="2527950"/>
            <a:ext cx="2285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Pergunta típica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0"/>
          <p:cNvSpPr txBox="1"/>
          <p:nvPr/>
        </p:nvSpPr>
        <p:spPr>
          <a:xfrm>
            <a:off x="2782834" y="2527950"/>
            <a:ext cx="25986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 que este caso foi decidido assim?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30"/>
          <p:cNvSpPr txBox="1"/>
          <p:nvPr/>
        </p:nvSpPr>
        <p:spPr>
          <a:xfrm>
            <a:off x="5501561" y="2527950"/>
            <a:ext cx="2345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Quantas vezes casos como este são decididos assim?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30"/>
          <p:cNvSpPr/>
          <p:nvPr/>
        </p:nvSpPr>
        <p:spPr>
          <a:xfrm>
            <a:off x="750000" y="2907950"/>
            <a:ext cx="7157400" cy="4299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30"/>
          <p:cNvSpPr txBox="1"/>
          <p:nvPr/>
        </p:nvSpPr>
        <p:spPr>
          <a:xfrm>
            <a:off x="870293" y="2967950"/>
            <a:ext cx="2285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Fonte principal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30"/>
          <p:cNvSpPr txBox="1"/>
          <p:nvPr/>
        </p:nvSpPr>
        <p:spPr>
          <a:xfrm>
            <a:off x="2782834" y="2967950"/>
            <a:ext cx="25986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Doutrina, precedentes, peças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30"/>
          <p:cNvSpPr txBox="1"/>
          <p:nvPr/>
        </p:nvSpPr>
        <p:spPr>
          <a:xfrm>
            <a:off x="5501561" y="2967950"/>
            <a:ext cx="2345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 de dados estruturada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30"/>
          <p:cNvSpPr/>
          <p:nvPr/>
        </p:nvSpPr>
        <p:spPr>
          <a:xfrm>
            <a:off x="750000" y="3347950"/>
            <a:ext cx="7157400" cy="429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30"/>
          <p:cNvSpPr txBox="1"/>
          <p:nvPr/>
        </p:nvSpPr>
        <p:spPr>
          <a:xfrm>
            <a:off x="870293" y="3407950"/>
            <a:ext cx="2285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Instrumental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2782834" y="3407950"/>
            <a:ext cx="25986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Leitura, argumentação, interpretação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30"/>
          <p:cNvSpPr txBox="1"/>
          <p:nvPr/>
        </p:nvSpPr>
        <p:spPr>
          <a:xfrm>
            <a:off x="5501561" y="3407950"/>
            <a:ext cx="2345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Estatística e modelos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30"/>
          <p:cNvSpPr/>
          <p:nvPr/>
        </p:nvSpPr>
        <p:spPr>
          <a:xfrm>
            <a:off x="750000" y="3787950"/>
            <a:ext cx="7157400" cy="4299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30"/>
          <p:cNvSpPr txBox="1"/>
          <p:nvPr/>
        </p:nvSpPr>
        <p:spPr>
          <a:xfrm>
            <a:off x="870293" y="3847950"/>
            <a:ext cx="2285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0"/>
          <p:cNvSpPr txBox="1"/>
          <p:nvPr/>
        </p:nvSpPr>
        <p:spPr>
          <a:xfrm>
            <a:off x="2782834" y="3847950"/>
            <a:ext cx="25986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Tese, parecer, peça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30"/>
          <p:cNvSpPr txBox="1"/>
          <p:nvPr/>
        </p:nvSpPr>
        <p:spPr>
          <a:xfrm>
            <a:off x="5501561" y="3847950"/>
            <a:ext cx="2345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Métrica, estimativa, dashboard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30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1"/>
          <p:cNvSpPr txBox="1"/>
          <p:nvPr/>
        </p:nvSpPr>
        <p:spPr>
          <a:xfrm>
            <a:off x="750000" y="500000"/>
            <a:ext cx="7174500" cy="5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As Duas Abordagens se Complementam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31"/>
          <p:cNvSpPr txBox="1"/>
          <p:nvPr/>
        </p:nvSpPr>
        <p:spPr>
          <a:xfrm>
            <a:off x="750000" y="1180975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Jurimetria amplia, não substitui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31"/>
          <p:cNvSpPr/>
          <p:nvPr/>
        </p:nvSpPr>
        <p:spPr>
          <a:xfrm>
            <a:off x="987393" y="1537750"/>
            <a:ext cx="2461200" cy="140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31"/>
          <p:cNvSpPr txBox="1"/>
          <p:nvPr/>
        </p:nvSpPr>
        <p:spPr>
          <a:xfrm>
            <a:off x="987393" y="1737750"/>
            <a:ext cx="2461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Qualitativa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31"/>
          <p:cNvSpPr txBox="1"/>
          <p:nvPr/>
        </p:nvSpPr>
        <p:spPr>
          <a:xfrm>
            <a:off x="1147017" y="2237750"/>
            <a:ext cx="2142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Explica o porquê do caso concreto.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31"/>
          <p:cNvSpPr txBox="1"/>
          <p:nvPr/>
        </p:nvSpPr>
        <p:spPr>
          <a:xfrm>
            <a:off x="3211012" y="1655703"/>
            <a:ext cx="22209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31"/>
          <p:cNvSpPr/>
          <p:nvPr/>
        </p:nvSpPr>
        <p:spPr>
          <a:xfrm>
            <a:off x="5178297" y="1537750"/>
            <a:ext cx="2461200" cy="140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31"/>
          <p:cNvSpPr txBox="1"/>
          <p:nvPr/>
        </p:nvSpPr>
        <p:spPr>
          <a:xfrm>
            <a:off x="5178297" y="1737750"/>
            <a:ext cx="2461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Quantitativa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31"/>
          <p:cNvSpPr txBox="1"/>
          <p:nvPr/>
        </p:nvSpPr>
        <p:spPr>
          <a:xfrm>
            <a:off x="5337923" y="2237750"/>
            <a:ext cx="2142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Mostra o padrão da carteira.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31"/>
          <p:cNvSpPr/>
          <p:nvPr/>
        </p:nvSpPr>
        <p:spPr>
          <a:xfrm>
            <a:off x="750000" y="3287850"/>
            <a:ext cx="7143000" cy="8001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31"/>
          <p:cNvSpPr txBox="1"/>
          <p:nvPr/>
        </p:nvSpPr>
        <p:spPr>
          <a:xfrm>
            <a:off x="930074" y="3357850"/>
            <a:ext cx="6782700" cy="66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advogado com dados </a:t>
            </a:r>
            <a:r>
              <a:rPr b="1" i="0" lang="en-US" sz="14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não deixa de ser advogado</a:t>
            </a: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Ele ganha um instrumento para fundamentar melhor o que já faz.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31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32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32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Quatro tipos de decisão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32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Onde dados podem apoiar o dia a dia do advogado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33"/>
          <p:cNvSpPr txBox="1"/>
          <p:nvPr/>
        </p:nvSpPr>
        <p:spPr>
          <a:xfrm>
            <a:off x="750000" y="500000"/>
            <a:ext cx="712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Decisões Apoiadas por Dados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33"/>
          <p:cNvSpPr txBox="1"/>
          <p:nvPr/>
        </p:nvSpPr>
        <p:spPr>
          <a:xfrm>
            <a:off x="750000" y="1195425"/>
            <a:ext cx="71286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Quatro grandes classes no dia a dia do advogado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33"/>
          <p:cNvSpPr/>
          <p:nvPr/>
        </p:nvSpPr>
        <p:spPr>
          <a:xfrm>
            <a:off x="750000" y="1659650"/>
            <a:ext cx="3472800" cy="13263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33"/>
          <p:cNvSpPr/>
          <p:nvPr/>
        </p:nvSpPr>
        <p:spPr>
          <a:xfrm>
            <a:off x="969341" y="1781100"/>
            <a:ext cx="682500" cy="619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33"/>
          <p:cNvSpPr txBox="1"/>
          <p:nvPr/>
        </p:nvSpPr>
        <p:spPr>
          <a:xfrm>
            <a:off x="1785778" y="1880706"/>
            <a:ext cx="2376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Contencioso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33"/>
          <p:cNvSpPr txBox="1"/>
          <p:nvPr/>
        </p:nvSpPr>
        <p:spPr>
          <a:xfrm>
            <a:off x="944970" y="2521768"/>
            <a:ext cx="30828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Escolher foro e tese quando há opção; decidir se recorre etc.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3"/>
          <p:cNvSpPr/>
          <p:nvPr/>
        </p:nvSpPr>
        <p:spPr>
          <a:xfrm>
            <a:off x="4405686" y="1673463"/>
            <a:ext cx="3472800" cy="13263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33"/>
          <p:cNvSpPr/>
          <p:nvPr/>
        </p:nvSpPr>
        <p:spPr>
          <a:xfrm>
            <a:off x="4625027" y="1781100"/>
            <a:ext cx="682500" cy="619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33"/>
          <p:cNvSpPr txBox="1"/>
          <p:nvPr/>
        </p:nvSpPr>
        <p:spPr>
          <a:xfrm>
            <a:off x="5441464" y="1880706"/>
            <a:ext cx="2376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Negociação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33"/>
          <p:cNvSpPr txBox="1"/>
          <p:nvPr/>
        </p:nvSpPr>
        <p:spPr>
          <a:xfrm>
            <a:off x="4600656" y="2521768"/>
            <a:ext cx="30828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Calibrar faixa de acordo com base em desfecho e tempo esperados.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33"/>
          <p:cNvSpPr/>
          <p:nvPr/>
        </p:nvSpPr>
        <p:spPr>
          <a:xfrm>
            <a:off x="750000" y="3151777"/>
            <a:ext cx="3472800" cy="13263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33"/>
          <p:cNvSpPr/>
          <p:nvPr/>
        </p:nvSpPr>
        <p:spPr>
          <a:xfrm>
            <a:off x="969341" y="3273227"/>
            <a:ext cx="682500" cy="619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3"/>
          <p:cNvSpPr txBox="1"/>
          <p:nvPr/>
        </p:nvSpPr>
        <p:spPr>
          <a:xfrm>
            <a:off x="1785778" y="3372832"/>
            <a:ext cx="2376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Provisionamento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33"/>
          <p:cNvSpPr txBox="1"/>
          <p:nvPr/>
        </p:nvSpPr>
        <p:spPr>
          <a:xfrm>
            <a:off x="944970" y="4013894"/>
            <a:ext cx="30828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Revisar reservas contábeis com base em estimativas estatísticas.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"/>
          <p:cNvSpPr/>
          <p:nvPr/>
        </p:nvSpPr>
        <p:spPr>
          <a:xfrm>
            <a:off x="4405686" y="3151777"/>
            <a:ext cx="3472800" cy="13263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33"/>
          <p:cNvSpPr/>
          <p:nvPr/>
        </p:nvSpPr>
        <p:spPr>
          <a:xfrm>
            <a:off x="4625027" y="3273227"/>
            <a:ext cx="682500" cy="619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33"/>
          <p:cNvSpPr txBox="1"/>
          <p:nvPr/>
        </p:nvSpPr>
        <p:spPr>
          <a:xfrm>
            <a:off x="5441464" y="3372832"/>
            <a:ext cx="2376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Gestão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33"/>
          <p:cNvSpPr txBox="1"/>
          <p:nvPr/>
        </p:nvSpPr>
        <p:spPr>
          <a:xfrm>
            <a:off x="4600656" y="4013894"/>
            <a:ext cx="30828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Avaliar performance de correspondentes, varas e equipes.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33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34"/>
          <p:cNvSpPr txBox="1"/>
          <p:nvPr/>
        </p:nvSpPr>
        <p:spPr>
          <a:xfrm>
            <a:off x="750000" y="500000"/>
            <a:ext cx="7143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Os Quatro Tipos no XY&amp;A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4"/>
          <p:cNvSpPr txBox="1"/>
          <p:nvPr/>
        </p:nvSpPr>
        <p:spPr>
          <a:xfrm>
            <a:off x="750000" y="1330000"/>
            <a:ext cx="6705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Como cada classe aparece no escritório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34"/>
          <p:cNvSpPr/>
          <p:nvPr/>
        </p:nvSpPr>
        <p:spPr>
          <a:xfrm>
            <a:off x="750000" y="1750000"/>
            <a:ext cx="7143000" cy="53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4"/>
          <p:cNvSpPr txBox="1"/>
          <p:nvPr/>
        </p:nvSpPr>
        <p:spPr>
          <a:xfrm>
            <a:off x="870049" y="1830000"/>
            <a:ext cx="19206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Contencioso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4"/>
          <p:cNvSpPr txBox="1"/>
          <p:nvPr/>
        </p:nvSpPr>
        <p:spPr>
          <a:xfrm>
            <a:off x="2850857" y="1830000"/>
            <a:ext cx="4922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qual vara concentrar a distribuição de renovatórias? Em quais casos vale recorrer?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4"/>
          <p:cNvSpPr/>
          <p:nvPr/>
        </p:nvSpPr>
        <p:spPr>
          <a:xfrm>
            <a:off x="750000" y="2310000"/>
            <a:ext cx="7143000" cy="53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4"/>
          <p:cNvSpPr txBox="1"/>
          <p:nvPr/>
        </p:nvSpPr>
        <p:spPr>
          <a:xfrm>
            <a:off x="870049" y="2390000"/>
            <a:ext cx="19206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Negociação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34"/>
          <p:cNvSpPr txBox="1"/>
          <p:nvPr/>
        </p:nvSpPr>
        <p:spPr>
          <a:xfrm>
            <a:off x="2850857" y="2390000"/>
            <a:ext cx="4922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faixa de desconto faz sentido oferecer em acordo antes da perícia?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4"/>
          <p:cNvSpPr/>
          <p:nvPr/>
        </p:nvSpPr>
        <p:spPr>
          <a:xfrm>
            <a:off x="750000" y="2870000"/>
            <a:ext cx="7143000" cy="5301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4"/>
          <p:cNvSpPr txBox="1"/>
          <p:nvPr/>
        </p:nvSpPr>
        <p:spPr>
          <a:xfrm>
            <a:off x="870049" y="2950000"/>
            <a:ext cx="19206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Provisionamento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4"/>
          <p:cNvSpPr txBox="1"/>
          <p:nvPr/>
        </p:nvSpPr>
        <p:spPr>
          <a:xfrm>
            <a:off x="2850857" y="2950000"/>
            <a:ext cx="4922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Os R$ 45 mi estão bem calibrados? Onde há subprovisão ou sobreprovisão?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34"/>
          <p:cNvSpPr/>
          <p:nvPr/>
        </p:nvSpPr>
        <p:spPr>
          <a:xfrm>
            <a:off x="750000" y="3430000"/>
            <a:ext cx="7143000" cy="53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4"/>
          <p:cNvSpPr txBox="1"/>
          <p:nvPr/>
        </p:nvSpPr>
        <p:spPr>
          <a:xfrm>
            <a:off x="870049" y="3510000"/>
            <a:ext cx="19206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Gestão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34"/>
          <p:cNvSpPr txBox="1"/>
          <p:nvPr/>
        </p:nvSpPr>
        <p:spPr>
          <a:xfrm>
            <a:off x="2850857" y="3510000"/>
            <a:ext cx="4922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correspondente entrega melhor resultado ajustado a custo? Há perfis a demitir?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34"/>
          <p:cNvSpPr txBox="1"/>
          <p:nvPr/>
        </p:nvSpPr>
        <p:spPr>
          <a:xfrm>
            <a:off x="750000" y="4090000"/>
            <a:ext cx="67056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Todas essas perguntas caem em alguma etapa do ciclo da ciência de dados, que será vista na Aula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34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8b75b7e57c_0_0"/>
          <p:cNvSpPr/>
          <p:nvPr/>
        </p:nvSpPr>
        <p:spPr>
          <a:xfrm>
            <a:off x="1097280" y="920000"/>
            <a:ext cx="1986300" cy="380100"/>
          </a:xfrm>
          <a:prstGeom prst="roundRect">
            <a:avLst>
              <a:gd fmla="val 16667" name="adj"/>
            </a:avLst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g38b75b7e57c_0_0"/>
          <p:cNvSpPr txBox="1"/>
          <p:nvPr/>
        </p:nvSpPr>
        <p:spPr>
          <a:xfrm>
            <a:off x="1097280" y="920000"/>
            <a:ext cx="19863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EXEMPLO PRÁTICO</a:t>
            </a:r>
            <a:endParaRPr/>
          </a:p>
        </p:txBody>
      </p:sp>
      <p:sp>
        <p:nvSpPr>
          <p:cNvPr id="621" name="Google Shape;621;g38b75b7e57c_0_0"/>
          <p:cNvSpPr txBox="1"/>
          <p:nvPr/>
        </p:nvSpPr>
        <p:spPr>
          <a:xfrm>
            <a:off x="1097275" y="1500000"/>
            <a:ext cx="67956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n-US" sz="4000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Case real</a:t>
            </a:r>
            <a:endParaRPr/>
          </a:p>
        </p:txBody>
      </p:sp>
      <p:sp>
        <p:nvSpPr>
          <p:cNvPr id="622" name="Google Shape;622;g38b75b7e57c_0_0"/>
          <p:cNvSpPr txBox="1"/>
          <p:nvPr/>
        </p:nvSpPr>
        <p:spPr>
          <a:xfrm>
            <a:off x="1097280" y="2300000"/>
            <a:ext cx="67956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Como a jurimetria reduziu R$ 5,7 milhões em provisão de uma carteira de renovatórias</a:t>
            </a:r>
            <a:endParaRPr/>
          </a:p>
        </p:txBody>
      </p:sp>
      <p:sp>
        <p:nvSpPr>
          <p:cNvPr id="623" name="Google Shape;623;g38b75b7e57c_0_0"/>
          <p:cNvSpPr/>
          <p:nvPr/>
        </p:nvSpPr>
        <p:spPr>
          <a:xfrm>
            <a:off x="1097280" y="3000000"/>
            <a:ext cx="15681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g38b75b7e57c_0_0"/>
          <p:cNvSpPr txBox="1"/>
          <p:nvPr/>
        </p:nvSpPr>
        <p:spPr>
          <a:xfrm>
            <a:off x="1097280" y="3150000"/>
            <a:ext cx="6795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Caso baseado em projeto real. Nome da empresa preservado por sigilo contratual.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2"/>
          <p:cNvSpPr txBox="1"/>
          <p:nvPr/>
        </p:nvSpPr>
        <p:spPr>
          <a:xfrm>
            <a:off x="750000" y="500000"/>
            <a:ext cx="7172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Contexto e desafio</a:t>
            </a:r>
            <a:endParaRPr/>
          </a:p>
        </p:txBody>
      </p:sp>
      <p:sp>
        <p:nvSpPr>
          <p:cNvPr id="630" name="Google Shape;630;p2"/>
          <p:cNvSpPr txBox="1"/>
          <p:nvPr/>
        </p:nvSpPr>
        <p:spPr>
          <a:xfrm>
            <a:off x="750000" y="1330000"/>
            <a:ext cx="7172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cliente, a carteira e o problema posto na mesa do sócio</a:t>
            </a:r>
            <a:endParaRPr/>
          </a:p>
        </p:txBody>
      </p:sp>
      <p:sp>
        <p:nvSpPr>
          <p:cNvPr id="631" name="Google Shape;631;p2"/>
          <p:cNvSpPr/>
          <p:nvPr/>
        </p:nvSpPr>
        <p:spPr>
          <a:xfrm>
            <a:off x="750000" y="1750000"/>
            <a:ext cx="34353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2"/>
          <p:cNvSpPr txBox="1"/>
          <p:nvPr/>
        </p:nvSpPr>
        <p:spPr>
          <a:xfrm>
            <a:off x="930807" y="1840000"/>
            <a:ext cx="3073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280</a:t>
            </a:r>
            <a:endParaRPr/>
          </a:p>
        </p:txBody>
      </p:sp>
      <p:sp>
        <p:nvSpPr>
          <p:cNvPr id="633" name="Google Shape;633;p2"/>
          <p:cNvSpPr txBox="1"/>
          <p:nvPr/>
        </p:nvSpPr>
        <p:spPr>
          <a:xfrm>
            <a:off x="930807" y="2210000"/>
            <a:ext cx="307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lojas no Sul e Sudeste</a:t>
            </a:r>
            <a:endParaRPr/>
          </a:p>
        </p:txBody>
      </p:sp>
      <p:sp>
        <p:nvSpPr>
          <p:cNvPr id="634" name="Google Shape;634;p2"/>
          <p:cNvSpPr/>
          <p:nvPr/>
        </p:nvSpPr>
        <p:spPr>
          <a:xfrm>
            <a:off x="4366134" y="1750000"/>
            <a:ext cx="34353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2"/>
          <p:cNvSpPr txBox="1"/>
          <p:nvPr/>
        </p:nvSpPr>
        <p:spPr>
          <a:xfrm>
            <a:off x="4546941" y="1840000"/>
            <a:ext cx="3073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1.247</a:t>
            </a:r>
            <a:endParaRPr/>
          </a:p>
        </p:txBody>
      </p:sp>
      <p:sp>
        <p:nvSpPr>
          <p:cNvPr id="636" name="Google Shape;636;p2"/>
          <p:cNvSpPr txBox="1"/>
          <p:nvPr/>
        </p:nvSpPr>
        <p:spPr>
          <a:xfrm>
            <a:off x="4546941" y="2210000"/>
            <a:ext cx="307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renovatórias ativas</a:t>
            </a:r>
            <a:endParaRPr/>
          </a:p>
        </p:txBody>
      </p:sp>
      <p:sp>
        <p:nvSpPr>
          <p:cNvPr id="637" name="Google Shape;637;p2"/>
          <p:cNvSpPr/>
          <p:nvPr/>
        </p:nvSpPr>
        <p:spPr>
          <a:xfrm>
            <a:off x="750000" y="2550000"/>
            <a:ext cx="34353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2"/>
          <p:cNvSpPr txBox="1"/>
          <p:nvPr/>
        </p:nvSpPr>
        <p:spPr>
          <a:xfrm>
            <a:off x="930807" y="2640000"/>
            <a:ext cx="3073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R$ 18 mi</a:t>
            </a:r>
            <a:endParaRPr/>
          </a:p>
        </p:txBody>
      </p:sp>
      <p:sp>
        <p:nvSpPr>
          <p:cNvPr id="639" name="Google Shape;639;p2"/>
          <p:cNvSpPr txBox="1"/>
          <p:nvPr/>
        </p:nvSpPr>
        <p:spPr>
          <a:xfrm>
            <a:off x="930807" y="3010000"/>
            <a:ext cx="307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provisão original</a:t>
            </a:r>
            <a:endParaRPr/>
          </a:p>
        </p:txBody>
      </p:sp>
      <p:sp>
        <p:nvSpPr>
          <p:cNvPr id="640" name="Google Shape;640;p2"/>
          <p:cNvSpPr/>
          <p:nvPr/>
        </p:nvSpPr>
        <p:spPr>
          <a:xfrm>
            <a:off x="4366134" y="2550000"/>
            <a:ext cx="34353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2"/>
          <p:cNvSpPr txBox="1"/>
          <p:nvPr/>
        </p:nvSpPr>
        <p:spPr>
          <a:xfrm>
            <a:off x="4546941" y="2640000"/>
            <a:ext cx="30738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? %</a:t>
            </a:r>
            <a:endParaRPr/>
          </a:p>
        </p:txBody>
      </p:sp>
      <p:sp>
        <p:nvSpPr>
          <p:cNvPr id="642" name="Google Shape;642;p2"/>
          <p:cNvSpPr txBox="1"/>
          <p:nvPr/>
        </p:nvSpPr>
        <p:spPr>
          <a:xfrm>
            <a:off x="4546941" y="3010000"/>
            <a:ext cx="3073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taxa de êxito real</a:t>
            </a:r>
            <a:endParaRPr/>
          </a:p>
        </p:txBody>
      </p:sp>
      <p:sp>
        <p:nvSpPr>
          <p:cNvPr id="643" name="Google Shape;643;p2"/>
          <p:cNvSpPr/>
          <p:nvPr/>
        </p:nvSpPr>
        <p:spPr>
          <a:xfrm>
            <a:off x="750000" y="3500000"/>
            <a:ext cx="7172100" cy="80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2"/>
          <p:cNvSpPr txBox="1"/>
          <p:nvPr/>
        </p:nvSpPr>
        <p:spPr>
          <a:xfrm>
            <a:off x="930807" y="3580000"/>
            <a:ext cx="6810300" cy="66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O problema na mesa do sócio: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auditoria contábil questionou se os R$ 18 mi de provisão refletiam o risco real da carteira. Sem dados, a defesa do número era impossível.</a:t>
            </a:r>
            <a:endParaRPr/>
          </a:p>
        </p:txBody>
      </p:sp>
      <p:sp>
        <p:nvSpPr>
          <p:cNvPr id="645" name="Google Shape;645;p2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24"/>
          <p:cNvSpPr txBox="1"/>
          <p:nvPr/>
        </p:nvSpPr>
        <p:spPr>
          <a:xfrm>
            <a:off x="750000" y="500000"/>
            <a:ext cx="7157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Abordagem jurimétrica em 4 etapas</a:t>
            </a:r>
            <a:endParaRPr/>
          </a:p>
        </p:txBody>
      </p:sp>
      <p:sp>
        <p:nvSpPr>
          <p:cNvPr id="651" name="Google Shape;651;p24"/>
          <p:cNvSpPr txBox="1"/>
          <p:nvPr/>
        </p:nvSpPr>
        <p:spPr>
          <a:xfrm>
            <a:off x="750000" y="1330000"/>
            <a:ext cx="7157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Da pergunta de negócio à evidência estatística</a:t>
            </a:r>
            <a:endParaRPr/>
          </a:p>
        </p:txBody>
      </p:sp>
      <p:sp>
        <p:nvSpPr>
          <p:cNvPr id="652" name="Google Shape;652;p24"/>
          <p:cNvSpPr/>
          <p:nvPr/>
        </p:nvSpPr>
        <p:spPr>
          <a:xfrm>
            <a:off x="750000" y="1750000"/>
            <a:ext cx="34284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24"/>
          <p:cNvSpPr/>
          <p:nvPr/>
        </p:nvSpPr>
        <p:spPr>
          <a:xfrm>
            <a:off x="906382" y="1860000"/>
            <a:ext cx="553500" cy="4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654" name="Google Shape;654;p24"/>
          <p:cNvSpPr txBox="1"/>
          <p:nvPr/>
        </p:nvSpPr>
        <p:spPr>
          <a:xfrm>
            <a:off x="1592059" y="1910000"/>
            <a:ext cx="24660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</a:t>
            </a:r>
            <a:endParaRPr/>
          </a:p>
        </p:txBody>
      </p:sp>
      <p:sp>
        <p:nvSpPr>
          <p:cNvPr id="655" name="Google Shape;655;p24"/>
          <p:cNvSpPr txBox="1"/>
          <p:nvPr/>
        </p:nvSpPr>
        <p:spPr>
          <a:xfrm>
            <a:off x="942471" y="2350000"/>
            <a:ext cx="3043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a probabilidade de êxito por vara e o valor médio de condenação na renovatória de varejo?</a:t>
            </a:r>
            <a:endParaRPr/>
          </a:p>
        </p:txBody>
      </p:sp>
      <p:sp>
        <p:nvSpPr>
          <p:cNvPr id="656" name="Google Shape;656;p24"/>
          <p:cNvSpPr/>
          <p:nvPr/>
        </p:nvSpPr>
        <p:spPr>
          <a:xfrm>
            <a:off x="4358824" y="1750000"/>
            <a:ext cx="34284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24"/>
          <p:cNvSpPr/>
          <p:nvPr/>
        </p:nvSpPr>
        <p:spPr>
          <a:xfrm>
            <a:off x="4515206" y="1860000"/>
            <a:ext cx="553500" cy="4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658" name="Google Shape;658;p24"/>
          <p:cNvSpPr txBox="1"/>
          <p:nvPr/>
        </p:nvSpPr>
        <p:spPr>
          <a:xfrm>
            <a:off x="5200882" y="1910000"/>
            <a:ext cx="24660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Coleta</a:t>
            </a:r>
            <a:endParaRPr/>
          </a:p>
        </p:txBody>
      </p:sp>
      <p:sp>
        <p:nvSpPr>
          <p:cNvPr id="659" name="Google Shape;659;p24"/>
          <p:cNvSpPr txBox="1"/>
          <p:nvPr/>
        </p:nvSpPr>
        <p:spPr>
          <a:xfrm>
            <a:off x="4551294" y="2350000"/>
            <a:ext cx="3043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Levantamento de 1.247 sentenças do TJSP e TJRS de 2018 a 2024, filtradas por matéria e perfil de parte.</a:t>
            </a:r>
            <a:endParaRPr/>
          </a:p>
        </p:txBody>
      </p:sp>
      <p:sp>
        <p:nvSpPr>
          <p:cNvPr id="660" name="Google Shape;660;p24"/>
          <p:cNvSpPr/>
          <p:nvPr/>
        </p:nvSpPr>
        <p:spPr>
          <a:xfrm>
            <a:off x="750000" y="3030000"/>
            <a:ext cx="34284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24"/>
          <p:cNvSpPr/>
          <p:nvPr/>
        </p:nvSpPr>
        <p:spPr>
          <a:xfrm>
            <a:off x="906382" y="3140000"/>
            <a:ext cx="553500" cy="4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662" name="Google Shape;662;p24"/>
          <p:cNvSpPr txBox="1"/>
          <p:nvPr/>
        </p:nvSpPr>
        <p:spPr>
          <a:xfrm>
            <a:off x="1592059" y="3190000"/>
            <a:ext cx="24660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Análise</a:t>
            </a:r>
            <a:endParaRPr/>
          </a:p>
        </p:txBody>
      </p:sp>
      <p:sp>
        <p:nvSpPr>
          <p:cNvPr id="663" name="Google Shape;663;p24"/>
          <p:cNvSpPr txBox="1"/>
          <p:nvPr/>
        </p:nvSpPr>
        <p:spPr>
          <a:xfrm>
            <a:off x="942471" y="3630000"/>
            <a:ext cx="3043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Estatística descritiva por vara, tipo de pedido e desfecho, cruzada com tempo e valor.</a:t>
            </a:r>
            <a:endParaRPr/>
          </a:p>
        </p:txBody>
      </p:sp>
      <p:sp>
        <p:nvSpPr>
          <p:cNvPr id="664" name="Google Shape;664;p24"/>
          <p:cNvSpPr/>
          <p:nvPr/>
        </p:nvSpPr>
        <p:spPr>
          <a:xfrm>
            <a:off x="4358824" y="3030000"/>
            <a:ext cx="3428400" cy="1179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24"/>
          <p:cNvSpPr/>
          <p:nvPr/>
        </p:nvSpPr>
        <p:spPr>
          <a:xfrm>
            <a:off x="4515206" y="3140000"/>
            <a:ext cx="553500" cy="4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/>
          </a:p>
        </p:txBody>
      </p:sp>
      <p:sp>
        <p:nvSpPr>
          <p:cNvPr id="666" name="Google Shape;666;p24"/>
          <p:cNvSpPr txBox="1"/>
          <p:nvPr/>
        </p:nvSpPr>
        <p:spPr>
          <a:xfrm>
            <a:off x="5200882" y="3190000"/>
            <a:ext cx="24660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Recomendação</a:t>
            </a:r>
            <a:endParaRPr/>
          </a:p>
        </p:txBody>
      </p:sp>
      <p:sp>
        <p:nvSpPr>
          <p:cNvPr id="667" name="Google Shape;667;p24"/>
          <p:cNvSpPr txBox="1"/>
          <p:nvPr/>
        </p:nvSpPr>
        <p:spPr>
          <a:xfrm>
            <a:off x="4551294" y="3630000"/>
            <a:ext cx="3043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Provisão recalibrada por faixa de risco e estratégia diferenciada de acordo nos juízos identificados.</a:t>
            </a:r>
            <a:endParaRPr/>
          </a:p>
        </p:txBody>
      </p:sp>
      <p:sp>
        <p:nvSpPr>
          <p:cNvPr id="668" name="Google Shape;668;p24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44"/>
          <p:cNvSpPr txBox="1"/>
          <p:nvPr/>
        </p:nvSpPr>
        <p:spPr>
          <a:xfrm>
            <a:off x="750000" y="500000"/>
            <a:ext cx="7143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Achado 1: a taxa de êxito varia muito</a:t>
            </a:r>
            <a:endParaRPr/>
          </a:p>
        </p:txBody>
      </p:sp>
      <p:sp>
        <p:nvSpPr>
          <p:cNvPr id="674" name="Google Shape;674;p44"/>
          <p:cNvSpPr txBox="1"/>
          <p:nvPr/>
        </p:nvSpPr>
        <p:spPr>
          <a:xfrm>
            <a:off x="750000" y="1330000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Procedência por vara em 1.247 renovatórias analisadas</a:t>
            </a:r>
            <a:endParaRPr/>
          </a:p>
        </p:txBody>
      </p:sp>
      <p:sp>
        <p:nvSpPr>
          <p:cNvPr id="675" name="Google Shape;675;p44"/>
          <p:cNvSpPr/>
          <p:nvPr/>
        </p:nvSpPr>
        <p:spPr>
          <a:xfrm>
            <a:off x="3151040" y="1830000"/>
            <a:ext cx="7200" cy="18999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4"/>
          <p:cNvSpPr txBox="1"/>
          <p:nvPr/>
        </p:nvSpPr>
        <p:spPr>
          <a:xfrm>
            <a:off x="2850910" y="1550000"/>
            <a:ext cx="60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/>
          </a:p>
        </p:txBody>
      </p:sp>
      <p:sp>
        <p:nvSpPr>
          <p:cNvPr id="677" name="Google Shape;677;p44"/>
          <p:cNvSpPr/>
          <p:nvPr/>
        </p:nvSpPr>
        <p:spPr>
          <a:xfrm>
            <a:off x="4201496" y="1830000"/>
            <a:ext cx="7200" cy="18999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4"/>
          <p:cNvSpPr txBox="1"/>
          <p:nvPr/>
        </p:nvSpPr>
        <p:spPr>
          <a:xfrm>
            <a:off x="3901365" y="1550000"/>
            <a:ext cx="60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  <a:endParaRPr/>
          </a:p>
        </p:txBody>
      </p:sp>
      <p:sp>
        <p:nvSpPr>
          <p:cNvPr id="679" name="Google Shape;679;p44"/>
          <p:cNvSpPr/>
          <p:nvPr/>
        </p:nvSpPr>
        <p:spPr>
          <a:xfrm>
            <a:off x="5251951" y="1830000"/>
            <a:ext cx="7200" cy="18999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4"/>
          <p:cNvSpPr txBox="1"/>
          <p:nvPr/>
        </p:nvSpPr>
        <p:spPr>
          <a:xfrm>
            <a:off x="4951821" y="1550000"/>
            <a:ext cx="60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endParaRPr/>
          </a:p>
        </p:txBody>
      </p:sp>
      <p:sp>
        <p:nvSpPr>
          <p:cNvPr id="681" name="Google Shape;681;p44"/>
          <p:cNvSpPr/>
          <p:nvPr/>
        </p:nvSpPr>
        <p:spPr>
          <a:xfrm>
            <a:off x="6302406" y="1830000"/>
            <a:ext cx="7200" cy="18999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4"/>
          <p:cNvSpPr txBox="1"/>
          <p:nvPr/>
        </p:nvSpPr>
        <p:spPr>
          <a:xfrm>
            <a:off x="6002276" y="1550000"/>
            <a:ext cx="60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/>
          </a:p>
        </p:txBody>
      </p:sp>
      <p:sp>
        <p:nvSpPr>
          <p:cNvPr id="683" name="Google Shape;683;p44"/>
          <p:cNvSpPr/>
          <p:nvPr/>
        </p:nvSpPr>
        <p:spPr>
          <a:xfrm>
            <a:off x="7352861" y="1830000"/>
            <a:ext cx="7200" cy="18999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44"/>
          <p:cNvSpPr txBox="1"/>
          <p:nvPr/>
        </p:nvSpPr>
        <p:spPr>
          <a:xfrm>
            <a:off x="7052731" y="1550000"/>
            <a:ext cx="60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/>
          </a:p>
        </p:txBody>
      </p:sp>
      <p:sp>
        <p:nvSpPr>
          <p:cNvPr id="685" name="Google Shape;685;p44"/>
          <p:cNvSpPr txBox="1"/>
          <p:nvPr/>
        </p:nvSpPr>
        <p:spPr>
          <a:xfrm>
            <a:off x="1110156" y="193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A (TJSP)</a:t>
            </a:r>
            <a:endParaRPr/>
          </a:p>
        </p:txBody>
      </p:sp>
      <p:sp>
        <p:nvSpPr>
          <p:cNvPr id="686" name="Google Shape;686;p44"/>
          <p:cNvSpPr/>
          <p:nvPr/>
        </p:nvSpPr>
        <p:spPr>
          <a:xfrm>
            <a:off x="3151040" y="1950000"/>
            <a:ext cx="3277500" cy="159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44"/>
          <p:cNvSpPr txBox="1"/>
          <p:nvPr/>
        </p:nvSpPr>
        <p:spPr>
          <a:xfrm>
            <a:off x="6488486" y="1930000"/>
            <a:ext cx="4803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78%</a:t>
            </a:r>
            <a:endParaRPr/>
          </a:p>
        </p:txBody>
      </p:sp>
      <p:sp>
        <p:nvSpPr>
          <p:cNvPr id="688" name="Google Shape;688;p44"/>
          <p:cNvSpPr txBox="1"/>
          <p:nvPr/>
        </p:nvSpPr>
        <p:spPr>
          <a:xfrm>
            <a:off x="1110156" y="218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B (TJSP)</a:t>
            </a:r>
            <a:endParaRPr/>
          </a:p>
        </p:txBody>
      </p:sp>
      <p:sp>
        <p:nvSpPr>
          <p:cNvPr id="689" name="Google Shape;689;p44"/>
          <p:cNvSpPr/>
          <p:nvPr/>
        </p:nvSpPr>
        <p:spPr>
          <a:xfrm>
            <a:off x="3151040" y="2200000"/>
            <a:ext cx="2983200" cy="159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44"/>
          <p:cNvSpPr txBox="1"/>
          <p:nvPr/>
        </p:nvSpPr>
        <p:spPr>
          <a:xfrm>
            <a:off x="6194359" y="2180000"/>
            <a:ext cx="4803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71%</a:t>
            </a:r>
            <a:endParaRPr/>
          </a:p>
        </p:txBody>
      </p:sp>
      <p:sp>
        <p:nvSpPr>
          <p:cNvPr id="691" name="Google Shape;691;p44"/>
          <p:cNvSpPr txBox="1"/>
          <p:nvPr/>
        </p:nvSpPr>
        <p:spPr>
          <a:xfrm>
            <a:off x="1110156" y="243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C (TJRS)</a:t>
            </a:r>
            <a:endParaRPr/>
          </a:p>
        </p:txBody>
      </p:sp>
      <p:sp>
        <p:nvSpPr>
          <p:cNvPr id="692" name="Google Shape;692;p44"/>
          <p:cNvSpPr/>
          <p:nvPr/>
        </p:nvSpPr>
        <p:spPr>
          <a:xfrm>
            <a:off x="3151040" y="2450000"/>
            <a:ext cx="2689200" cy="159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44"/>
          <p:cNvSpPr txBox="1"/>
          <p:nvPr/>
        </p:nvSpPr>
        <p:spPr>
          <a:xfrm>
            <a:off x="5900232" y="2430000"/>
            <a:ext cx="4803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64%</a:t>
            </a:r>
            <a:endParaRPr/>
          </a:p>
        </p:txBody>
      </p:sp>
      <p:sp>
        <p:nvSpPr>
          <p:cNvPr id="694" name="Google Shape;694;p44"/>
          <p:cNvSpPr txBox="1"/>
          <p:nvPr/>
        </p:nvSpPr>
        <p:spPr>
          <a:xfrm>
            <a:off x="1110156" y="268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Média da carteira</a:t>
            </a:r>
            <a:endParaRPr/>
          </a:p>
        </p:txBody>
      </p:sp>
      <p:sp>
        <p:nvSpPr>
          <p:cNvPr id="695" name="Google Shape;695;p44"/>
          <p:cNvSpPr/>
          <p:nvPr/>
        </p:nvSpPr>
        <p:spPr>
          <a:xfrm>
            <a:off x="3151040" y="2700000"/>
            <a:ext cx="2185200" cy="1599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44"/>
          <p:cNvSpPr txBox="1"/>
          <p:nvPr/>
        </p:nvSpPr>
        <p:spPr>
          <a:xfrm>
            <a:off x="5396013" y="2680000"/>
            <a:ext cx="4800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52%</a:t>
            </a:r>
            <a:endParaRPr/>
          </a:p>
        </p:txBody>
      </p:sp>
      <p:sp>
        <p:nvSpPr>
          <p:cNvPr id="697" name="Google Shape;697;p44"/>
          <p:cNvSpPr txBox="1"/>
          <p:nvPr/>
        </p:nvSpPr>
        <p:spPr>
          <a:xfrm>
            <a:off x="1110156" y="293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D (TJSP)</a:t>
            </a:r>
            <a:endParaRPr/>
          </a:p>
        </p:txBody>
      </p:sp>
      <p:sp>
        <p:nvSpPr>
          <p:cNvPr id="698" name="Google Shape;698;p44"/>
          <p:cNvSpPr/>
          <p:nvPr/>
        </p:nvSpPr>
        <p:spPr>
          <a:xfrm>
            <a:off x="3151040" y="2950000"/>
            <a:ext cx="1722600" cy="159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4"/>
          <p:cNvSpPr txBox="1"/>
          <p:nvPr/>
        </p:nvSpPr>
        <p:spPr>
          <a:xfrm>
            <a:off x="4933813" y="2930000"/>
            <a:ext cx="4800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41%</a:t>
            </a:r>
            <a:endParaRPr/>
          </a:p>
        </p:txBody>
      </p:sp>
      <p:sp>
        <p:nvSpPr>
          <p:cNvPr id="700" name="Google Shape;700;p44"/>
          <p:cNvSpPr txBox="1"/>
          <p:nvPr/>
        </p:nvSpPr>
        <p:spPr>
          <a:xfrm>
            <a:off x="1110156" y="318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E (TJSP)</a:t>
            </a:r>
            <a:endParaRPr/>
          </a:p>
        </p:txBody>
      </p:sp>
      <p:sp>
        <p:nvSpPr>
          <p:cNvPr id="701" name="Google Shape;701;p44"/>
          <p:cNvSpPr/>
          <p:nvPr/>
        </p:nvSpPr>
        <p:spPr>
          <a:xfrm>
            <a:off x="3151040" y="3200000"/>
            <a:ext cx="1386600" cy="159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4"/>
          <p:cNvSpPr txBox="1"/>
          <p:nvPr/>
        </p:nvSpPr>
        <p:spPr>
          <a:xfrm>
            <a:off x="4597667" y="3180000"/>
            <a:ext cx="4800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33%</a:t>
            </a:r>
            <a:endParaRPr/>
          </a:p>
        </p:txBody>
      </p:sp>
      <p:sp>
        <p:nvSpPr>
          <p:cNvPr id="703" name="Google Shape;703;p44"/>
          <p:cNvSpPr txBox="1"/>
          <p:nvPr/>
        </p:nvSpPr>
        <p:spPr>
          <a:xfrm>
            <a:off x="1110156" y="3430000"/>
            <a:ext cx="1944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Vara F (TJRS)</a:t>
            </a:r>
            <a:endParaRPr/>
          </a:p>
        </p:txBody>
      </p:sp>
      <p:sp>
        <p:nvSpPr>
          <p:cNvPr id="704" name="Google Shape;704;p44"/>
          <p:cNvSpPr/>
          <p:nvPr/>
        </p:nvSpPr>
        <p:spPr>
          <a:xfrm>
            <a:off x="3151040" y="3450000"/>
            <a:ext cx="1176600" cy="159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4"/>
          <p:cNvSpPr txBox="1"/>
          <p:nvPr/>
        </p:nvSpPr>
        <p:spPr>
          <a:xfrm>
            <a:off x="4387576" y="3430000"/>
            <a:ext cx="4800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28%</a:t>
            </a:r>
            <a:endParaRPr/>
          </a:p>
        </p:txBody>
      </p:sp>
      <p:sp>
        <p:nvSpPr>
          <p:cNvPr id="706" name="Google Shape;706;p44"/>
          <p:cNvSpPr/>
          <p:nvPr/>
        </p:nvSpPr>
        <p:spPr>
          <a:xfrm>
            <a:off x="750000" y="3930000"/>
            <a:ext cx="7143000" cy="5301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4"/>
          <p:cNvSpPr txBox="1"/>
          <p:nvPr/>
        </p:nvSpPr>
        <p:spPr>
          <a:xfrm>
            <a:off x="930078" y="4000000"/>
            <a:ext cx="67827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Insight: </a:t>
            </a: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duas varas concentram desempenho 50% acima da média; outras três caem 40% abaixo. A provisão precisa refletir essa heterogeneidade.</a:t>
            </a:r>
            <a:endParaRPr/>
          </a:p>
        </p:txBody>
      </p:sp>
      <p:sp>
        <p:nvSpPr>
          <p:cNvPr id="708" name="Google Shape;708;p44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45"/>
          <p:cNvSpPr txBox="1"/>
          <p:nvPr/>
        </p:nvSpPr>
        <p:spPr>
          <a:xfrm>
            <a:off x="750000" y="500000"/>
            <a:ext cx="7121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Achado 2: tempo × valor</a:t>
            </a:r>
            <a:endParaRPr/>
          </a:p>
        </p:txBody>
      </p:sp>
      <p:sp>
        <p:nvSpPr>
          <p:cNvPr id="714" name="Google Shape;714;p45"/>
          <p:cNvSpPr txBox="1"/>
          <p:nvPr/>
        </p:nvSpPr>
        <p:spPr>
          <a:xfrm>
            <a:off x="750000" y="1330000"/>
            <a:ext cx="7121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Cruzamento de tempo de tramitação e valor médio de condenação</a:t>
            </a:r>
            <a:endParaRPr/>
          </a:p>
        </p:txBody>
      </p:sp>
      <p:sp>
        <p:nvSpPr>
          <p:cNvPr id="715" name="Google Shape;715;p45"/>
          <p:cNvSpPr/>
          <p:nvPr/>
        </p:nvSpPr>
        <p:spPr>
          <a:xfrm>
            <a:off x="750000" y="1700000"/>
            <a:ext cx="2034600" cy="36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5"/>
          <p:cNvSpPr txBox="1"/>
          <p:nvPr/>
        </p:nvSpPr>
        <p:spPr>
          <a:xfrm>
            <a:off x="845748" y="1760000"/>
            <a:ext cx="18432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Faixa de tempo</a:t>
            </a:r>
            <a:endParaRPr/>
          </a:p>
        </p:txBody>
      </p:sp>
      <p:sp>
        <p:nvSpPr>
          <p:cNvPr id="717" name="Google Shape;717;p45"/>
          <p:cNvSpPr/>
          <p:nvPr/>
        </p:nvSpPr>
        <p:spPr>
          <a:xfrm>
            <a:off x="2784636" y="1700000"/>
            <a:ext cx="1675500" cy="36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45"/>
          <p:cNvSpPr txBox="1"/>
          <p:nvPr/>
        </p:nvSpPr>
        <p:spPr>
          <a:xfrm>
            <a:off x="2880383" y="176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Casos</a:t>
            </a:r>
            <a:endParaRPr/>
          </a:p>
        </p:txBody>
      </p:sp>
      <p:sp>
        <p:nvSpPr>
          <p:cNvPr id="719" name="Google Shape;719;p45"/>
          <p:cNvSpPr/>
          <p:nvPr/>
        </p:nvSpPr>
        <p:spPr>
          <a:xfrm>
            <a:off x="4460218" y="1700000"/>
            <a:ext cx="1675500" cy="36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5"/>
          <p:cNvSpPr txBox="1"/>
          <p:nvPr/>
        </p:nvSpPr>
        <p:spPr>
          <a:xfrm>
            <a:off x="4555966" y="176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Valor médio</a:t>
            </a:r>
            <a:endParaRPr/>
          </a:p>
        </p:txBody>
      </p:sp>
      <p:sp>
        <p:nvSpPr>
          <p:cNvPr id="721" name="Google Shape;721;p45"/>
          <p:cNvSpPr/>
          <p:nvPr/>
        </p:nvSpPr>
        <p:spPr>
          <a:xfrm>
            <a:off x="6135800" y="1700000"/>
            <a:ext cx="1735500" cy="36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5"/>
          <p:cNvSpPr txBox="1"/>
          <p:nvPr/>
        </p:nvSpPr>
        <p:spPr>
          <a:xfrm>
            <a:off x="6231548" y="1760000"/>
            <a:ext cx="15438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Var. vs. média</a:t>
            </a:r>
            <a:endParaRPr/>
          </a:p>
        </p:txBody>
      </p:sp>
      <p:sp>
        <p:nvSpPr>
          <p:cNvPr id="723" name="Google Shape;723;p45"/>
          <p:cNvSpPr/>
          <p:nvPr/>
        </p:nvSpPr>
        <p:spPr>
          <a:xfrm>
            <a:off x="750000" y="2060000"/>
            <a:ext cx="20346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45"/>
          <p:cNvSpPr txBox="1"/>
          <p:nvPr/>
        </p:nvSpPr>
        <p:spPr>
          <a:xfrm>
            <a:off x="845748" y="2120000"/>
            <a:ext cx="18432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Até 18 meses</a:t>
            </a:r>
            <a:endParaRPr/>
          </a:p>
        </p:txBody>
      </p:sp>
      <p:sp>
        <p:nvSpPr>
          <p:cNvPr id="725" name="Google Shape;725;p45"/>
          <p:cNvSpPr/>
          <p:nvPr/>
        </p:nvSpPr>
        <p:spPr>
          <a:xfrm>
            <a:off x="2784636" y="2060000"/>
            <a:ext cx="167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5"/>
          <p:cNvSpPr txBox="1"/>
          <p:nvPr/>
        </p:nvSpPr>
        <p:spPr>
          <a:xfrm>
            <a:off x="2880383" y="212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  <a:endParaRPr/>
          </a:p>
        </p:txBody>
      </p:sp>
      <p:sp>
        <p:nvSpPr>
          <p:cNvPr id="727" name="Google Shape;727;p45"/>
          <p:cNvSpPr/>
          <p:nvPr/>
        </p:nvSpPr>
        <p:spPr>
          <a:xfrm>
            <a:off x="4460218" y="2060000"/>
            <a:ext cx="167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5"/>
          <p:cNvSpPr txBox="1"/>
          <p:nvPr/>
        </p:nvSpPr>
        <p:spPr>
          <a:xfrm>
            <a:off x="4555966" y="212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R$ 11.300</a:t>
            </a:r>
            <a:endParaRPr/>
          </a:p>
        </p:txBody>
      </p:sp>
      <p:sp>
        <p:nvSpPr>
          <p:cNvPr id="729" name="Google Shape;729;p45"/>
          <p:cNvSpPr/>
          <p:nvPr/>
        </p:nvSpPr>
        <p:spPr>
          <a:xfrm>
            <a:off x="6135800" y="2060000"/>
            <a:ext cx="173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5"/>
          <p:cNvSpPr txBox="1"/>
          <p:nvPr/>
        </p:nvSpPr>
        <p:spPr>
          <a:xfrm>
            <a:off x="6231548" y="2120000"/>
            <a:ext cx="15438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2D7D4F"/>
                </a:solidFill>
                <a:latin typeface="Arial Black"/>
                <a:ea typeface="Arial Black"/>
                <a:cs typeface="Arial Black"/>
                <a:sym typeface="Arial Black"/>
              </a:rPr>
              <a:t>-32%</a:t>
            </a:r>
            <a:endParaRPr/>
          </a:p>
        </p:txBody>
      </p:sp>
      <p:sp>
        <p:nvSpPr>
          <p:cNvPr id="731" name="Google Shape;731;p45"/>
          <p:cNvSpPr/>
          <p:nvPr/>
        </p:nvSpPr>
        <p:spPr>
          <a:xfrm>
            <a:off x="750000" y="2420000"/>
            <a:ext cx="20346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45"/>
          <p:cNvSpPr txBox="1"/>
          <p:nvPr/>
        </p:nvSpPr>
        <p:spPr>
          <a:xfrm>
            <a:off x="845748" y="2480000"/>
            <a:ext cx="18432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19 a 36 meses</a:t>
            </a:r>
            <a:endParaRPr/>
          </a:p>
        </p:txBody>
      </p:sp>
      <p:sp>
        <p:nvSpPr>
          <p:cNvPr id="733" name="Google Shape;733;p45"/>
          <p:cNvSpPr/>
          <p:nvPr/>
        </p:nvSpPr>
        <p:spPr>
          <a:xfrm>
            <a:off x="2784636" y="2420000"/>
            <a:ext cx="167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5"/>
          <p:cNvSpPr txBox="1"/>
          <p:nvPr/>
        </p:nvSpPr>
        <p:spPr>
          <a:xfrm>
            <a:off x="2880383" y="248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528</a:t>
            </a:r>
            <a:endParaRPr/>
          </a:p>
        </p:txBody>
      </p:sp>
      <p:sp>
        <p:nvSpPr>
          <p:cNvPr id="735" name="Google Shape;735;p45"/>
          <p:cNvSpPr/>
          <p:nvPr/>
        </p:nvSpPr>
        <p:spPr>
          <a:xfrm>
            <a:off x="4460218" y="2420000"/>
            <a:ext cx="167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5"/>
          <p:cNvSpPr txBox="1"/>
          <p:nvPr/>
        </p:nvSpPr>
        <p:spPr>
          <a:xfrm>
            <a:off x="4555966" y="248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R$ 16.700</a:t>
            </a:r>
            <a:endParaRPr/>
          </a:p>
        </p:txBody>
      </p:sp>
      <p:sp>
        <p:nvSpPr>
          <p:cNvPr id="737" name="Google Shape;737;p45"/>
          <p:cNvSpPr/>
          <p:nvPr/>
        </p:nvSpPr>
        <p:spPr>
          <a:xfrm>
            <a:off x="6135800" y="2420000"/>
            <a:ext cx="173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45"/>
          <p:cNvSpPr txBox="1"/>
          <p:nvPr/>
        </p:nvSpPr>
        <p:spPr>
          <a:xfrm>
            <a:off x="6231548" y="2480000"/>
            <a:ext cx="15438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 Black"/>
                <a:ea typeface="Arial Black"/>
                <a:cs typeface="Arial Black"/>
                <a:sym typeface="Arial Black"/>
              </a:rPr>
              <a:t>Base</a:t>
            </a:r>
            <a:endParaRPr/>
          </a:p>
        </p:txBody>
      </p:sp>
      <p:sp>
        <p:nvSpPr>
          <p:cNvPr id="739" name="Google Shape;739;p45"/>
          <p:cNvSpPr/>
          <p:nvPr/>
        </p:nvSpPr>
        <p:spPr>
          <a:xfrm>
            <a:off x="750000" y="2780000"/>
            <a:ext cx="20346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5"/>
          <p:cNvSpPr txBox="1"/>
          <p:nvPr/>
        </p:nvSpPr>
        <p:spPr>
          <a:xfrm>
            <a:off x="845748" y="2840000"/>
            <a:ext cx="18432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37 a 60 meses</a:t>
            </a:r>
            <a:endParaRPr/>
          </a:p>
        </p:txBody>
      </p:sp>
      <p:sp>
        <p:nvSpPr>
          <p:cNvPr id="741" name="Google Shape;741;p45"/>
          <p:cNvSpPr/>
          <p:nvPr/>
        </p:nvSpPr>
        <p:spPr>
          <a:xfrm>
            <a:off x="2784636" y="2780000"/>
            <a:ext cx="167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5"/>
          <p:cNvSpPr txBox="1"/>
          <p:nvPr/>
        </p:nvSpPr>
        <p:spPr>
          <a:xfrm>
            <a:off x="2880383" y="284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  <a:endParaRPr/>
          </a:p>
        </p:txBody>
      </p:sp>
      <p:sp>
        <p:nvSpPr>
          <p:cNvPr id="743" name="Google Shape;743;p45"/>
          <p:cNvSpPr/>
          <p:nvPr/>
        </p:nvSpPr>
        <p:spPr>
          <a:xfrm>
            <a:off x="4460218" y="2780000"/>
            <a:ext cx="167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45"/>
          <p:cNvSpPr txBox="1"/>
          <p:nvPr/>
        </p:nvSpPr>
        <p:spPr>
          <a:xfrm>
            <a:off x="4555966" y="284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R$ 24.900</a:t>
            </a:r>
            <a:endParaRPr/>
          </a:p>
        </p:txBody>
      </p:sp>
      <p:sp>
        <p:nvSpPr>
          <p:cNvPr id="745" name="Google Shape;745;p45"/>
          <p:cNvSpPr/>
          <p:nvPr/>
        </p:nvSpPr>
        <p:spPr>
          <a:xfrm>
            <a:off x="6135800" y="2780000"/>
            <a:ext cx="17355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5"/>
          <p:cNvSpPr txBox="1"/>
          <p:nvPr/>
        </p:nvSpPr>
        <p:spPr>
          <a:xfrm>
            <a:off x="6231548" y="2840000"/>
            <a:ext cx="15438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+49%</a:t>
            </a:r>
            <a:endParaRPr/>
          </a:p>
        </p:txBody>
      </p:sp>
      <p:sp>
        <p:nvSpPr>
          <p:cNvPr id="747" name="Google Shape;747;p45"/>
          <p:cNvSpPr/>
          <p:nvPr/>
        </p:nvSpPr>
        <p:spPr>
          <a:xfrm>
            <a:off x="750000" y="3140000"/>
            <a:ext cx="20346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5"/>
          <p:cNvSpPr txBox="1"/>
          <p:nvPr/>
        </p:nvSpPr>
        <p:spPr>
          <a:xfrm>
            <a:off x="845748" y="3200000"/>
            <a:ext cx="18432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Acima de 60 meses</a:t>
            </a:r>
            <a:endParaRPr/>
          </a:p>
        </p:txBody>
      </p:sp>
      <p:sp>
        <p:nvSpPr>
          <p:cNvPr id="749" name="Google Shape;749;p45"/>
          <p:cNvSpPr/>
          <p:nvPr/>
        </p:nvSpPr>
        <p:spPr>
          <a:xfrm>
            <a:off x="2784636" y="3140000"/>
            <a:ext cx="167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45"/>
          <p:cNvSpPr txBox="1"/>
          <p:nvPr/>
        </p:nvSpPr>
        <p:spPr>
          <a:xfrm>
            <a:off x="2880383" y="320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  <a:endParaRPr/>
          </a:p>
        </p:txBody>
      </p:sp>
      <p:sp>
        <p:nvSpPr>
          <p:cNvPr id="751" name="Google Shape;751;p45"/>
          <p:cNvSpPr/>
          <p:nvPr/>
        </p:nvSpPr>
        <p:spPr>
          <a:xfrm>
            <a:off x="4460218" y="3140000"/>
            <a:ext cx="167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45"/>
          <p:cNvSpPr txBox="1"/>
          <p:nvPr/>
        </p:nvSpPr>
        <p:spPr>
          <a:xfrm>
            <a:off x="4555966" y="3200000"/>
            <a:ext cx="14841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R$ 41.200</a:t>
            </a:r>
            <a:endParaRPr/>
          </a:p>
        </p:txBody>
      </p:sp>
      <p:sp>
        <p:nvSpPr>
          <p:cNvPr id="753" name="Google Shape;753;p45"/>
          <p:cNvSpPr/>
          <p:nvPr/>
        </p:nvSpPr>
        <p:spPr>
          <a:xfrm>
            <a:off x="6135800" y="3140000"/>
            <a:ext cx="1735500" cy="3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45"/>
          <p:cNvSpPr txBox="1"/>
          <p:nvPr/>
        </p:nvSpPr>
        <p:spPr>
          <a:xfrm>
            <a:off x="6231548" y="3200000"/>
            <a:ext cx="1543800" cy="2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+147%</a:t>
            </a:r>
            <a:endParaRPr/>
          </a:p>
        </p:txBody>
      </p:sp>
      <p:sp>
        <p:nvSpPr>
          <p:cNvPr id="755" name="Google Shape;755;p45"/>
          <p:cNvSpPr/>
          <p:nvPr/>
        </p:nvSpPr>
        <p:spPr>
          <a:xfrm>
            <a:off x="750000" y="3750000"/>
            <a:ext cx="7121100" cy="60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45"/>
          <p:cNvSpPr txBox="1"/>
          <p:nvPr/>
        </p:nvSpPr>
        <p:spPr>
          <a:xfrm>
            <a:off x="929527" y="3830000"/>
            <a:ext cx="67623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Insight: </a:t>
            </a: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casos que duram mais saem mais caros. A janela ótima para acordo é entre 19 e 36 meses, antes da escalada de valor observada na cauda longa.</a:t>
            </a:r>
            <a:endParaRPr/>
          </a:p>
        </p:txBody>
      </p:sp>
      <p:sp>
        <p:nvSpPr>
          <p:cNvPr id="757" name="Google Shape;757;p45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46"/>
          <p:cNvSpPr txBox="1"/>
          <p:nvPr/>
        </p:nvSpPr>
        <p:spPr>
          <a:xfrm>
            <a:off x="750000" y="500000"/>
            <a:ext cx="70908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Resultado: três decisões objetivas</a:t>
            </a:r>
            <a:endParaRPr/>
          </a:p>
        </p:txBody>
      </p:sp>
      <p:sp>
        <p:nvSpPr>
          <p:cNvPr id="763" name="Google Shape;763;p46"/>
          <p:cNvSpPr txBox="1"/>
          <p:nvPr/>
        </p:nvSpPr>
        <p:spPr>
          <a:xfrm>
            <a:off x="750000" y="1330000"/>
            <a:ext cx="7090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Da análise para a contabilidade, a estratégia e a operação</a:t>
            </a:r>
            <a:endParaRPr/>
          </a:p>
        </p:txBody>
      </p:sp>
      <p:sp>
        <p:nvSpPr>
          <p:cNvPr id="764" name="Google Shape;764;p46"/>
          <p:cNvSpPr/>
          <p:nvPr/>
        </p:nvSpPr>
        <p:spPr>
          <a:xfrm>
            <a:off x="750000" y="1700000"/>
            <a:ext cx="2264100" cy="215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6"/>
          <p:cNvSpPr txBox="1"/>
          <p:nvPr/>
        </p:nvSpPr>
        <p:spPr>
          <a:xfrm>
            <a:off x="845337" y="1900000"/>
            <a:ext cx="20736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R$ 12,3 mi</a:t>
            </a:r>
            <a:endParaRPr/>
          </a:p>
        </p:txBody>
      </p:sp>
      <p:sp>
        <p:nvSpPr>
          <p:cNvPr id="766" name="Google Shape;766;p46"/>
          <p:cNvSpPr txBox="1"/>
          <p:nvPr/>
        </p:nvSpPr>
        <p:spPr>
          <a:xfrm>
            <a:off x="869171" y="2550000"/>
            <a:ext cx="2025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Provisão recalibrada</a:t>
            </a:r>
            <a:endParaRPr/>
          </a:p>
        </p:txBody>
      </p:sp>
      <p:sp>
        <p:nvSpPr>
          <p:cNvPr id="767" name="Google Shape;767;p46"/>
          <p:cNvSpPr txBox="1"/>
          <p:nvPr/>
        </p:nvSpPr>
        <p:spPr>
          <a:xfrm>
            <a:off x="928756" y="3000000"/>
            <a:ext cx="1906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Redução de R$ 5,7 mi com base em risco efetivo por vara, validada pela auditoria.</a:t>
            </a:r>
            <a:endParaRPr/>
          </a:p>
        </p:txBody>
      </p:sp>
      <p:sp>
        <p:nvSpPr>
          <p:cNvPr id="768" name="Google Shape;768;p46"/>
          <p:cNvSpPr/>
          <p:nvPr/>
        </p:nvSpPr>
        <p:spPr>
          <a:xfrm>
            <a:off x="3193002" y="1700000"/>
            <a:ext cx="2264100" cy="215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6"/>
          <p:cNvSpPr txBox="1"/>
          <p:nvPr/>
        </p:nvSpPr>
        <p:spPr>
          <a:xfrm>
            <a:off x="3288339" y="1900000"/>
            <a:ext cx="20736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3 varas</a:t>
            </a:r>
            <a:endParaRPr/>
          </a:p>
        </p:txBody>
      </p:sp>
      <p:sp>
        <p:nvSpPr>
          <p:cNvPr id="770" name="Google Shape;770;p46"/>
          <p:cNvSpPr txBox="1"/>
          <p:nvPr/>
        </p:nvSpPr>
        <p:spPr>
          <a:xfrm>
            <a:off x="3312173" y="2550000"/>
            <a:ext cx="2025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Foro priorizado</a:t>
            </a:r>
            <a:endParaRPr/>
          </a:p>
        </p:txBody>
      </p:sp>
      <p:sp>
        <p:nvSpPr>
          <p:cNvPr id="771" name="Google Shape;771;p46"/>
          <p:cNvSpPr txBox="1"/>
          <p:nvPr/>
        </p:nvSpPr>
        <p:spPr>
          <a:xfrm>
            <a:off x="3371758" y="3000000"/>
            <a:ext cx="1906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Mapeamento das varas com taxa de êxito 50% acima da média orientou a distribuição.</a:t>
            </a:r>
            <a:endParaRPr/>
          </a:p>
        </p:txBody>
      </p:sp>
      <p:sp>
        <p:nvSpPr>
          <p:cNvPr id="772" name="Google Shape;772;p46"/>
          <p:cNvSpPr/>
          <p:nvPr/>
        </p:nvSpPr>
        <p:spPr>
          <a:xfrm>
            <a:off x="5636004" y="1700000"/>
            <a:ext cx="2264100" cy="215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6"/>
          <p:cNvSpPr txBox="1"/>
          <p:nvPr/>
        </p:nvSpPr>
        <p:spPr>
          <a:xfrm>
            <a:off x="5731341" y="1900000"/>
            <a:ext cx="20736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19 a 36 meses</a:t>
            </a:r>
            <a:endParaRPr/>
          </a:p>
        </p:txBody>
      </p:sp>
      <p:sp>
        <p:nvSpPr>
          <p:cNvPr id="774" name="Google Shape;774;p46"/>
          <p:cNvSpPr txBox="1"/>
          <p:nvPr/>
        </p:nvSpPr>
        <p:spPr>
          <a:xfrm>
            <a:off x="5755175" y="2550000"/>
            <a:ext cx="2025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Janela de acordo</a:t>
            </a:r>
            <a:endParaRPr/>
          </a:p>
        </p:txBody>
      </p:sp>
      <p:sp>
        <p:nvSpPr>
          <p:cNvPr id="775" name="Google Shape;775;p46"/>
          <p:cNvSpPr txBox="1"/>
          <p:nvPr/>
        </p:nvSpPr>
        <p:spPr>
          <a:xfrm>
            <a:off x="5814760" y="3000000"/>
            <a:ext cx="1906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Política de proposta ativa nessa faixa, evitando a cauda longa de cases acima de 60 meses.</a:t>
            </a:r>
            <a:endParaRPr/>
          </a:p>
        </p:txBody>
      </p:sp>
      <p:sp>
        <p:nvSpPr>
          <p:cNvPr id="776" name="Google Shape;776;p46"/>
          <p:cNvSpPr/>
          <p:nvPr/>
        </p:nvSpPr>
        <p:spPr>
          <a:xfrm>
            <a:off x="750000" y="4000000"/>
            <a:ext cx="7090800" cy="38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46"/>
          <p:cNvSpPr txBox="1"/>
          <p:nvPr/>
        </p:nvSpPr>
        <p:spPr>
          <a:xfrm>
            <a:off x="928756" y="4010000"/>
            <a:ext cx="67332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Conclusão do case: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jurimetria não substituiu a advocacia, mas deu ao sócio dados para defender cada decisão diante do board e da auditoria.</a:t>
            </a:r>
            <a:endParaRPr/>
          </a:p>
        </p:txBody>
      </p:sp>
      <p:sp>
        <p:nvSpPr>
          <p:cNvPr id="778" name="Google Shape;778;p46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35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35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Fundamentos de dados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35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35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População, amostra e tipos de variáveis para o operador do Direito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36"/>
          <p:cNvSpPr txBox="1"/>
          <p:nvPr/>
        </p:nvSpPr>
        <p:spPr>
          <a:xfrm>
            <a:off x="750000" y="500000"/>
            <a:ext cx="712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População vs. Amostra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36"/>
          <p:cNvSpPr txBox="1"/>
          <p:nvPr/>
        </p:nvSpPr>
        <p:spPr>
          <a:xfrm>
            <a:off x="750000" y="1145000"/>
            <a:ext cx="6980100" cy="4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ponto de partida de qualquer análise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36"/>
          <p:cNvSpPr/>
          <p:nvPr/>
        </p:nvSpPr>
        <p:spPr>
          <a:xfrm>
            <a:off x="750000" y="1583300"/>
            <a:ext cx="3443400" cy="15654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36"/>
          <p:cNvSpPr txBox="1"/>
          <p:nvPr/>
        </p:nvSpPr>
        <p:spPr>
          <a:xfrm>
            <a:off x="931236" y="1739836"/>
            <a:ext cx="3081000" cy="3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POPULAÇÃO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36"/>
          <p:cNvSpPr txBox="1"/>
          <p:nvPr/>
        </p:nvSpPr>
        <p:spPr>
          <a:xfrm>
            <a:off x="931236" y="2104781"/>
            <a:ext cx="3081000" cy="8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conjunto completo de casos que se quer estudar. Ex.: todos os julgados de locação do TJSP entre 2010 e 2024.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36"/>
          <p:cNvSpPr/>
          <p:nvPr/>
        </p:nvSpPr>
        <p:spPr>
          <a:xfrm>
            <a:off x="4435131" y="1583300"/>
            <a:ext cx="3443400" cy="15654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36"/>
          <p:cNvSpPr txBox="1"/>
          <p:nvPr/>
        </p:nvSpPr>
        <p:spPr>
          <a:xfrm>
            <a:off x="4616368" y="1739836"/>
            <a:ext cx="3081000" cy="3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AMOSTRA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36"/>
          <p:cNvSpPr txBox="1"/>
          <p:nvPr/>
        </p:nvSpPr>
        <p:spPr>
          <a:xfrm>
            <a:off x="4616368" y="2082353"/>
            <a:ext cx="3081000" cy="8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Subconjunto da população usado quando estudar tudo é inviável. Ex.: ler 300 processos de uma carteira de 10.000.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36"/>
          <p:cNvSpPr/>
          <p:nvPr/>
        </p:nvSpPr>
        <p:spPr>
          <a:xfrm>
            <a:off x="750000" y="3249999"/>
            <a:ext cx="7128600" cy="80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36"/>
          <p:cNvSpPr txBox="1"/>
          <p:nvPr/>
        </p:nvSpPr>
        <p:spPr>
          <a:xfrm>
            <a:off x="929712" y="3319999"/>
            <a:ext cx="67692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Regra de ouro: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toda amostra precisa ser representativa da população. Amostra enviesada produz conclusão enviesada, por mais sofisticado que seja o cálculo.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36"/>
          <p:cNvSpPr txBox="1"/>
          <p:nvPr/>
        </p:nvSpPr>
        <p:spPr>
          <a:xfrm>
            <a:off x="750000" y="4400000"/>
            <a:ext cx="61278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Wheelan (2016).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36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d94641431f_0_145"/>
          <p:cNvSpPr txBox="1"/>
          <p:nvPr/>
        </p:nvSpPr>
        <p:spPr>
          <a:xfrm>
            <a:off x="750000" y="500000"/>
            <a:ext cx="71502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Exemplo de amostra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g3d94641431f_0_145"/>
          <p:cNvSpPr txBox="1"/>
          <p:nvPr/>
        </p:nvSpPr>
        <p:spPr>
          <a:xfrm>
            <a:off x="750000" y="1379950"/>
            <a:ext cx="7150200" cy="9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8300" lIns="38300" spcFirstLastPara="1" rIns="38300" wrap="square" tIns="38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0"/>
              <a:buFont typeface="Arial"/>
              <a:buNone/>
            </a:pPr>
            <a:r>
              <a:rPr b="1" i="0" lang="en-US" sz="134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Contexto: </a:t>
            </a:r>
            <a:r>
              <a:rPr b="0" i="0" lang="en-US" sz="134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Base de dados com todos os recursos publicados no STJ de janeiro à julho de 2025</a:t>
            </a:r>
            <a:endParaRPr b="0" i="0" sz="1340" u="none" cap="none" strike="noStrike">
              <a:solidFill>
                <a:srgbClr val="1B2A4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801" lvl="0" marL="19143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340"/>
              <a:buFont typeface="Arial"/>
              <a:buChar char="●"/>
            </a:pPr>
            <a:r>
              <a:rPr b="0" i="0" lang="en-US" sz="134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18.790 recursos julgados.</a:t>
            </a:r>
            <a:endParaRPr b="0" i="0" sz="1340" u="none" cap="none" strike="noStrike">
              <a:solidFill>
                <a:srgbClr val="1B2A4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801" lvl="0" marL="19143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340"/>
              <a:buFont typeface="Arial"/>
              <a:buChar char="●"/>
            </a:pPr>
            <a:r>
              <a:rPr b="0" i="0" lang="en-US" sz="134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Filtro das três UFs mais representativas (com maior volume de recursos julgados no STJ).</a:t>
            </a:r>
            <a:endParaRPr b="1" i="0" sz="1340" u="none" cap="none" strike="noStrike">
              <a:solidFill>
                <a:srgbClr val="1B2A4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9" name="Google Shape;809;g3d94641431f_0_1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86872" y="2904524"/>
            <a:ext cx="1741338" cy="1127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0" name="Google Shape;810;g3d94641431f_0_1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64634" y="2924137"/>
            <a:ext cx="1867980" cy="1088477"/>
          </a:xfrm>
          <a:prstGeom prst="rect">
            <a:avLst/>
          </a:prstGeom>
          <a:noFill/>
          <a:ln>
            <a:noFill/>
          </a:ln>
        </p:spPr>
      </p:pic>
      <p:sp>
        <p:nvSpPr>
          <p:cNvPr id="811" name="Google Shape;811;g3d94641431f_0_145"/>
          <p:cNvSpPr txBox="1"/>
          <p:nvPr/>
        </p:nvSpPr>
        <p:spPr>
          <a:xfrm>
            <a:off x="2174339" y="2500234"/>
            <a:ext cx="11664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4125" lIns="94125" spcFirstLastPara="1" rIns="94125" wrap="square" tIns="94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1"/>
              <a:buFont typeface="Arial"/>
              <a:buNone/>
            </a:pPr>
            <a:r>
              <a:rPr b="0" i="0" lang="en-US" sz="139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População</a:t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g3d94641431f_0_145"/>
          <p:cNvSpPr txBox="1"/>
          <p:nvPr/>
        </p:nvSpPr>
        <p:spPr>
          <a:xfrm>
            <a:off x="4627951" y="2500236"/>
            <a:ext cx="1741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4125" lIns="94125" spcFirstLastPara="1" rIns="94125" wrap="square" tIns="94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1"/>
              <a:buFont typeface="Arial"/>
              <a:buNone/>
            </a:pPr>
            <a:r>
              <a:rPr b="0" i="0" lang="en-US" sz="139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Amostra aelatória</a:t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g3d94641431f_0_145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37"/>
          <p:cNvSpPr txBox="1"/>
          <p:nvPr/>
        </p:nvSpPr>
        <p:spPr>
          <a:xfrm>
            <a:off x="750000" y="500000"/>
            <a:ext cx="712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Uma Analogia Jurídica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37"/>
          <p:cNvSpPr txBox="1"/>
          <p:nvPr/>
        </p:nvSpPr>
        <p:spPr>
          <a:xfrm>
            <a:off x="750000" y="1150575"/>
            <a:ext cx="71283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Amostra está para a população como prova está para a pretensão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37"/>
          <p:cNvSpPr/>
          <p:nvPr/>
        </p:nvSpPr>
        <p:spPr>
          <a:xfrm>
            <a:off x="750000" y="1570575"/>
            <a:ext cx="3414600" cy="21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37"/>
          <p:cNvSpPr txBox="1"/>
          <p:nvPr/>
        </p:nvSpPr>
        <p:spPr>
          <a:xfrm>
            <a:off x="929709" y="1720575"/>
            <a:ext cx="30552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NO DIREITO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37"/>
          <p:cNvSpPr txBox="1"/>
          <p:nvPr/>
        </p:nvSpPr>
        <p:spPr>
          <a:xfrm>
            <a:off x="929709" y="2170575"/>
            <a:ext cx="30552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juiz decide sobre fatos que, em regra, não presenciou.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prova funciona como recorte confiável da realidade.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Prova mal produzida gera decisão mal fundamentada.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37"/>
          <p:cNvSpPr/>
          <p:nvPr/>
        </p:nvSpPr>
        <p:spPr>
          <a:xfrm>
            <a:off x="4404092" y="1570575"/>
            <a:ext cx="3414600" cy="21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37"/>
          <p:cNvSpPr txBox="1"/>
          <p:nvPr/>
        </p:nvSpPr>
        <p:spPr>
          <a:xfrm>
            <a:off x="4583802" y="1720575"/>
            <a:ext cx="30552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NA JURIMETRIA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37"/>
          <p:cNvSpPr txBox="1"/>
          <p:nvPr/>
        </p:nvSpPr>
        <p:spPr>
          <a:xfrm>
            <a:off x="4583802" y="2170575"/>
            <a:ext cx="30552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analista conclui sobre casos que não leu um a um.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amostra funciona como recorte confiável da carteira.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Amostra mal colhida gera conclusão mal fundamentada.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37"/>
          <p:cNvSpPr txBox="1"/>
          <p:nvPr/>
        </p:nvSpPr>
        <p:spPr>
          <a:xfrm>
            <a:off x="750000" y="4094375"/>
            <a:ext cx="71283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1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Nos dois casos, ônus da qualidade do recorte recai sobre quem decide.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37"/>
          <p:cNvSpPr/>
          <p:nvPr/>
        </p:nvSpPr>
        <p:spPr>
          <a:xfrm>
            <a:off x="750006" y="905100"/>
            <a:ext cx="1797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38"/>
          <p:cNvSpPr txBox="1"/>
          <p:nvPr/>
        </p:nvSpPr>
        <p:spPr>
          <a:xfrm>
            <a:off x="750023" y="500000"/>
            <a:ext cx="71502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Tipos de Variáveis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38"/>
          <p:cNvSpPr txBox="1"/>
          <p:nvPr/>
        </p:nvSpPr>
        <p:spPr>
          <a:xfrm>
            <a:off x="750023" y="1187975"/>
            <a:ext cx="6120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Três famílias que cobrem quase todo dado jurídico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38"/>
          <p:cNvSpPr/>
          <p:nvPr/>
        </p:nvSpPr>
        <p:spPr>
          <a:xfrm>
            <a:off x="750023" y="1533215"/>
            <a:ext cx="7150200" cy="89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38"/>
          <p:cNvSpPr txBox="1"/>
          <p:nvPr/>
        </p:nvSpPr>
        <p:spPr>
          <a:xfrm>
            <a:off x="870195" y="1613215"/>
            <a:ext cx="19227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Categóricas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38"/>
          <p:cNvSpPr txBox="1"/>
          <p:nvPr/>
        </p:nvSpPr>
        <p:spPr>
          <a:xfrm>
            <a:off x="870195" y="1881090"/>
            <a:ext cx="2006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Classes sem ordem natural ou com ordem fixa.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38"/>
          <p:cNvSpPr txBox="1"/>
          <p:nvPr/>
        </p:nvSpPr>
        <p:spPr>
          <a:xfrm>
            <a:off x="3011947" y="1693215"/>
            <a:ext cx="4866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Exemplos no XY&amp;A: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38"/>
          <p:cNvSpPr txBox="1"/>
          <p:nvPr/>
        </p:nvSpPr>
        <p:spPr>
          <a:xfrm>
            <a:off x="3011947" y="1973215"/>
            <a:ext cx="4866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Classe, comarca, sentenca, assunto.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38"/>
          <p:cNvSpPr/>
          <p:nvPr/>
        </p:nvSpPr>
        <p:spPr>
          <a:xfrm>
            <a:off x="750023" y="2445739"/>
            <a:ext cx="7150200" cy="8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38"/>
          <p:cNvSpPr txBox="1"/>
          <p:nvPr/>
        </p:nvSpPr>
        <p:spPr>
          <a:xfrm>
            <a:off x="870195" y="2525739"/>
            <a:ext cx="19227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Numéricas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38"/>
          <p:cNvSpPr txBox="1"/>
          <p:nvPr/>
        </p:nvSpPr>
        <p:spPr>
          <a:xfrm>
            <a:off x="870206" y="2829364"/>
            <a:ext cx="2006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Valores que podem ser somados, comparados, medidos.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38"/>
          <p:cNvSpPr txBox="1"/>
          <p:nvPr/>
        </p:nvSpPr>
        <p:spPr>
          <a:xfrm>
            <a:off x="3011947" y="2605739"/>
            <a:ext cx="4866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Exemplos no XY&amp;A: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38"/>
          <p:cNvSpPr txBox="1"/>
          <p:nvPr/>
        </p:nvSpPr>
        <p:spPr>
          <a:xfrm>
            <a:off x="3011947" y="2885739"/>
            <a:ext cx="4866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da causa, valor do aluguel, valor corrigido pelo juiz.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38"/>
          <p:cNvSpPr/>
          <p:nvPr/>
        </p:nvSpPr>
        <p:spPr>
          <a:xfrm>
            <a:off x="750023" y="3447975"/>
            <a:ext cx="7150200" cy="89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38"/>
          <p:cNvSpPr txBox="1"/>
          <p:nvPr/>
        </p:nvSpPr>
        <p:spPr>
          <a:xfrm>
            <a:off x="870195" y="3527975"/>
            <a:ext cx="19227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Temporais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38"/>
          <p:cNvSpPr txBox="1"/>
          <p:nvPr/>
        </p:nvSpPr>
        <p:spPr>
          <a:xfrm>
            <a:off x="870195" y="3907975"/>
            <a:ext cx="19227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Datas e intervalos de tempo.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38"/>
          <p:cNvSpPr txBox="1"/>
          <p:nvPr/>
        </p:nvSpPr>
        <p:spPr>
          <a:xfrm>
            <a:off x="3002963" y="3607975"/>
            <a:ext cx="48669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Exemplos no XY&amp;A: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38"/>
          <p:cNvSpPr txBox="1"/>
          <p:nvPr/>
        </p:nvSpPr>
        <p:spPr>
          <a:xfrm>
            <a:off x="3002963" y="3887975"/>
            <a:ext cx="48669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de distribuição, data da sentença, data do trânsito, tempo até sentença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38"/>
          <p:cNvSpPr txBox="1"/>
          <p:nvPr/>
        </p:nvSpPr>
        <p:spPr>
          <a:xfrm>
            <a:off x="750023" y="4400000"/>
            <a:ext cx="6121200" cy="2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Wheelan (2016).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38"/>
          <p:cNvSpPr/>
          <p:nvPr/>
        </p:nvSpPr>
        <p:spPr>
          <a:xfrm>
            <a:off x="749025" y="953307"/>
            <a:ext cx="1829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39"/>
          <p:cNvSpPr txBox="1"/>
          <p:nvPr/>
        </p:nvSpPr>
        <p:spPr>
          <a:xfrm>
            <a:off x="750162" y="500000"/>
            <a:ext cx="6978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Variáveis na Base XY&amp;A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39"/>
          <p:cNvSpPr txBox="1"/>
          <p:nvPr/>
        </p:nvSpPr>
        <p:spPr>
          <a:xfrm>
            <a:off x="750162" y="1145000"/>
            <a:ext cx="6978600" cy="3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Aplicando a classificação à carteira 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39"/>
          <p:cNvSpPr/>
          <p:nvPr/>
        </p:nvSpPr>
        <p:spPr>
          <a:xfrm>
            <a:off x="750162" y="1702662"/>
            <a:ext cx="2287200" cy="1919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39"/>
          <p:cNvSpPr/>
          <p:nvPr/>
        </p:nvSpPr>
        <p:spPr>
          <a:xfrm>
            <a:off x="750162" y="1702662"/>
            <a:ext cx="2287200" cy="306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39"/>
          <p:cNvSpPr txBox="1"/>
          <p:nvPr/>
        </p:nvSpPr>
        <p:spPr>
          <a:xfrm>
            <a:off x="867449" y="1764078"/>
            <a:ext cx="2052300" cy="1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Categóricas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39"/>
          <p:cNvSpPr txBox="1"/>
          <p:nvPr/>
        </p:nvSpPr>
        <p:spPr>
          <a:xfrm>
            <a:off x="961279" y="2109546"/>
            <a:ext cx="1935300" cy="14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Comarca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Sentença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Polo autor/réu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39"/>
          <p:cNvSpPr/>
          <p:nvPr/>
        </p:nvSpPr>
        <p:spPr>
          <a:xfrm>
            <a:off x="3178014" y="1702662"/>
            <a:ext cx="2287200" cy="1919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39"/>
          <p:cNvSpPr/>
          <p:nvPr/>
        </p:nvSpPr>
        <p:spPr>
          <a:xfrm>
            <a:off x="3178014" y="1702662"/>
            <a:ext cx="2287200" cy="306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39"/>
          <p:cNvSpPr txBox="1"/>
          <p:nvPr/>
        </p:nvSpPr>
        <p:spPr>
          <a:xfrm>
            <a:off x="3295302" y="1764078"/>
            <a:ext cx="2052300" cy="1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Numéricas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39"/>
          <p:cNvSpPr txBox="1"/>
          <p:nvPr/>
        </p:nvSpPr>
        <p:spPr>
          <a:xfrm>
            <a:off x="3389132" y="2109546"/>
            <a:ext cx="1935300" cy="14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da causa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do aluguel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do aluguel  corrigido pelo juiz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39"/>
          <p:cNvSpPr/>
          <p:nvPr/>
        </p:nvSpPr>
        <p:spPr>
          <a:xfrm>
            <a:off x="5605867" y="1702662"/>
            <a:ext cx="2287200" cy="1919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39"/>
          <p:cNvSpPr/>
          <p:nvPr/>
        </p:nvSpPr>
        <p:spPr>
          <a:xfrm>
            <a:off x="5605867" y="1702662"/>
            <a:ext cx="2287200" cy="3069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39"/>
          <p:cNvSpPr txBox="1"/>
          <p:nvPr/>
        </p:nvSpPr>
        <p:spPr>
          <a:xfrm>
            <a:off x="5723154" y="1764078"/>
            <a:ext cx="2052300" cy="1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Temporais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39"/>
          <p:cNvSpPr txBox="1"/>
          <p:nvPr/>
        </p:nvSpPr>
        <p:spPr>
          <a:xfrm>
            <a:off x="5816984" y="2109546"/>
            <a:ext cx="1935300" cy="14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da distribuição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da sentença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do trânsito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5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Tempo até o trânsito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39"/>
          <p:cNvSpPr/>
          <p:nvPr/>
        </p:nvSpPr>
        <p:spPr>
          <a:xfrm>
            <a:off x="750150" y="4078050"/>
            <a:ext cx="7143000" cy="3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39"/>
          <p:cNvSpPr txBox="1"/>
          <p:nvPr/>
        </p:nvSpPr>
        <p:spPr>
          <a:xfrm>
            <a:off x="930224" y="4108050"/>
            <a:ext cx="67827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Toda análise futura combina variáveis destas três famílias. Saber classificá-las é o primeiro passo.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39"/>
          <p:cNvSpPr/>
          <p:nvPr/>
        </p:nvSpPr>
        <p:spPr>
          <a:xfrm>
            <a:off x="749024" y="953307"/>
            <a:ext cx="20859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41"/>
          <p:cNvSpPr txBox="1"/>
          <p:nvPr/>
        </p:nvSpPr>
        <p:spPr>
          <a:xfrm>
            <a:off x="750000" y="500000"/>
            <a:ext cx="71502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Síntese do Bloco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41"/>
          <p:cNvSpPr txBox="1"/>
          <p:nvPr/>
        </p:nvSpPr>
        <p:spPr>
          <a:xfrm>
            <a:off x="750000" y="1330000"/>
            <a:ext cx="7150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Cinco pontos para levar para casa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41"/>
          <p:cNvSpPr/>
          <p:nvPr/>
        </p:nvSpPr>
        <p:spPr>
          <a:xfrm>
            <a:off x="750000" y="1750000"/>
            <a:ext cx="600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41"/>
          <p:cNvSpPr txBox="1"/>
          <p:nvPr/>
        </p:nvSpPr>
        <p:spPr>
          <a:xfrm>
            <a:off x="1471034" y="1810000"/>
            <a:ext cx="6369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Jurimetria aplica ciência de dados ao Direito, com objetivos empíricos, quantitativos e aplicados.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41"/>
          <p:cNvSpPr/>
          <p:nvPr/>
        </p:nvSpPr>
        <p:spPr>
          <a:xfrm>
            <a:off x="750000" y="2320000"/>
            <a:ext cx="600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1"/>
          <p:cNvSpPr txBox="1"/>
          <p:nvPr/>
        </p:nvSpPr>
        <p:spPr>
          <a:xfrm>
            <a:off x="1471034" y="2380000"/>
            <a:ext cx="6369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Dados não substituem a análise jurídica; eles fundamentam decisões de litígio, negociação, provisionamento e gestão.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41"/>
          <p:cNvSpPr/>
          <p:nvPr/>
        </p:nvSpPr>
        <p:spPr>
          <a:xfrm>
            <a:off x="750000" y="2890000"/>
            <a:ext cx="600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1"/>
          <p:cNvSpPr txBox="1"/>
          <p:nvPr/>
        </p:nvSpPr>
        <p:spPr>
          <a:xfrm>
            <a:off x="1471034" y="2950000"/>
            <a:ext cx="6369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abordagem qualitativa responde pelo caso concreto; a quantitativa responde pela carteira.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41"/>
          <p:cNvSpPr/>
          <p:nvPr/>
        </p:nvSpPr>
        <p:spPr>
          <a:xfrm>
            <a:off x="750000" y="3460000"/>
            <a:ext cx="600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41"/>
          <p:cNvSpPr txBox="1"/>
          <p:nvPr/>
        </p:nvSpPr>
        <p:spPr>
          <a:xfrm>
            <a:off x="1471034" y="3520000"/>
            <a:ext cx="6369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Toda análise começa por distinguir população, amostra e variáveis categóricas, numéricas e temporais.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41"/>
          <p:cNvSpPr/>
          <p:nvPr/>
        </p:nvSpPr>
        <p:spPr>
          <a:xfrm>
            <a:off x="750000" y="4030000"/>
            <a:ext cx="600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41"/>
          <p:cNvSpPr txBox="1"/>
          <p:nvPr/>
        </p:nvSpPr>
        <p:spPr>
          <a:xfrm>
            <a:off x="1471034" y="4090000"/>
            <a:ext cx="6369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Transformar uma dúvida jurídica em pergunta jurimétrica é a ponte que vamos atravessar no Bloco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41"/>
          <p:cNvSpPr/>
          <p:nvPr/>
        </p:nvSpPr>
        <p:spPr>
          <a:xfrm>
            <a:off x="750006" y="905100"/>
            <a:ext cx="18027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42"/>
          <p:cNvSpPr txBox="1"/>
          <p:nvPr/>
        </p:nvSpPr>
        <p:spPr>
          <a:xfrm>
            <a:off x="750000" y="500000"/>
            <a:ext cx="71355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Ponte para o Bloco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42"/>
          <p:cNvSpPr txBox="1"/>
          <p:nvPr/>
        </p:nvSpPr>
        <p:spPr>
          <a:xfrm>
            <a:off x="750000" y="1330000"/>
            <a:ext cx="6552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vem a seguir, depois do intervalo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42"/>
          <p:cNvSpPr txBox="1"/>
          <p:nvPr/>
        </p:nvSpPr>
        <p:spPr>
          <a:xfrm>
            <a:off x="750000" y="1585100"/>
            <a:ext cx="16521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42"/>
          <p:cNvSpPr txBox="1"/>
          <p:nvPr/>
        </p:nvSpPr>
        <p:spPr>
          <a:xfrm>
            <a:off x="2346910" y="1780000"/>
            <a:ext cx="4956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Do conceito à prática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42"/>
          <p:cNvSpPr txBox="1"/>
          <p:nvPr/>
        </p:nvSpPr>
        <p:spPr>
          <a:xfrm>
            <a:off x="2346910" y="2100000"/>
            <a:ext cx="4956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1" lang="en-US" sz="12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Bloco 2 vamos aplicar o que acabamos de discutir.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42"/>
          <p:cNvSpPr/>
          <p:nvPr/>
        </p:nvSpPr>
        <p:spPr>
          <a:xfrm>
            <a:off x="794053" y="2650000"/>
            <a:ext cx="2178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42"/>
          <p:cNvSpPr txBox="1"/>
          <p:nvPr/>
        </p:nvSpPr>
        <p:spPr>
          <a:xfrm>
            <a:off x="1108694" y="2600000"/>
            <a:ext cx="29046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Justiça em Números e DataJud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42"/>
          <p:cNvSpPr txBox="1"/>
          <p:nvPr/>
        </p:nvSpPr>
        <p:spPr>
          <a:xfrm>
            <a:off x="4134087" y="2600000"/>
            <a:ext cx="375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Panorama do uso de dados no Judiciário brasileiro.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42"/>
          <p:cNvSpPr/>
          <p:nvPr/>
        </p:nvSpPr>
        <p:spPr>
          <a:xfrm>
            <a:off x="794053" y="3080000"/>
            <a:ext cx="2178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42"/>
          <p:cNvSpPr txBox="1"/>
          <p:nvPr/>
        </p:nvSpPr>
        <p:spPr>
          <a:xfrm>
            <a:off x="1108694" y="3030000"/>
            <a:ext cx="29046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Painéis do CNJ, na prática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42"/>
          <p:cNvSpPr txBox="1"/>
          <p:nvPr/>
        </p:nvSpPr>
        <p:spPr>
          <a:xfrm>
            <a:off x="4134087" y="3030000"/>
            <a:ext cx="375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Demonstração ao vivo.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42"/>
          <p:cNvSpPr/>
          <p:nvPr/>
        </p:nvSpPr>
        <p:spPr>
          <a:xfrm>
            <a:off x="794053" y="3510000"/>
            <a:ext cx="2178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42"/>
          <p:cNvSpPr txBox="1"/>
          <p:nvPr/>
        </p:nvSpPr>
        <p:spPr>
          <a:xfrm>
            <a:off x="1108694" y="3460000"/>
            <a:ext cx="29046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Leitura crítica de dados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42"/>
          <p:cNvSpPr txBox="1"/>
          <p:nvPr/>
        </p:nvSpPr>
        <p:spPr>
          <a:xfrm>
            <a:off x="4134087" y="3460000"/>
            <a:ext cx="375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Quais perguntas fazer ao olhar um número.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42"/>
          <p:cNvSpPr/>
          <p:nvPr/>
        </p:nvSpPr>
        <p:spPr>
          <a:xfrm>
            <a:off x="794053" y="3940000"/>
            <a:ext cx="2178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42"/>
          <p:cNvSpPr txBox="1"/>
          <p:nvPr/>
        </p:nvSpPr>
        <p:spPr>
          <a:xfrm>
            <a:off x="1108694" y="3890000"/>
            <a:ext cx="29046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Dúvida → pergunta jurimétrica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42"/>
          <p:cNvSpPr txBox="1"/>
          <p:nvPr/>
        </p:nvSpPr>
        <p:spPr>
          <a:xfrm>
            <a:off x="4134087" y="3890000"/>
            <a:ext cx="3751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ponte fundamental que sustenta a Aula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42"/>
          <p:cNvSpPr/>
          <p:nvPr/>
        </p:nvSpPr>
        <p:spPr>
          <a:xfrm>
            <a:off x="749030" y="953307"/>
            <a:ext cx="1778400" cy="543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43"/>
          <p:cNvSpPr txBox="1"/>
          <p:nvPr/>
        </p:nvSpPr>
        <p:spPr>
          <a:xfrm>
            <a:off x="750000" y="500000"/>
            <a:ext cx="7143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Referências do Bloco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43"/>
          <p:cNvSpPr txBox="1"/>
          <p:nvPr/>
        </p:nvSpPr>
        <p:spPr>
          <a:xfrm>
            <a:off x="750000" y="1330000"/>
            <a:ext cx="7143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Fontes citadas ao longo do conteúdo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43"/>
          <p:cNvSpPr txBox="1"/>
          <p:nvPr/>
        </p:nvSpPr>
        <p:spPr>
          <a:xfrm>
            <a:off x="750000" y="1780000"/>
            <a:ext cx="7143000" cy="27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NUNES, Marcelo Guedes. Jurimetria: como a estatística pode reinventar o Direito. 2. ed. São Paulo: Revista dos Tribunais, 2019.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ZABALA, Filipe Jaeger; SILVEIRA, Fabiano Feijó. Jurimetria: estatística aplicada ao Direito. Revista Direito e Liberdade, v. 16, n. 1, 2014.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KATZ, Daniel Martin; BOMMARITO, Michael J. Quantitative Legal Prediction. Emory Law Journal, v. 62, 2013.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WHEELAN, Charles. Estatística: o que é, para que serve, como funciona. Rio de Janeiro: Zahar, 2016.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E8A317"/>
              </a:buClr>
              <a:buSzPts val="1150"/>
              <a:buFont typeface="Arial"/>
              <a:buChar char="■"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ASSOCIAÇÃO BRASILEIRA DE JURIMETRIA (ABJ). Relatórios e publicações. Disponível em: abj.org.br.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43"/>
          <p:cNvSpPr txBox="1"/>
          <p:nvPr/>
        </p:nvSpPr>
        <p:spPr>
          <a:xfrm>
            <a:off x="750000" y="4300000"/>
            <a:ext cx="6049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Leituras complementares estarão indicadas ao longo dos próximos blocos.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43"/>
          <p:cNvSpPr/>
          <p:nvPr/>
        </p:nvSpPr>
        <p:spPr>
          <a:xfrm>
            <a:off x="750005" y="905100"/>
            <a:ext cx="15252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g3d94641431f_0_127"/>
          <p:cNvSpPr/>
          <p:nvPr/>
        </p:nvSpPr>
        <p:spPr>
          <a:xfrm>
            <a:off x="822960" y="914400"/>
            <a:ext cx="54864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600"/>
              <a:buFont typeface="Arial Black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Fim do Bloco 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g3d94641431f_0_127"/>
          <p:cNvSpPr/>
          <p:nvPr/>
        </p:nvSpPr>
        <p:spPr>
          <a:xfrm>
            <a:off x="822960" y="1691640"/>
            <a:ext cx="18288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g3d94641431f_0_127"/>
          <p:cNvSpPr/>
          <p:nvPr/>
        </p:nvSpPr>
        <p:spPr>
          <a:xfrm>
            <a:off x="822960" y="2391995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Intervalo de 15 minutos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g3d94641431f_0_127"/>
          <p:cNvSpPr txBox="1"/>
          <p:nvPr/>
        </p:nvSpPr>
        <p:spPr>
          <a:xfrm>
            <a:off x="822955" y="2849200"/>
            <a:ext cx="5486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 Bloco 2: painéis do Judiciário e a ponte para a pergunta jurimétrica.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2026-02-14T20:12:37Z</dcterms:created>
  <dc:creator>Bruno Daleffi</dc:creator>
</cp:coreProperties>
</file>