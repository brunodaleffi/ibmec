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5143500" cy="9144000"/>
  <p:embeddedFontLs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j3UvtInmSo4jnXEd4UTpQYdXD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94641431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d94641431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g3d94641431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94641431f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d94641431f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d94641431f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94641431f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94641431f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94641431f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8b75b7e57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g38b75b7e57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d94641431f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d94641431f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94641431f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d94641431f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8" name="Google Shape;918;g3d94641431f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aS4vONWGQIGg2DOqpeVsQNEe0uXi25zZ/edit?gid=1835807719#gid=1835807719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0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E ANÁLISE DE DADOS PARA DECISÕES ESTRATÉGICAS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Aula 1 – Bloco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097280" y="3337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Por que dados importam e como transformar dúvidas jurídicas em perguntas jurimétricas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94641431f_0_32"/>
          <p:cNvSpPr/>
          <p:nvPr/>
        </p:nvSpPr>
        <p:spPr>
          <a:xfrm>
            <a:off x="571490" y="502920"/>
            <a:ext cx="6309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Sobre o Docente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d94641431f_0_32"/>
          <p:cNvSpPr/>
          <p:nvPr/>
        </p:nvSpPr>
        <p:spPr>
          <a:xfrm>
            <a:off x="571485" y="1115575"/>
            <a:ext cx="6217800" cy="245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94641431f_0_32"/>
          <p:cNvSpPr/>
          <p:nvPr/>
        </p:nvSpPr>
        <p:spPr>
          <a:xfrm>
            <a:off x="617200" y="1115476"/>
            <a:ext cx="6863700" cy="816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d94641431f_0_32"/>
          <p:cNvSpPr/>
          <p:nvPr/>
        </p:nvSpPr>
        <p:spPr>
          <a:xfrm>
            <a:off x="708660" y="1280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Bruno Daleffi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94641431f_0_32"/>
          <p:cNvSpPr/>
          <p:nvPr/>
        </p:nvSpPr>
        <p:spPr>
          <a:xfrm>
            <a:off x="708650" y="1828800"/>
            <a:ext cx="4295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Bacharelado em Estatística pelo IME-USP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•  Graduação sanduíche na Universidade do Porto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Mestre em Inteligência Artificial pela POLI-USP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Sócio e Head de Operações e Ciência de Dados na</a:t>
            </a:r>
            <a:endParaRPr b="0" i="0" sz="1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Terranova Consultoria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Coordenador e Orientador de Pesquisa na ABJ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94641431f_0_32"/>
          <p:cNvSpPr/>
          <p:nvPr/>
        </p:nvSpPr>
        <p:spPr>
          <a:xfrm>
            <a:off x="708660" y="3787140"/>
            <a:ext cx="1828800" cy="41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d94641431f_0_32"/>
          <p:cNvSpPr/>
          <p:nvPr/>
        </p:nvSpPr>
        <p:spPr>
          <a:xfrm>
            <a:off x="70866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94641431f_0_32"/>
          <p:cNvSpPr/>
          <p:nvPr/>
        </p:nvSpPr>
        <p:spPr>
          <a:xfrm>
            <a:off x="2720340" y="3787140"/>
            <a:ext cx="1828800" cy="4116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d94641431f_0_32"/>
          <p:cNvSpPr/>
          <p:nvPr/>
        </p:nvSpPr>
        <p:spPr>
          <a:xfrm>
            <a:off x="272034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d94641431f_0_32"/>
          <p:cNvSpPr/>
          <p:nvPr/>
        </p:nvSpPr>
        <p:spPr>
          <a:xfrm>
            <a:off x="4732020" y="3787140"/>
            <a:ext cx="1828800" cy="4116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d94641431f_0_32"/>
          <p:cNvSpPr/>
          <p:nvPr/>
        </p:nvSpPr>
        <p:spPr>
          <a:xfrm>
            <a:off x="473202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Jurimetria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g3d94641431f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210" y="1266760"/>
            <a:ext cx="2450700" cy="2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Agenda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vamos percorrer nas próximas 1h50min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81363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301363" y="17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Apresentação da disciplina, metodologia e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204761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724761" y="17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 caso fio condutor: escritório X, Y &amp; Associados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81363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301363" y="23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 base do trabalho final: 16.110 julgados do 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204761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4724761" y="23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 que é Jurimetria: conceito, histórico e a ABJ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81363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301363" y="29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Por que dados importam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204761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4724761" y="29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Abordagem qualitativa vs. 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81363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301363" y="35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Tipos de decisões jurídicas apoiadas por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204761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724761" y="35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Fundamentos de dados: população, amostra e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Objetivos de Aprendizagem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Ao final deste bloco, você será capaz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Compreender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2571750" y="1750000"/>
            <a:ext cx="532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é Jurimetria, como ela nasceu e por que ganhou tração no Brasil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Identificar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2281650" y="2270000"/>
            <a:ext cx="543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 tipos de decisão jurídica podem ser apoiadas por dados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Distinguir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2164025" y="2790000"/>
            <a:ext cx="5551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abordagens qualitativa e quantitativa e saber quando cada uma funciona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Dominar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2046425" y="3310000"/>
            <a:ext cx="5668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fundamentos de dados: população, amostra e tipos de variáveis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Transformar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2454150" y="3830000"/>
            <a:ext cx="5394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uma dúvida jurídica vaga em uma pergunta jurimétrica bem formulada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 Conceito ao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este bloco se conecta ao que vocês vão apresentar na 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50000" y="1730000"/>
            <a:ext cx="595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conceito daqui volta, na Aula 6, aplicado a dados reais.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50000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920799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HOJE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920799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920799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Conceitos, histórico e tipos de dados. Primeiro contato com a base do trabalho.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084250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3255048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AULAS 2 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3255048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Método e aceleração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3255048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 em modo raiz e depois com IA generativa.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18499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5589298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5589298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Apresentação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5589298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Grupos aplicam o ciclo aos 16.110 julgados de locação e apresentam a análise.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Carga horária, metodologia, avaliação e cronologia de aprendizado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Panorama da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vamos trabalhar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50000" y="175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50000" y="24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50000" y="270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 encontros de 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3750000" y="175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3750000" y="24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blocos por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3750000" y="270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~1h50 cada, com intervalo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50000" y="300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50000" y="368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 IA generativa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50000" y="395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sem exigir programação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3750000" y="300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3750000" y="368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julgados reais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3750000" y="395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50000" y="1105719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Teórico-prática em dois blocos equilibrados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50000" y="1421151"/>
            <a:ext cx="5949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aula tem dois blocos de 1h50 com intervalo de 15 minutos. O primeiro concentra fundamentos conceituais; o segundo aprofunda a aplicação prática com Excel e IA generativa.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50000" y="2392044"/>
            <a:ext cx="2850000" cy="18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900000" y="2532044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00000" y="2842050"/>
            <a:ext cx="2613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 conceituais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900000" y="3366805"/>
            <a:ext cx="25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Exposição dialogada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Discussão de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Interação com a turma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850000" y="2392044"/>
            <a:ext cx="2850000" cy="18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000000" y="2532044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4000000" y="2842044"/>
            <a:ext cx="255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Aplicação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4000000" y="3366805"/>
            <a:ext cx="25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Demonstrações em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Uso de IA generativa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Exercícios e estudos de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Cronologia de Aprendizado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50000" y="1150576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progressão pedagógica das 6 aulas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50000" y="1570576"/>
            <a:ext cx="5949900" cy="4101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30000" y="165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700000" y="165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FUNDAMENTO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3250000" y="165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Entender o que é Jurimetria e por que importa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750000" y="201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830000" y="209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1700000" y="209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MÉTODO –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3250000" y="209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dados: perguntar, mapear, coletar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50000" y="2450576"/>
            <a:ext cx="5949900" cy="41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830000" y="253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700000" y="253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MÉTODO –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3250000" y="253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dados: tratar, analisar, apresentar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50000" y="289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30000" y="297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1700000" y="297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3250000" y="297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Inferência e 4 modelos preditivos para decisão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50000" y="3330576"/>
            <a:ext cx="5949900" cy="41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30000" y="341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700000" y="341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ACELERAÇÃO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3250000" y="341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Revisitar o ciclo com IA generativa em todas as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50000" y="377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30000" y="385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700000" y="385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APRESENTAÇÃO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3250000" y="385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Trabalho final sobre a base real de 16.110 julgados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50000" y="438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Estamos aqui, na Aula 1. A progressão é acumulativa: cada aula constrói sobre a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Sistema de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750000" y="1173004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Dois instrumentos, 10 pontos no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900000" y="1643004"/>
            <a:ext cx="24999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900000" y="2743004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900000" y="3043004"/>
            <a:ext cx="24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Atividades Individuais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900000" y="3343004"/>
            <a:ext cx="2499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Instrumento 1: 4 atividades, média aritmética simples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3750000" y="1743004"/>
            <a:ext cx="0" cy="21999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 txBox="1"/>
          <p:nvPr/>
        </p:nvSpPr>
        <p:spPr>
          <a:xfrm>
            <a:off x="4050000" y="1643004"/>
            <a:ext cx="24999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7,0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050000" y="2743004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4050000" y="3043004"/>
            <a:ext cx="24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Trabalho em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4050000" y="3343004"/>
            <a:ext cx="2499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Instrumento 2: apresentação oral em grupos de até 6, na 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750000" y="435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Total: 10,0 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Como Funcionam os Instrumentos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750000" y="110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Detalhamento da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71500" y="1500000"/>
            <a:ext cx="3522000" cy="27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753666" y="1650000"/>
            <a:ext cx="315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INSTRUMENTO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753666" y="1970000"/>
            <a:ext cx="3157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Atividades em sala (3,0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753666" y="2500000"/>
            <a:ext cx="31575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Ao final das Aulas 1 a 4, uma atividade com 2 a 3 perguntas objetivas.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Cenário: caso fictício X, Y &amp; Associados.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Entrega até a aula seguinte; correção comentada em sala.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Nota final = média aritmética das 4 entregas.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275549" y="1500000"/>
            <a:ext cx="3522000" cy="27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4457716" y="1650000"/>
            <a:ext cx="315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INSTRUMENTO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457716" y="1970000"/>
            <a:ext cx="3157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Trabalho em grupo (7,0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4457716" y="2500000"/>
            <a:ext cx="31575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Grupos de até 6 participantes.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 real: 16.110 julgados TJSP, locação PJ, 2010 a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Apresentação oral na Aula 6: 20 min + 10 min de perguntas.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Escopo: análise descritiva exploratória (sem modelos preditivos).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caso X, Y &amp; Associados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 fio condutor das atividades em sala e o cliente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Perfil do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X, Y &amp; Associados (XY&amp;A)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750000" y="17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850000" y="18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2350442" y="18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Médio, 40 advogados, sede em São Paulo/SP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750000" y="2150000"/>
            <a:ext cx="66210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850000" y="22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Atuação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2350442" y="22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Contencioso imobiliário, com foco em locação comercial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750000" y="25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850000" y="26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Especialidade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2350442" y="26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e renovatória de aluguel para pessoa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750000" y="2950000"/>
            <a:ext cx="70437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850000" y="30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Carteira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2350450" y="30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16.110 julgados no TJSP no período de 2010 a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50000" y="33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850000" y="34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2350442" y="34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Planilhas e e-mail; sem sistema, sem KPIs, sem controle automatizado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750000" y="3750000"/>
            <a:ext cx="70437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850000" y="38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Pressão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2350450" y="38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Clientes corporativos exigem relatórios, previsibilidade e eficiência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750000" y="4250000"/>
            <a:ext cx="594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 fictício construído para a disciplina. A carteira, porém, é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Panorama Financeiro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Os números que o sócio-gestor precisa explicar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750000" y="163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900000" y="175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R$ 18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900000" y="2272390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faturamento 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900000" y="255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queda de 12% em 2 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3750000" y="163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3900000" y="175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R$ 2,8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3900000" y="2272390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custo com correspondentes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3900000" y="255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sem controle de 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750000" y="298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00000" y="310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R$ 45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00000" y="3622389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provisões judiciais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900000" y="390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baseadas em intuição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750000" y="298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3900000" y="310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3900000" y="3622389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taxa de êxito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3900000" y="390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desconhecida pelo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750000" y="434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Quatro perguntas em aberto que viraram oportunidade para a Jurimetria.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Carteira de Processos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distribuição por 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750000" y="1750000"/>
            <a:ext cx="5950000" cy="4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900000" y="1790000"/>
            <a:ext cx="34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4350000" y="1790000"/>
            <a:ext cx="11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Julgados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5500000" y="1790000"/>
            <a:ext cx="11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% do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750000" y="2150000"/>
            <a:ext cx="5950000" cy="4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750000" y="2150000"/>
            <a:ext cx="4800000" cy="4600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900000" y="221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 de locação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4350000" y="221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13.201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5500000" y="221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82%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750000" y="2610000"/>
            <a:ext cx="5950000" cy="4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750000" y="2610000"/>
            <a:ext cx="1050000" cy="4600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900000" y="267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de aluguel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4350000" y="267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2.909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5500000" y="267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750000" y="3070000"/>
            <a:ext cx="595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900000" y="314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350000" y="3140000"/>
            <a:ext cx="11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500000" y="3140000"/>
            <a:ext cx="11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750000" y="425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renovatória domina quase 5 de cada 6 processos. Esse desequilíbrio vai reaparecer em toda análise que o escritório fizer.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Os Desafios Reais do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Pontos de dor que a Jurimetria pode endereçar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70000" y="18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1470000" y="187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Provisões no escuro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900000" y="240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R$ 45 mi provisionados por intuição, sem estatística.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3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870000" y="18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470000" y="187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Correspondentes sem 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3900000" y="240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R$ 2,8 mi/ano gastos sem medir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750000" y="307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70000" y="317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1470000" y="319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Clientes exigentes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900000" y="372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Redes de varejo pedem relatórios e previsibilidade.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3750000" y="307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870000" y="317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4470000" y="319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Sem taxa de êxito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3900000" y="372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Não se mede resultado por vara, juiz ou perfil do caso.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base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16.110 julgados de revisão e renovatória de locação do 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/>
        </p:nvSpPr>
        <p:spPr>
          <a:xfrm>
            <a:off x="750000" y="500000"/>
            <a:ext cx="594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r>
              <a:rPr b="1" i="0" lang="en-US" sz="2400" u="sng" cap="none" strike="noStrike">
                <a:solidFill>
                  <a:schemeClr val="hlink"/>
                </a:solidFill>
                <a:latin typeface="Arial Black"/>
                <a:ea typeface="Arial Black"/>
                <a:cs typeface="Arial Black"/>
                <a:sym typeface="Arial Black"/>
                <a:hlinkClick r:id="rId4"/>
              </a:rPr>
              <a:t>Base</a:t>
            </a: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750000" y="116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Volume, tribunal, matéria e período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750000" y="1900000"/>
            <a:ext cx="3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750000" y="2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julgados de locação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4100000" y="190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Tribunal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5150000" y="190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4100000" y="224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Matéria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5150000" y="224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Revisão e renovatória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4100000" y="258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5150000" y="258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2010 a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4100000" y="292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5150000" y="292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Pessoa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4100000" y="326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Natureza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5150000" y="326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População, não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50000" y="3850000"/>
            <a:ext cx="5950000" cy="6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900000" y="3900000"/>
            <a:ext cx="565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Como a base cobre todos os julgados do recorte, ela funciona como população completa para fins do exercício. Não há inferência amostral envolvida.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a Base Permite Investigar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50000" y="1173186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de linhas exploratórias para 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750000" y="16531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1127917" y="15931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1127917" y="19631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 de ações ao longo dos anos e sazonalidade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285641" y="16330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4663559" y="15730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Geografia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4663559" y="19430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distribuição por comarca, vara e regiões de São Paulo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750000" y="25531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1127917" y="24931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1127917" y="28631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tramitação de revisão vs. renovatória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4285641" y="25330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4663559" y="24730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663559" y="28430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distribuição do valor da causa por ano e 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750000" y="3373163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1127917" y="3313163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Desfecho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1127917" y="3683163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padrões de procedência, improcedência e acordo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285641" y="3353063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4663559" y="3293063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4663559" y="3663063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concentração de resultados por juízo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750000" y="435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Cabe ao grupo escolher o recorte e definir as questões norteadoras do trabalho.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é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Conceito, histórico e a Associação Brasileira de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é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50000" y="115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Uma definição operacional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750050" y="1550000"/>
            <a:ext cx="6439800" cy="12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912403" y="1570100"/>
            <a:ext cx="61152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Jurimetria é o campo que aplica </a:t>
            </a:r>
            <a:r>
              <a:rPr b="1" i="0" lang="en-US" sz="16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ciência de dados ao Direito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com o objetivo de tornar decisões jurídicas mais informadas, previsíveis e auditáveis.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150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45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5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Empírica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5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Parte de dados, não de opiniões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355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350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280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280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Mede, compara e estima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560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555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485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Aplicada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485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Serve à decisão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(2019); Zabala e Silveira (2014).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94641431f_0_79"/>
          <p:cNvSpPr/>
          <p:nvPr/>
        </p:nvSpPr>
        <p:spPr>
          <a:xfrm>
            <a:off x="750001" y="402300"/>
            <a:ext cx="721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Diagrama de Venn: Onde Nasce a Jurimetria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g3d94641431f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10" y="998015"/>
            <a:ext cx="47548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d94641431f_0_79"/>
          <p:cNvSpPr/>
          <p:nvPr/>
        </p:nvSpPr>
        <p:spPr>
          <a:xfrm>
            <a:off x="5308150" y="1143000"/>
            <a:ext cx="2380200" cy="3383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d94641431f_0_79"/>
          <p:cNvSpPr/>
          <p:nvPr/>
        </p:nvSpPr>
        <p:spPr>
          <a:xfrm>
            <a:off x="5308150" y="1143000"/>
            <a:ext cx="23802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d94641431f_0_79"/>
          <p:cNvSpPr/>
          <p:nvPr/>
        </p:nvSpPr>
        <p:spPr>
          <a:xfrm>
            <a:off x="5411646" y="1325880"/>
            <a:ext cx="2173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 interseção 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3 campos é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Jurimetria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94641431f_0_79"/>
          <p:cNvSpPr/>
          <p:nvPr/>
        </p:nvSpPr>
        <p:spPr>
          <a:xfrm>
            <a:off x="5463395" y="2194550"/>
            <a:ext cx="22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Direito × Estatística = Estatística Jurídica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94641431f_0_79"/>
          <p:cNvSpPr/>
          <p:nvPr/>
        </p:nvSpPr>
        <p:spPr>
          <a:xfrm>
            <a:off x="5463395" y="2697475"/>
            <a:ext cx="22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Direito × Computação = Direito Computacional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94641431f_0_79"/>
          <p:cNvSpPr/>
          <p:nvPr/>
        </p:nvSpPr>
        <p:spPr>
          <a:xfrm>
            <a:off x="5463395" y="3200400"/>
            <a:ext cx="217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× Computação = Ciência de Dados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94641431f_0_79"/>
          <p:cNvSpPr/>
          <p:nvPr/>
        </p:nvSpPr>
        <p:spPr>
          <a:xfrm>
            <a:off x="5463395" y="3703320"/>
            <a:ext cx="20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 3 juntas = JURIMETRIA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94641431f_0_79"/>
          <p:cNvSpPr/>
          <p:nvPr/>
        </p:nvSpPr>
        <p:spPr>
          <a:xfrm>
            <a:off x="556260" y="43357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Fonte: ABJ (abj.org.br)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d94641431f_0_7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Histórico da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teoria ao movimento brasileiro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100000" y="2600000"/>
            <a:ext cx="5949900" cy="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100000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750000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873325" y="2820275"/>
            <a:ext cx="9270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Lee Loevinger cunha o termo jurimetrics nos EUA.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3013333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2633333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2483333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Hans Baade edita o primeiro volume dedicado ao 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4896666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4516666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366666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Primeira edição do Jurimetrics Journal, da ABA.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779999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6399999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6249999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Fundação da ABJ, marco da Jurimetria no Brasil.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ABJ: a Jurimetria no Brasil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Associação Brasileira de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750000" y="1667875"/>
            <a:ext cx="3011100" cy="24822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865807" y="1650000"/>
            <a:ext cx="2779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865807" y="2473522"/>
            <a:ext cx="2779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Fundada em 2011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865807" y="2800000"/>
            <a:ext cx="2779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Principal entidade brasileira de pesquisa e aplicação da Jurimetria. Produz estudos, cursos e relatórios.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3934685" y="1750000"/>
            <a:ext cx="3705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Contribuições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3934685" y="2094088"/>
            <a:ext cx="37059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Relatórios sobre tempo de duração de processos no Brasil.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Estudos sobre execução fiscal, falências e varas cíveis.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Parcerias com tribunais, CNJ e faculdades de Direito.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ABJ, abj.org.br; Nunes (2019).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94641431f_0_96"/>
          <p:cNvSpPr/>
          <p:nvPr/>
        </p:nvSpPr>
        <p:spPr>
          <a:xfrm>
            <a:off x="749990" y="457190"/>
            <a:ext cx="685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não é produto, é ciência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94641431f_0_96"/>
          <p:cNvSpPr/>
          <p:nvPr/>
        </p:nvSpPr>
        <p:spPr>
          <a:xfrm>
            <a:off x="563865" y="1165840"/>
            <a:ext cx="3200400" cy="3200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d94641431f_0_96"/>
          <p:cNvSpPr/>
          <p:nvPr/>
        </p:nvSpPr>
        <p:spPr>
          <a:xfrm>
            <a:off x="563865" y="1165840"/>
            <a:ext cx="3200400" cy="549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0" name="Google Shape;460;g3d94641431f_0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585" y="13487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d94641431f_0_96"/>
          <p:cNvSpPr/>
          <p:nvPr/>
        </p:nvSpPr>
        <p:spPr>
          <a:xfrm>
            <a:off x="655305" y="1988800"/>
            <a:ext cx="301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rPr>
              <a:t>CUIDADO 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rPr>
              <a:t>A EXPECTATIVA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94641431f_0_96"/>
          <p:cNvSpPr/>
          <p:nvPr/>
        </p:nvSpPr>
        <p:spPr>
          <a:xfrm>
            <a:off x="792465" y="262888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caso é um caso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94641431f_0_96"/>
          <p:cNvSpPr/>
          <p:nvPr/>
        </p:nvSpPr>
        <p:spPr>
          <a:xfrm>
            <a:off x="792465" y="304036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Modelo trabalhista ≠ tributário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94641431f_0_96"/>
          <p:cNvSpPr/>
          <p:nvPr/>
        </p:nvSpPr>
        <p:spPr>
          <a:xfrm>
            <a:off x="792465" y="34518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Análises exigem customização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94641431f_0_96"/>
          <p:cNvSpPr/>
          <p:nvPr/>
        </p:nvSpPr>
        <p:spPr>
          <a:xfrm>
            <a:off x="792465" y="386332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 "solução mágica de prateleira"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94641431f_0_96"/>
          <p:cNvSpPr/>
          <p:nvPr/>
        </p:nvSpPr>
        <p:spPr>
          <a:xfrm>
            <a:off x="3992865" y="1165840"/>
            <a:ext cx="36576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d94641431f_0_96"/>
          <p:cNvSpPr/>
          <p:nvPr/>
        </p:nvSpPr>
        <p:spPr>
          <a:xfrm>
            <a:off x="3992865" y="1165840"/>
            <a:ext cx="3657600" cy="54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d94641431f_0_96"/>
          <p:cNvSpPr/>
          <p:nvPr/>
        </p:nvSpPr>
        <p:spPr>
          <a:xfrm>
            <a:off x="4084305" y="130300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APLICAÇÕES DA JURIMETRIA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g3d94641431f_0_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5745" y="171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d94641431f_0_96"/>
          <p:cNvSpPr/>
          <p:nvPr/>
        </p:nvSpPr>
        <p:spPr>
          <a:xfrm>
            <a:off x="4541505" y="17144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KPIs: taxa de êxito, custo/processo, tramitação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g3d94641431f_0_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5745" y="2144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d94641431f_0_96"/>
          <p:cNvSpPr/>
          <p:nvPr/>
        </p:nvSpPr>
        <p:spPr>
          <a:xfrm>
            <a:off x="4541505" y="2144248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Pesquisas: AIR, ARR, relatórios setoriais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g3d94641431f_0_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5745" y="25740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d94641431f_0_96"/>
          <p:cNvSpPr/>
          <p:nvPr/>
        </p:nvSpPr>
        <p:spPr>
          <a:xfrm>
            <a:off x="4541505" y="2574016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Provisionamento: desfecho × tempo × valor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g3d94641431f_0_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5745" y="30037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d94641431f_0_96"/>
          <p:cNvSpPr/>
          <p:nvPr/>
        </p:nvSpPr>
        <p:spPr>
          <a:xfrm>
            <a:off x="4541505" y="3003784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Contencioso de massa: triagem e acordos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g3d94641431f_0_9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5745" y="3433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d94641431f_0_96"/>
          <p:cNvSpPr/>
          <p:nvPr/>
        </p:nvSpPr>
        <p:spPr>
          <a:xfrm>
            <a:off x="4541505" y="3433552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Dashboards para clientes e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g3d94641431f_0_9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5745" y="386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d94641431f_0_96"/>
          <p:cNvSpPr/>
          <p:nvPr/>
        </p:nvSpPr>
        <p:spPr>
          <a:xfrm>
            <a:off x="4541505" y="386332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Acadêmica: pesquisas e produção científica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94641431f_0_9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Qualitativo vs. Quantitativo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Quando cada abordagem funciona melhor, e como se complementam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750000" y="1180475"/>
            <a:ext cx="6374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base tradicional da argumentação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750000" y="1600475"/>
            <a:ext cx="6374700" cy="6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910708" y="1600475"/>
            <a:ext cx="6053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Analisa em profundidade casos concretos, doutrina e precedentes, privilegiando o contexto, a interpretação e a ratio decidendi.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750000" y="2478875"/>
            <a:ext cx="34251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Funciona bem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750000" y="2831089"/>
            <a:ext cx="35781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Interpretar normas e construir teses.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Ler um precedente paradigmático em detalhe.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Entender o raciocínio de um juiz ou de uma câmara.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Argumentar no caso concreto, em peça ou sustentação.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4415601" y="2478875"/>
            <a:ext cx="34251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Limita-se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4415601" y="2831089"/>
            <a:ext cx="34251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Generalizar para uma carteira inteira.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Identificar padrões em milhares de processos.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Estimar tempo e valor de condenação.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Calibrar provisão ou ponto de acordo.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 txBox="1"/>
          <p:nvPr/>
        </p:nvSpPr>
        <p:spPr>
          <a:xfrm>
            <a:off x="750000" y="500000"/>
            <a:ext cx="5949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750000" y="1135625"/>
            <a:ext cx="6554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a Jurimetria traz de novo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750000" y="1555625"/>
            <a:ext cx="6554100" cy="6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915232" y="1555625"/>
            <a:ext cx="6223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Analisa conjuntos grandes de processos ou decisões, mede frequências, tempos e valores, e identifica padrões estatisticamente sustentáveis.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750000" y="2355625"/>
            <a:ext cx="3375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Funciona bem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750000" y="2755625"/>
            <a:ext cx="33759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Medir taxa de êxito por vara e tipo de caso.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Estimar tempo médio e mediano de tramitação.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Comparar carteiras, escritórios e correspondentes.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Apoiar provisionamento e acordo.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4362786" y="2355625"/>
            <a:ext cx="3375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Limita-se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4362786" y="2755625"/>
            <a:ext cx="33759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Ler o caso concreto em toda sua nuance.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Captar argumentos jurídicos sutis.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Substituir o exame das razões de decidir.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Responder sem dados confiáveis e bem tratados.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(2019); Katz e Bommarito (2013).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Comparação Lado a 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750000" y="118795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Uma síntese prática das diferenças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750000" y="1647950"/>
            <a:ext cx="6800700" cy="38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864298" y="1647950"/>
            <a:ext cx="205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Dimensão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2944477" y="1657900"/>
            <a:ext cx="1943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5321909" y="1647950"/>
            <a:ext cx="211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750000" y="202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864298" y="208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Objeto de análise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2681525" y="208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 concreto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5264760" y="208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Conjunto de casos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750000" y="2467950"/>
            <a:ext cx="6800700" cy="42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 txBox="1"/>
          <p:nvPr/>
        </p:nvSpPr>
        <p:spPr>
          <a:xfrm>
            <a:off x="864298" y="252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Pergunta típica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2681525" y="252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 que este caso foi decidido assim?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5264760" y="252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Quantas vezes casos como este são decididos assim?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750000" y="290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864298" y="296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Fonte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2681525" y="296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Doutrina, precedentes, peças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5264760" y="296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 de dados estruturada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750000" y="3347950"/>
            <a:ext cx="6800700" cy="42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864298" y="340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Instrumental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2681525" y="340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Leitura, argumentação, interpretação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 txBox="1"/>
          <p:nvPr/>
        </p:nvSpPr>
        <p:spPr>
          <a:xfrm>
            <a:off x="5264760" y="340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e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750000" y="378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0"/>
          <p:cNvSpPr txBox="1"/>
          <p:nvPr/>
        </p:nvSpPr>
        <p:spPr>
          <a:xfrm>
            <a:off x="864298" y="384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2681525" y="384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Tese, parecer, peça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0"/>
          <p:cNvSpPr txBox="1"/>
          <p:nvPr/>
        </p:nvSpPr>
        <p:spPr>
          <a:xfrm>
            <a:off x="5264760" y="384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Métrica, estimativa,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1"/>
          <p:cNvSpPr txBox="1"/>
          <p:nvPr/>
        </p:nvSpPr>
        <p:spPr>
          <a:xfrm>
            <a:off x="750000" y="500000"/>
            <a:ext cx="71745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As Duas Abordagens se Complementam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750000" y="1180975"/>
            <a:ext cx="6524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Jurimetria amplia, não substitui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966825" y="1537750"/>
            <a:ext cx="2247900" cy="140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966825" y="1737750"/>
            <a:ext cx="2247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1"/>
          <p:cNvSpPr txBox="1"/>
          <p:nvPr/>
        </p:nvSpPr>
        <p:spPr>
          <a:xfrm>
            <a:off x="1112619" y="2237750"/>
            <a:ext cx="1956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Explica o porquê do caso concreto.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2997787" y="1887850"/>
            <a:ext cx="2028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4794625" y="1537750"/>
            <a:ext cx="2247900" cy="140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4794625" y="1737750"/>
            <a:ext cx="2247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4940420" y="2237750"/>
            <a:ext cx="1956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Mostra o padrão da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750000" y="3287850"/>
            <a:ext cx="6524100" cy="8001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1"/>
          <p:cNvSpPr txBox="1"/>
          <p:nvPr/>
        </p:nvSpPr>
        <p:spPr>
          <a:xfrm>
            <a:off x="914472" y="3357850"/>
            <a:ext cx="6195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advogado com dados </a:t>
            </a: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não deixa de ser advogado</a:t>
            </a: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Ele ganha um instrumento para fundamentar melhor o que já faz.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2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Quatro tipos de decisão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Onde dados podem apoiar o dia a dia do advogado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Decisões Apoiadas por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 txBox="1"/>
          <p:nvPr/>
        </p:nvSpPr>
        <p:spPr>
          <a:xfrm>
            <a:off x="750000" y="1195425"/>
            <a:ext cx="6210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Quatro grandes classes no dia a dia do advogado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750000" y="1659650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956109" y="1781101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/>
          <p:nvPr/>
        </p:nvSpPr>
        <p:spPr>
          <a:xfrm>
            <a:off x="1723292" y="1880706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Contencioso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933208" y="2521769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Escolher foro e tese quando há opção; decidir se recorre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4185146" y="1673463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4391254" y="1781101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5158437" y="1880706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 txBox="1"/>
          <p:nvPr/>
        </p:nvSpPr>
        <p:spPr>
          <a:xfrm>
            <a:off x="4368353" y="2521769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Calibrar faixa de acordo com base em desfecho e tempo esperados.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750000" y="3151779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956109" y="3273230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3"/>
          <p:cNvSpPr txBox="1"/>
          <p:nvPr/>
        </p:nvSpPr>
        <p:spPr>
          <a:xfrm>
            <a:off x="1723292" y="3372835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Provisionamento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3"/>
          <p:cNvSpPr txBox="1"/>
          <p:nvPr/>
        </p:nvSpPr>
        <p:spPr>
          <a:xfrm>
            <a:off x="933208" y="4013897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Revisar reservas contábeis com base em estimativas estatísticas.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4185146" y="3151779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4391254" y="3273230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3"/>
          <p:cNvSpPr txBox="1"/>
          <p:nvPr/>
        </p:nvSpPr>
        <p:spPr>
          <a:xfrm>
            <a:off x="5158437" y="3372835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3"/>
          <p:cNvSpPr txBox="1"/>
          <p:nvPr/>
        </p:nvSpPr>
        <p:spPr>
          <a:xfrm>
            <a:off x="4368353" y="4013897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Avaliar performance de correspondentes, varas e equipes.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Os Quatro Tipos no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cada classe aparece no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750000" y="1750000"/>
            <a:ext cx="6338100" cy="53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856521" y="183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Contencioso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2614125" y="183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qual vara concentrar a distribuição de renovatórias? Em quais casos vale recorrer?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750000" y="2310000"/>
            <a:ext cx="6338100" cy="53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856521" y="239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2614125" y="239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faixa de desconto faz sentido oferecer em acordo antes da perícia?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750000" y="2870000"/>
            <a:ext cx="6338100" cy="53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856521" y="295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Provisionamento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2614125" y="295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R$ 45 mi estão bem calibrados? Onde há subprovisão ou sobreprovisão?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750000" y="3430000"/>
            <a:ext cx="6338100" cy="53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 txBox="1"/>
          <p:nvPr/>
        </p:nvSpPr>
        <p:spPr>
          <a:xfrm>
            <a:off x="856521" y="351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4"/>
          <p:cNvSpPr txBox="1"/>
          <p:nvPr/>
        </p:nvSpPr>
        <p:spPr>
          <a:xfrm>
            <a:off x="2614125" y="351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correspondente entrega melhor resultado ajustado a custo? Há perfis a demitir?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4"/>
          <p:cNvSpPr txBox="1"/>
          <p:nvPr/>
        </p:nvSpPr>
        <p:spPr>
          <a:xfrm>
            <a:off x="750000" y="409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Todas essas perguntas caem em alguma etapa do ciclo da ciência de dados, que será vista na Aula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8b75b7e57c_0_0"/>
          <p:cNvSpPr/>
          <p:nvPr/>
        </p:nvSpPr>
        <p:spPr>
          <a:xfrm>
            <a:off x="1097280" y="920000"/>
            <a:ext cx="1900000" cy="380000"/>
          </a:xfrm>
          <a:prstGeom prst="roundRect">
            <a:avLst>
              <a:gd fmla="val 16667" name="adj"/>
            </a:avLst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8b75b7e57c_0_0"/>
          <p:cNvSpPr txBox="1"/>
          <p:nvPr/>
        </p:nvSpPr>
        <p:spPr>
          <a:xfrm>
            <a:off x="1097280" y="920000"/>
            <a:ext cx="19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EXEMPLO PRÁTICO</a:t>
            </a:r>
            <a:endParaRPr/>
          </a:p>
        </p:txBody>
      </p:sp>
      <p:sp>
        <p:nvSpPr>
          <p:cNvPr id="621" name="Google Shape;621;g38b75b7e57c_0_0"/>
          <p:cNvSpPr txBox="1"/>
          <p:nvPr/>
        </p:nvSpPr>
        <p:spPr>
          <a:xfrm>
            <a:off x="1097275" y="15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Case real</a:t>
            </a:r>
            <a:endParaRPr/>
          </a:p>
        </p:txBody>
      </p:sp>
      <p:sp>
        <p:nvSpPr>
          <p:cNvPr id="622" name="Google Shape;622;g38b75b7e57c_0_0"/>
          <p:cNvSpPr txBox="1"/>
          <p:nvPr/>
        </p:nvSpPr>
        <p:spPr>
          <a:xfrm>
            <a:off x="1097280" y="2300000"/>
            <a:ext cx="6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Como a jurimetria reduziu R$ 5,7 milhões em provisão de uma carteira de renovatórias</a:t>
            </a:r>
            <a:endParaRPr/>
          </a:p>
        </p:txBody>
      </p:sp>
      <p:sp>
        <p:nvSpPr>
          <p:cNvPr id="623" name="Google Shape;623;g38b75b7e57c_0_0"/>
          <p:cNvSpPr/>
          <p:nvPr/>
        </p:nvSpPr>
        <p:spPr>
          <a:xfrm>
            <a:off x="1097280" y="300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8b75b7e57c_0_0"/>
          <p:cNvSpPr txBox="1"/>
          <p:nvPr/>
        </p:nvSpPr>
        <p:spPr>
          <a:xfrm>
            <a:off x="1097280" y="3150000"/>
            <a:ext cx="6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 baseado em projeto real. Nome da empresa preservado por sigilo contratual.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Contexto e desafio</a:t>
            </a:r>
            <a:endParaRPr/>
          </a:p>
        </p:txBody>
      </p:sp>
      <p:sp>
        <p:nvSpPr>
          <p:cNvPr id="630" name="Google Shape;630;p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cliente, a carteira e o problema posto na mesa do sócio</a:t>
            </a:r>
            <a:endParaRPr/>
          </a:p>
        </p:txBody>
      </p:sp>
      <p:sp>
        <p:nvSpPr>
          <p:cNvPr id="631" name="Google Shape;631;p2"/>
          <p:cNvSpPr/>
          <p:nvPr/>
        </p:nvSpPr>
        <p:spPr>
          <a:xfrm>
            <a:off x="750000" y="17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"/>
          <p:cNvSpPr txBox="1"/>
          <p:nvPr/>
        </p:nvSpPr>
        <p:spPr>
          <a:xfrm>
            <a:off x="900000" y="18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280</a:t>
            </a:r>
            <a:endParaRPr/>
          </a:p>
        </p:txBody>
      </p:sp>
      <p:sp>
        <p:nvSpPr>
          <p:cNvPr id="633" name="Google Shape;633;p2"/>
          <p:cNvSpPr txBox="1"/>
          <p:nvPr/>
        </p:nvSpPr>
        <p:spPr>
          <a:xfrm>
            <a:off x="900000" y="22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lojas no Sul e Sudeste</a:t>
            </a:r>
            <a:endParaRPr/>
          </a:p>
        </p:txBody>
      </p:sp>
      <p:sp>
        <p:nvSpPr>
          <p:cNvPr id="634" name="Google Shape;634;p2"/>
          <p:cNvSpPr/>
          <p:nvPr/>
        </p:nvSpPr>
        <p:spPr>
          <a:xfrm>
            <a:off x="3750000" y="17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"/>
          <p:cNvSpPr txBox="1"/>
          <p:nvPr/>
        </p:nvSpPr>
        <p:spPr>
          <a:xfrm>
            <a:off x="3900000" y="18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1.247</a:t>
            </a:r>
            <a:endParaRPr/>
          </a:p>
        </p:txBody>
      </p:sp>
      <p:sp>
        <p:nvSpPr>
          <p:cNvPr id="636" name="Google Shape;636;p2"/>
          <p:cNvSpPr txBox="1"/>
          <p:nvPr/>
        </p:nvSpPr>
        <p:spPr>
          <a:xfrm>
            <a:off x="3900000" y="22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renovatórias ativas</a:t>
            </a:r>
            <a:endParaRPr/>
          </a:p>
        </p:txBody>
      </p:sp>
      <p:sp>
        <p:nvSpPr>
          <p:cNvPr id="637" name="Google Shape;637;p2"/>
          <p:cNvSpPr/>
          <p:nvPr/>
        </p:nvSpPr>
        <p:spPr>
          <a:xfrm>
            <a:off x="750000" y="25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"/>
          <p:cNvSpPr txBox="1"/>
          <p:nvPr/>
        </p:nvSpPr>
        <p:spPr>
          <a:xfrm>
            <a:off x="900000" y="26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R$ 18 mi</a:t>
            </a:r>
            <a:endParaRPr/>
          </a:p>
        </p:txBody>
      </p:sp>
      <p:sp>
        <p:nvSpPr>
          <p:cNvPr id="639" name="Google Shape;639;p2"/>
          <p:cNvSpPr txBox="1"/>
          <p:nvPr/>
        </p:nvSpPr>
        <p:spPr>
          <a:xfrm>
            <a:off x="900000" y="30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provisão original</a:t>
            </a:r>
            <a:endParaRPr/>
          </a:p>
        </p:txBody>
      </p:sp>
      <p:sp>
        <p:nvSpPr>
          <p:cNvPr id="640" name="Google Shape;640;p2"/>
          <p:cNvSpPr/>
          <p:nvPr/>
        </p:nvSpPr>
        <p:spPr>
          <a:xfrm>
            <a:off x="3750000" y="25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"/>
          <p:cNvSpPr txBox="1"/>
          <p:nvPr/>
        </p:nvSpPr>
        <p:spPr>
          <a:xfrm>
            <a:off x="3900000" y="26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? %</a:t>
            </a:r>
            <a:endParaRPr/>
          </a:p>
        </p:txBody>
      </p:sp>
      <p:sp>
        <p:nvSpPr>
          <p:cNvPr id="642" name="Google Shape;642;p2"/>
          <p:cNvSpPr txBox="1"/>
          <p:nvPr/>
        </p:nvSpPr>
        <p:spPr>
          <a:xfrm>
            <a:off x="3900000" y="30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taxa de êxito real</a:t>
            </a:r>
            <a:endParaRPr/>
          </a:p>
        </p:txBody>
      </p:sp>
      <p:sp>
        <p:nvSpPr>
          <p:cNvPr id="643" name="Google Shape;643;p2"/>
          <p:cNvSpPr/>
          <p:nvPr/>
        </p:nvSpPr>
        <p:spPr>
          <a:xfrm>
            <a:off x="750000" y="3500000"/>
            <a:ext cx="5950000" cy="8000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"/>
          <p:cNvSpPr txBox="1"/>
          <p:nvPr/>
        </p:nvSpPr>
        <p:spPr>
          <a:xfrm>
            <a:off x="900000" y="3580000"/>
            <a:ext cx="5650000" cy="6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O problema na mesa do sócio: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auditoria contábil questionou se os R$ 18 mi de provisão refletiam o risco real da carteira. Sem dados, a defesa do número era impossível.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jurimétrica em 4 etapas</a:t>
            </a:r>
            <a:endParaRPr/>
          </a:p>
        </p:txBody>
      </p:sp>
      <p:sp>
        <p:nvSpPr>
          <p:cNvPr id="650" name="Google Shape;650;p2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pergunta de negócio à evidência estatística</a:t>
            </a: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880000" y="186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653" name="Google Shape;653;p24"/>
          <p:cNvSpPr txBox="1"/>
          <p:nvPr/>
        </p:nvSpPr>
        <p:spPr>
          <a:xfrm>
            <a:off x="1450000" y="191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</a:t>
            </a:r>
            <a:endParaRPr/>
          </a:p>
        </p:txBody>
      </p:sp>
      <p:sp>
        <p:nvSpPr>
          <p:cNvPr id="654" name="Google Shape;654;p24"/>
          <p:cNvSpPr txBox="1"/>
          <p:nvPr/>
        </p:nvSpPr>
        <p:spPr>
          <a:xfrm>
            <a:off x="910000" y="235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a probabilidade de êxito por vara e o valor médio de condenação na renovatória de varejo?</a:t>
            </a: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3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3880000" y="186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657" name="Google Shape;657;p24"/>
          <p:cNvSpPr txBox="1"/>
          <p:nvPr/>
        </p:nvSpPr>
        <p:spPr>
          <a:xfrm>
            <a:off x="4450000" y="191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Coleta</a:t>
            </a:r>
            <a:endParaRPr/>
          </a:p>
        </p:txBody>
      </p:sp>
      <p:sp>
        <p:nvSpPr>
          <p:cNvPr id="658" name="Google Shape;658;p24"/>
          <p:cNvSpPr txBox="1"/>
          <p:nvPr/>
        </p:nvSpPr>
        <p:spPr>
          <a:xfrm>
            <a:off x="3910000" y="235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Levantamento de 1.247 sentenças do TJSP e TJRS de 2018 a 2024, filtradas por matéria e perfil de parte.</a:t>
            </a:r>
            <a:endParaRPr/>
          </a:p>
        </p:txBody>
      </p:sp>
      <p:sp>
        <p:nvSpPr>
          <p:cNvPr id="659" name="Google Shape;659;p24"/>
          <p:cNvSpPr/>
          <p:nvPr/>
        </p:nvSpPr>
        <p:spPr>
          <a:xfrm>
            <a:off x="750000" y="303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4"/>
          <p:cNvSpPr/>
          <p:nvPr/>
        </p:nvSpPr>
        <p:spPr>
          <a:xfrm>
            <a:off x="880000" y="314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661" name="Google Shape;661;p24"/>
          <p:cNvSpPr txBox="1"/>
          <p:nvPr/>
        </p:nvSpPr>
        <p:spPr>
          <a:xfrm>
            <a:off x="1450000" y="319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Análise</a:t>
            </a:r>
            <a:endParaRPr/>
          </a:p>
        </p:txBody>
      </p:sp>
      <p:sp>
        <p:nvSpPr>
          <p:cNvPr id="662" name="Google Shape;662;p24"/>
          <p:cNvSpPr txBox="1"/>
          <p:nvPr/>
        </p:nvSpPr>
        <p:spPr>
          <a:xfrm>
            <a:off x="910000" y="363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descritiva por vara, tipo de pedido e desfecho, cruzada com tempo e valor.</a:t>
            </a:r>
            <a:endParaRPr/>
          </a:p>
        </p:txBody>
      </p:sp>
      <p:sp>
        <p:nvSpPr>
          <p:cNvPr id="663" name="Google Shape;663;p24"/>
          <p:cNvSpPr/>
          <p:nvPr/>
        </p:nvSpPr>
        <p:spPr>
          <a:xfrm>
            <a:off x="3750000" y="303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3880000" y="314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665" name="Google Shape;665;p24"/>
          <p:cNvSpPr txBox="1"/>
          <p:nvPr/>
        </p:nvSpPr>
        <p:spPr>
          <a:xfrm>
            <a:off x="4450000" y="319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Recomendação</a:t>
            </a:r>
            <a:endParaRPr/>
          </a:p>
        </p:txBody>
      </p:sp>
      <p:sp>
        <p:nvSpPr>
          <p:cNvPr id="666" name="Google Shape;666;p24"/>
          <p:cNvSpPr txBox="1"/>
          <p:nvPr/>
        </p:nvSpPr>
        <p:spPr>
          <a:xfrm>
            <a:off x="3910000" y="363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Provisão recalibrada por faixa de risco e estratégia diferenciada de acordo nos juízos identificados.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Achado 1: a taxa de êxito varia muito</a:t>
            </a:r>
            <a:endParaRPr/>
          </a:p>
        </p:txBody>
      </p:sp>
      <p:sp>
        <p:nvSpPr>
          <p:cNvPr id="672" name="Google Shape;672;p4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Procedência por vara em 1.247 renovatórias analisadas</a:t>
            </a:r>
            <a:endParaRPr/>
          </a:p>
        </p:txBody>
      </p:sp>
      <p:sp>
        <p:nvSpPr>
          <p:cNvPr id="673" name="Google Shape;673;p44"/>
          <p:cNvSpPr/>
          <p:nvPr/>
        </p:nvSpPr>
        <p:spPr>
          <a:xfrm>
            <a:off x="275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4"/>
          <p:cNvSpPr txBox="1"/>
          <p:nvPr/>
        </p:nvSpPr>
        <p:spPr>
          <a:xfrm>
            <a:off x="250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675" name="Google Shape;675;p44"/>
          <p:cNvSpPr/>
          <p:nvPr/>
        </p:nvSpPr>
        <p:spPr>
          <a:xfrm>
            <a:off x="3625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4"/>
          <p:cNvSpPr txBox="1"/>
          <p:nvPr/>
        </p:nvSpPr>
        <p:spPr>
          <a:xfrm>
            <a:off x="3375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/>
          </a:p>
        </p:txBody>
      </p:sp>
      <p:sp>
        <p:nvSpPr>
          <p:cNvPr id="677" name="Google Shape;677;p44"/>
          <p:cNvSpPr/>
          <p:nvPr/>
        </p:nvSpPr>
        <p:spPr>
          <a:xfrm>
            <a:off x="450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4"/>
          <p:cNvSpPr txBox="1"/>
          <p:nvPr/>
        </p:nvSpPr>
        <p:spPr>
          <a:xfrm>
            <a:off x="425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/>
          </a:p>
        </p:txBody>
      </p:sp>
      <p:sp>
        <p:nvSpPr>
          <p:cNvPr id="679" name="Google Shape;679;p44"/>
          <p:cNvSpPr/>
          <p:nvPr/>
        </p:nvSpPr>
        <p:spPr>
          <a:xfrm>
            <a:off x="5375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4"/>
          <p:cNvSpPr txBox="1"/>
          <p:nvPr/>
        </p:nvSpPr>
        <p:spPr>
          <a:xfrm>
            <a:off x="5125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/>
          </a:p>
        </p:txBody>
      </p:sp>
      <p:sp>
        <p:nvSpPr>
          <p:cNvPr id="681" name="Google Shape;681;p44"/>
          <p:cNvSpPr/>
          <p:nvPr/>
        </p:nvSpPr>
        <p:spPr>
          <a:xfrm>
            <a:off x="625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4"/>
          <p:cNvSpPr txBox="1"/>
          <p:nvPr/>
        </p:nvSpPr>
        <p:spPr>
          <a:xfrm>
            <a:off x="600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683" name="Google Shape;683;p44"/>
          <p:cNvSpPr txBox="1"/>
          <p:nvPr/>
        </p:nvSpPr>
        <p:spPr>
          <a:xfrm>
            <a:off x="1050000" y="19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A (TJSP)</a:t>
            </a:r>
            <a:endParaRPr/>
          </a:p>
        </p:txBody>
      </p:sp>
      <p:sp>
        <p:nvSpPr>
          <p:cNvPr id="684" name="Google Shape;684;p44"/>
          <p:cNvSpPr/>
          <p:nvPr/>
        </p:nvSpPr>
        <p:spPr>
          <a:xfrm>
            <a:off x="2750000" y="1950000"/>
            <a:ext cx="2730000" cy="1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5530000" y="19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78%</a:t>
            </a:r>
            <a:endParaRPr/>
          </a:p>
        </p:txBody>
      </p:sp>
      <p:sp>
        <p:nvSpPr>
          <p:cNvPr id="686" name="Google Shape;686;p44"/>
          <p:cNvSpPr txBox="1"/>
          <p:nvPr/>
        </p:nvSpPr>
        <p:spPr>
          <a:xfrm>
            <a:off x="1050000" y="21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B (TJSP)</a:t>
            </a:r>
            <a:endParaRPr/>
          </a:p>
        </p:txBody>
      </p:sp>
      <p:sp>
        <p:nvSpPr>
          <p:cNvPr id="687" name="Google Shape;687;p44"/>
          <p:cNvSpPr/>
          <p:nvPr/>
        </p:nvSpPr>
        <p:spPr>
          <a:xfrm>
            <a:off x="2750000" y="2200000"/>
            <a:ext cx="2485000" cy="1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4"/>
          <p:cNvSpPr txBox="1"/>
          <p:nvPr/>
        </p:nvSpPr>
        <p:spPr>
          <a:xfrm>
            <a:off x="5285000" y="21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71%</a:t>
            </a:r>
            <a:endParaRPr/>
          </a:p>
        </p:txBody>
      </p:sp>
      <p:sp>
        <p:nvSpPr>
          <p:cNvPr id="689" name="Google Shape;689;p44"/>
          <p:cNvSpPr txBox="1"/>
          <p:nvPr/>
        </p:nvSpPr>
        <p:spPr>
          <a:xfrm>
            <a:off x="1050000" y="24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C (TJRS)</a:t>
            </a:r>
            <a:endParaRPr/>
          </a:p>
        </p:txBody>
      </p:sp>
      <p:sp>
        <p:nvSpPr>
          <p:cNvPr id="690" name="Google Shape;690;p44"/>
          <p:cNvSpPr/>
          <p:nvPr/>
        </p:nvSpPr>
        <p:spPr>
          <a:xfrm>
            <a:off x="2750000" y="2450000"/>
            <a:ext cx="2240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4"/>
          <p:cNvSpPr txBox="1"/>
          <p:nvPr/>
        </p:nvSpPr>
        <p:spPr>
          <a:xfrm>
            <a:off x="5040000" y="24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64%</a:t>
            </a:r>
            <a:endParaRPr/>
          </a:p>
        </p:txBody>
      </p:sp>
      <p:sp>
        <p:nvSpPr>
          <p:cNvPr id="692" name="Google Shape;692;p44"/>
          <p:cNvSpPr txBox="1"/>
          <p:nvPr/>
        </p:nvSpPr>
        <p:spPr>
          <a:xfrm>
            <a:off x="1050000" y="26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Média da carteira</a:t>
            </a:r>
            <a:endParaRPr/>
          </a:p>
        </p:txBody>
      </p:sp>
      <p:sp>
        <p:nvSpPr>
          <p:cNvPr id="693" name="Google Shape;693;p44"/>
          <p:cNvSpPr/>
          <p:nvPr/>
        </p:nvSpPr>
        <p:spPr>
          <a:xfrm>
            <a:off x="2750000" y="2700000"/>
            <a:ext cx="1820000" cy="1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4"/>
          <p:cNvSpPr txBox="1"/>
          <p:nvPr/>
        </p:nvSpPr>
        <p:spPr>
          <a:xfrm>
            <a:off x="4620000" y="26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52%</a:t>
            </a:r>
            <a:endParaRPr/>
          </a:p>
        </p:txBody>
      </p:sp>
      <p:sp>
        <p:nvSpPr>
          <p:cNvPr id="695" name="Google Shape;695;p44"/>
          <p:cNvSpPr txBox="1"/>
          <p:nvPr/>
        </p:nvSpPr>
        <p:spPr>
          <a:xfrm>
            <a:off x="1050000" y="29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D (TJSP)</a:t>
            </a:r>
            <a:endParaRPr/>
          </a:p>
        </p:txBody>
      </p:sp>
      <p:sp>
        <p:nvSpPr>
          <p:cNvPr id="696" name="Google Shape;696;p44"/>
          <p:cNvSpPr/>
          <p:nvPr/>
        </p:nvSpPr>
        <p:spPr>
          <a:xfrm>
            <a:off x="2750000" y="2950000"/>
            <a:ext cx="1435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4"/>
          <p:cNvSpPr txBox="1"/>
          <p:nvPr/>
        </p:nvSpPr>
        <p:spPr>
          <a:xfrm>
            <a:off x="4235000" y="29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41%</a:t>
            </a:r>
            <a:endParaRPr/>
          </a:p>
        </p:txBody>
      </p:sp>
      <p:sp>
        <p:nvSpPr>
          <p:cNvPr id="698" name="Google Shape;698;p44"/>
          <p:cNvSpPr txBox="1"/>
          <p:nvPr/>
        </p:nvSpPr>
        <p:spPr>
          <a:xfrm>
            <a:off x="1050000" y="31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E (TJSP)</a:t>
            </a:r>
            <a:endParaRPr/>
          </a:p>
        </p:txBody>
      </p:sp>
      <p:sp>
        <p:nvSpPr>
          <p:cNvPr id="699" name="Google Shape;699;p44"/>
          <p:cNvSpPr/>
          <p:nvPr/>
        </p:nvSpPr>
        <p:spPr>
          <a:xfrm>
            <a:off x="2750000" y="3200000"/>
            <a:ext cx="1155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3955000" y="31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33%</a:t>
            </a:r>
            <a:endParaRPr/>
          </a:p>
        </p:txBody>
      </p:sp>
      <p:sp>
        <p:nvSpPr>
          <p:cNvPr id="701" name="Google Shape;701;p44"/>
          <p:cNvSpPr txBox="1"/>
          <p:nvPr/>
        </p:nvSpPr>
        <p:spPr>
          <a:xfrm>
            <a:off x="1050000" y="34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F (TJRS)</a:t>
            </a:r>
            <a:endParaRPr/>
          </a:p>
        </p:txBody>
      </p:sp>
      <p:sp>
        <p:nvSpPr>
          <p:cNvPr id="702" name="Google Shape;702;p44"/>
          <p:cNvSpPr/>
          <p:nvPr/>
        </p:nvSpPr>
        <p:spPr>
          <a:xfrm>
            <a:off x="2750000" y="3450000"/>
            <a:ext cx="980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4"/>
          <p:cNvSpPr txBox="1"/>
          <p:nvPr/>
        </p:nvSpPr>
        <p:spPr>
          <a:xfrm>
            <a:off x="3780000" y="34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28%</a:t>
            </a:r>
            <a:endParaRPr/>
          </a:p>
        </p:txBody>
      </p:sp>
      <p:sp>
        <p:nvSpPr>
          <p:cNvPr id="704" name="Google Shape;704;p44"/>
          <p:cNvSpPr/>
          <p:nvPr/>
        </p:nvSpPr>
        <p:spPr>
          <a:xfrm>
            <a:off x="750000" y="3930000"/>
            <a:ext cx="5950000" cy="53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900000" y="4000000"/>
            <a:ext cx="56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Insight: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duas varas concentram desempenho 50% acima da média; outras três caem 40% abaixo. A provisão precisa refletir essa heterogeneidade.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Achado 2: tempo × valor</a:t>
            </a:r>
            <a:endParaRPr/>
          </a:p>
        </p:txBody>
      </p:sp>
      <p:sp>
        <p:nvSpPr>
          <p:cNvPr id="711" name="Google Shape;711;p4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Cruzamento de tempo de tramitação e valor médio de condenação</a:t>
            </a:r>
            <a:endParaRPr/>
          </a:p>
        </p:txBody>
      </p:sp>
      <p:sp>
        <p:nvSpPr>
          <p:cNvPr id="712" name="Google Shape;712;p45"/>
          <p:cNvSpPr/>
          <p:nvPr/>
        </p:nvSpPr>
        <p:spPr>
          <a:xfrm>
            <a:off x="750000" y="1700000"/>
            <a:ext cx="17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5"/>
          <p:cNvSpPr txBox="1"/>
          <p:nvPr/>
        </p:nvSpPr>
        <p:spPr>
          <a:xfrm>
            <a:off x="830000" y="176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Faixa de tempo</a:t>
            </a:r>
            <a:endParaRPr/>
          </a:p>
        </p:txBody>
      </p:sp>
      <p:sp>
        <p:nvSpPr>
          <p:cNvPr id="714" name="Google Shape;714;p45"/>
          <p:cNvSpPr/>
          <p:nvPr/>
        </p:nvSpPr>
        <p:spPr>
          <a:xfrm>
            <a:off x="2450000" y="1700000"/>
            <a:ext cx="14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5"/>
          <p:cNvSpPr txBox="1"/>
          <p:nvPr/>
        </p:nvSpPr>
        <p:spPr>
          <a:xfrm>
            <a:off x="2530000" y="176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Casos</a:t>
            </a:r>
            <a:endParaRPr/>
          </a:p>
        </p:txBody>
      </p:sp>
      <p:sp>
        <p:nvSpPr>
          <p:cNvPr id="716" name="Google Shape;716;p45"/>
          <p:cNvSpPr/>
          <p:nvPr/>
        </p:nvSpPr>
        <p:spPr>
          <a:xfrm>
            <a:off x="3850000" y="1700000"/>
            <a:ext cx="14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3930000" y="176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Valor médio</a:t>
            </a:r>
            <a:endParaRPr/>
          </a:p>
        </p:txBody>
      </p:sp>
      <p:sp>
        <p:nvSpPr>
          <p:cNvPr id="718" name="Google Shape;718;p45"/>
          <p:cNvSpPr/>
          <p:nvPr/>
        </p:nvSpPr>
        <p:spPr>
          <a:xfrm>
            <a:off x="5250000" y="1700000"/>
            <a:ext cx="145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5"/>
          <p:cNvSpPr txBox="1"/>
          <p:nvPr/>
        </p:nvSpPr>
        <p:spPr>
          <a:xfrm>
            <a:off x="5330000" y="176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Var. vs. média</a:t>
            </a:r>
            <a:endParaRPr/>
          </a:p>
        </p:txBody>
      </p:sp>
      <p:sp>
        <p:nvSpPr>
          <p:cNvPr id="720" name="Google Shape;720;p45"/>
          <p:cNvSpPr/>
          <p:nvPr/>
        </p:nvSpPr>
        <p:spPr>
          <a:xfrm>
            <a:off x="750000" y="2060000"/>
            <a:ext cx="17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830000" y="212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Até 18 meses</a:t>
            </a:r>
            <a:endParaRPr/>
          </a:p>
        </p:txBody>
      </p:sp>
      <p:sp>
        <p:nvSpPr>
          <p:cNvPr id="722" name="Google Shape;722;p45"/>
          <p:cNvSpPr/>
          <p:nvPr/>
        </p:nvSpPr>
        <p:spPr>
          <a:xfrm>
            <a:off x="2450000" y="206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2530000" y="212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  <a:endParaRPr/>
          </a:p>
        </p:txBody>
      </p:sp>
      <p:sp>
        <p:nvSpPr>
          <p:cNvPr id="724" name="Google Shape;724;p45"/>
          <p:cNvSpPr/>
          <p:nvPr/>
        </p:nvSpPr>
        <p:spPr>
          <a:xfrm>
            <a:off x="3850000" y="206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5"/>
          <p:cNvSpPr txBox="1"/>
          <p:nvPr/>
        </p:nvSpPr>
        <p:spPr>
          <a:xfrm>
            <a:off x="3930000" y="212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R$ 11.300</a:t>
            </a:r>
            <a:endParaRPr/>
          </a:p>
        </p:txBody>
      </p:sp>
      <p:sp>
        <p:nvSpPr>
          <p:cNvPr id="726" name="Google Shape;726;p45"/>
          <p:cNvSpPr/>
          <p:nvPr/>
        </p:nvSpPr>
        <p:spPr>
          <a:xfrm>
            <a:off x="5250000" y="2060000"/>
            <a:ext cx="145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 txBox="1"/>
          <p:nvPr/>
        </p:nvSpPr>
        <p:spPr>
          <a:xfrm>
            <a:off x="5330000" y="212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7D4F"/>
                </a:solidFill>
                <a:latin typeface="Arial Black"/>
                <a:ea typeface="Arial Black"/>
                <a:cs typeface="Arial Black"/>
                <a:sym typeface="Arial Black"/>
              </a:rPr>
              <a:t>-32%</a:t>
            </a:r>
            <a:endParaRPr/>
          </a:p>
        </p:txBody>
      </p:sp>
      <p:sp>
        <p:nvSpPr>
          <p:cNvPr id="728" name="Google Shape;728;p45"/>
          <p:cNvSpPr/>
          <p:nvPr/>
        </p:nvSpPr>
        <p:spPr>
          <a:xfrm>
            <a:off x="750000" y="2420000"/>
            <a:ext cx="17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 txBox="1"/>
          <p:nvPr/>
        </p:nvSpPr>
        <p:spPr>
          <a:xfrm>
            <a:off x="830000" y="248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 a 36 meses</a:t>
            </a:r>
            <a:endParaRPr/>
          </a:p>
        </p:txBody>
      </p:sp>
      <p:sp>
        <p:nvSpPr>
          <p:cNvPr id="730" name="Google Shape;730;p45"/>
          <p:cNvSpPr/>
          <p:nvPr/>
        </p:nvSpPr>
        <p:spPr>
          <a:xfrm>
            <a:off x="2450000" y="242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2530000" y="248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528</a:t>
            </a:r>
            <a:endParaRPr/>
          </a:p>
        </p:txBody>
      </p:sp>
      <p:sp>
        <p:nvSpPr>
          <p:cNvPr id="732" name="Google Shape;732;p45"/>
          <p:cNvSpPr/>
          <p:nvPr/>
        </p:nvSpPr>
        <p:spPr>
          <a:xfrm>
            <a:off x="3850000" y="242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 txBox="1"/>
          <p:nvPr/>
        </p:nvSpPr>
        <p:spPr>
          <a:xfrm>
            <a:off x="3930000" y="248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R$ 16.700</a:t>
            </a:r>
            <a:endParaRPr/>
          </a:p>
        </p:txBody>
      </p:sp>
      <p:sp>
        <p:nvSpPr>
          <p:cNvPr id="734" name="Google Shape;734;p45"/>
          <p:cNvSpPr/>
          <p:nvPr/>
        </p:nvSpPr>
        <p:spPr>
          <a:xfrm>
            <a:off x="5250000" y="2420000"/>
            <a:ext cx="145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5330000" y="248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 Black"/>
                <a:ea typeface="Arial Black"/>
                <a:cs typeface="Arial Black"/>
                <a:sym typeface="Arial Black"/>
              </a:rPr>
              <a:t>Base</a:t>
            </a:r>
            <a:endParaRPr/>
          </a:p>
        </p:txBody>
      </p:sp>
      <p:sp>
        <p:nvSpPr>
          <p:cNvPr id="736" name="Google Shape;736;p45"/>
          <p:cNvSpPr/>
          <p:nvPr/>
        </p:nvSpPr>
        <p:spPr>
          <a:xfrm>
            <a:off x="750000" y="2780000"/>
            <a:ext cx="17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 txBox="1"/>
          <p:nvPr/>
        </p:nvSpPr>
        <p:spPr>
          <a:xfrm>
            <a:off x="830000" y="284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37 a 60 meses</a:t>
            </a:r>
            <a:endParaRPr/>
          </a:p>
        </p:txBody>
      </p:sp>
      <p:sp>
        <p:nvSpPr>
          <p:cNvPr id="738" name="Google Shape;738;p45"/>
          <p:cNvSpPr/>
          <p:nvPr/>
        </p:nvSpPr>
        <p:spPr>
          <a:xfrm>
            <a:off x="2450000" y="278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2530000" y="284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241</a:t>
            </a:r>
            <a:endParaRPr/>
          </a:p>
        </p:txBody>
      </p:sp>
      <p:sp>
        <p:nvSpPr>
          <p:cNvPr id="740" name="Google Shape;740;p45"/>
          <p:cNvSpPr/>
          <p:nvPr/>
        </p:nvSpPr>
        <p:spPr>
          <a:xfrm>
            <a:off x="3850000" y="278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3930000" y="284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R$ 24.900</a:t>
            </a:r>
            <a:endParaRPr/>
          </a:p>
        </p:txBody>
      </p:sp>
      <p:sp>
        <p:nvSpPr>
          <p:cNvPr id="742" name="Google Shape;742;p45"/>
          <p:cNvSpPr/>
          <p:nvPr/>
        </p:nvSpPr>
        <p:spPr>
          <a:xfrm>
            <a:off x="5250000" y="2780000"/>
            <a:ext cx="145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 txBox="1"/>
          <p:nvPr/>
        </p:nvSpPr>
        <p:spPr>
          <a:xfrm>
            <a:off x="5330000" y="284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+49%</a:t>
            </a:r>
            <a:endParaRPr/>
          </a:p>
        </p:txBody>
      </p:sp>
      <p:sp>
        <p:nvSpPr>
          <p:cNvPr id="744" name="Google Shape;744;p45"/>
          <p:cNvSpPr/>
          <p:nvPr/>
        </p:nvSpPr>
        <p:spPr>
          <a:xfrm>
            <a:off x="750000" y="3140000"/>
            <a:ext cx="17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5"/>
          <p:cNvSpPr txBox="1"/>
          <p:nvPr/>
        </p:nvSpPr>
        <p:spPr>
          <a:xfrm>
            <a:off x="830000" y="320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Acima de 60 meses</a:t>
            </a:r>
            <a:endParaRPr/>
          </a:p>
        </p:txBody>
      </p:sp>
      <p:sp>
        <p:nvSpPr>
          <p:cNvPr id="746" name="Google Shape;746;p45"/>
          <p:cNvSpPr/>
          <p:nvPr/>
        </p:nvSpPr>
        <p:spPr>
          <a:xfrm>
            <a:off x="2450000" y="314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 txBox="1"/>
          <p:nvPr/>
        </p:nvSpPr>
        <p:spPr>
          <a:xfrm>
            <a:off x="2530000" y="320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/>
          </a:p>
        </p:txBody>
      </p:sp>
      <p:sp>
        <p:nvSpPr>
          <p:cNvPr id="748" name="Google Shape;748;p45"/>
          <p:cNvSpPr/>
          <p:nvPr/>
        </p:nvSpPr>
        <p:spPr>
          <a:xfrm>
            <a:off x="3850000" y="314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 txBox="1"/>
          <p:nvPr/>
        </p:nvSpPr>
        <p:spPr>
          <a:xfrm>
            <a:off x="3930000" y="320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R$ 41.200</a:t>
            </a:r>
            <a:endParaRPr/>
          </a:p>
        </p:txBody>
      </p:sp>
      <p:sp>
        <p:nvSpPr>
          <p:cNvPr id="750" name="Google Shape;750;p45"/>
          <p:cNvSpPr/>
          <p:nvPr/>
        </p:nvSpPr>
        <p:spPr>
          <a:xfrm>
            <a:off x="5250000" y="3140000"/>
            <a:ext cx="145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5"/>
          <p:cNvSpPr txBox="1"/>
          <p:nvPr/>
        </p:nvSpPr>
        <p:spPr>
          <a:xfrm>
            <a:off x="5330000" y="320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+147%</a:t>
            </a:r>
            <a:endParaRPr/>
          </a:p>
        </p:txBody>
      </p:sp>
      <p:sp>
        <p:nvSpPr>
          <p:cNvPr id="752" name="Google Shape;752;p45"/>
          <p:cNvSpPr/>
          <p:nvPr/>
        </p:nvSpPr>
        <p:spPr>
          <a:xfrm>
            <a:off x="750000" y="3750000"/>
            <a:ext cx="5950000" cy="6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5"/>
          <p:cNvSpPr txBox="1"/>
          <p:nvPr/>
        </p:nvSpPr>
        <p:spPr>
          <a:xfrm>
            <a:off x="900000" y="3830000"/>
            <a:ext cx="565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Insight: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casos que duram mais saem mais caros. A janela ótima para acordo é entre 19 e 36 meses, antes da escalada de valor observada na cauda longa.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Resultado: três decisões objetivas</a:t>
            </a:r>
            <a:endParaRPr/>
          </a:p>
        </p:txBody>
      </p:sp>
      <p:sp>
        <p:nvSpPr>
          <p:cNvPr id="759" name="Google Shape;759;p46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análise para a contabilidade, a estratégia e a operação</a:t>
            </a:r>
            <a:endParaRPr/>
          </a:p>
        </p:txBody>
      </p:sp>
      <p:sp>
        <p:nvSpPr>
          <p:cNvPr id="760" name="Google Shape;760;p46"/>
          <p:cNvSpPr/>
          <p:nvPr/>
        </p:nvSpPr>
        <p:spPr>
          <a:xfrm>
            <a:off x="75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6"/>
          <p:cNvSpPr txBox="1"/>
          <p:nvPr/>
        </p:nvSpPr>
        <p:spPr>
          <a:xfrm>
            <a:off x="83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R$ 12,3 mi</a:t>
            </a:r>
            <a:endParaRPr/>
          </a:p>
        </p:txBody>
      </p:sp>
      <p:sp>
        <p:nvSpPr>
          <p:cNvPr id="762" name="Google Shape;762;p46"/>
          <p:cNvSpPr txBox="1"/>
          <p:nvPr/>
        </p:nvSpPr>
        <p:spPr>
          <a:xfrm>
            <a:off x="85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Provisão recalibrada</a:t>
            </a:r>
            <a:endParaRPr/>
          </a:p>
        </p:txBody>
      </p:sp>
      <p:sp>
        <p:nvSpPr>
          <p:cNvPr id="763" name="Google Shape;763;p46"/>
          <p:cNvSpPr txBox="1"/>
          <p:nvPr/>
        </p:nvSpPr>
        <p:spPr>
          <a:xfrm>
            <a:off x="90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Redução de R$ 5,7 mi com base em risco efetivo por vara, validada pela auditoria.</a:t>
            </a:r>
            <a:endParaRPr/>
          </a:p>
        </p:txBody>
      </p:sp>
      <p:sp>
        <p:nvSpPr>
          <p:cNvPr id="764" name="Google Shape;764;p46"/>
          <p:cNvSpPr/>
          <p:nvPr/>
        </p:nvSpPr>
        <p:spPr>
          <a:xfrm>
            <a:off x="280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288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 varas</a:t>
            </a:r>
            <a:endParaRPr/>
          </a:p>
        </p:txBody>
      </p:sp>
      <p:sp>
        <p:nvSpPr>
          <p:cNvPr id="766" name="Google Shape;766;p46"/>
          <p:cNvSpPr txBox="1"/>
          <p:nvPr/>
        </p:nvSpPr>
        <p:spPr>
          <a:xfrm>
            <a:off x="290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Foro priorizado</a:t>
            </a:r>
            <a:endParaRPr/>
          </a:p>
        </p:txBody>
      </p:sp>
      <p:sp>
        <p:nvSpPr>
          <p:cNvPr id="767" name="Google Shape;767;p46"/>
          <p:cNvSpPr txBox="1"/>
          <p:nvPr/>
        </p:nvSpPr>
        <p:spPr>
          <a:xfrm>
            <a:off x="295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Mapeamento das varas com taxa de êxito 50% acima da média orientou a distribuição.</a:t>
            </a:r>
            <a:endParaRPr/>
          </a:p>
        </p:txBody>
      </p:sp>
      <p:sp>
        <p:nvSpPr>
          <p:cNvPr id="768" name="Google Shape;768;p46"/>
          <p:cNvSpPr/>
          <p:nvPr/>
        </p:nvSpPr>
        <p:spPr>
          <a:xfrm>
            <a:off x="485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 txBox="1"/>
          <p:nvPr/>
        </p:nvSpPr>
        <p:spPr>
          <a:xfrm>
            <a:off x="493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19 a 36 meses</a:t>
            </a:r>
            <a:endParaRPr/>
          </a:p>
        </p:txBody>
      </p:sp>
      <p:sp>
        <p:nvSpPr>
          <p:cNvPr id="770" name="Google Shape;770;p46"/>
          <p:cNvSpPr txBox="1"/>
          <p:nvPr/>
        </p:nvSpPr>
        <p:spPr>
          <a:xfrm>
            <a:off x="495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Janela de acordo</a:t>
            </a:r>
            <a:endParaRPr/>
          </a:p>
        </p:txBody>
      </p:sp>
      <p:sp>
        <p:nvSpPr>
          <p:cNvPr id="771" name="Google Shape;771;p46"/>
          <p:cNvSpPr txBox="1"/>
          <p:nvPr/>
        </p:nvSpPr>
        <p:spPr>
          <a:xfrm>
            <a:off x="500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Política de proposta ativa nessa faixa, evitando a cauda longa de cases acima de 60 meses.</a:t>
            </a:r>
            <a:endParaRPr/>
          </a:p>
        </p:txBody>
      </p:sp>
      <p:sp>
        <p:nvSpPr>
          <p:cNvPr id="772" name="Google Shape;772;p46"/>
          <p:cNvSpPr/>
          <p:nvPr/>
        </p:nvSpPr>
        <p:spPr>
          <a:xfrm>
            <a:off x="750000" y="4000000"/>
            <a:ext cx="5950000" cy="3800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900000" y="4010000"/>
            <a:ext cx="56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Conclusão do case: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jurimetria não substituiu a advocacia, mas deu ao sócio dados para defender cada decisão diante do board e da auditoria.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5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5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5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5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População, amostra e tipos de variáveis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População vs.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6"/>
          <p:cNvSpPr txBox="1"/>
          <p:nvPr/>
        </p:nvSpPr>
        <p:spPr>
          <a:xfrm>
            <a:off x="750000" y="1145000"/>
            <a:ext cx="6980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ponto de partida de qualquer análise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6"/>
          <p:cNvSpPr/>
          <p:nvPr/>
        </p:nvSpPr>
        <p:spPr>
          <a:xfrm>
            <a:off x="750000" y="1583302"/>
            <a:ext cx="3343500" cy="15654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6"/>
          <p:cNvSpPr txBox="1"/>
          <p:nvPr/>
        </p:nvSpPr>
        <p:spPr>
          <a:xfrm>
            <a:off x="925974" y="1739838"/>
            <a:ext cx="2991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POPULAÇÃO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6"/>
          <p:cNvSpPr txBox="1"/>
          <p:nvPr/>
        </p:nvSpPr>
        <p:spPr>
          <a:xfrm>
            <a:off x="925974" y="2104783"/>
            <a:ext cx="29916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conjunto completo de casos que se quer estudar. Ex.: todos os julgados de locação do TJSP entre 2010 e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6"/>
          <p:cNvSpPr/>
          <p:nvPr/>
        </p:nvSpPr>
        <p:spPr>
          <a:xfrm>
            <a:off x="4328147" y="1583302"/>
            <a:ext cx="3343500" cy="1565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6"/>
          <p:cNvSpPr txBox="1"/>
          <p:nvPr/>
        </p:nvSpPr>
        <p:spPr>
          <a:xfrm>
            <a:off x="4504122" y="1739838"/>
            <a:ext cx="2991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6"/>
          <p:cNvSpPr txBox="1"/>
          <p:nvPr/>
        </p:nvSpPr>
        <p:spPr>
          <a:xfrm>
            <a:off x="4504122" y="2082355"/>
            <a:ext cx="29916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Subconjunto da população usado quando estudar tudo é inviável. Ex.: ler 300 processos de uma carteira de 10.000.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750000" y="3250000"/>
            <a:ext cx="6921600" cy="8001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6"/>
          <p:cNvSpPr txBox="1"/>
          <p:nvPr/>
        </p:nvSpPr>
        <p:spPr>
          <a:xfrm>
            <a:off x="924495" y="3320000"/>
            <a:ext cx="65727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Regra de ouro: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amostra precisa ser representativa da população. Amostra enviesada produz conclusão enviesada, por mais sofisticado que seja o cálculo.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6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Wheelan (2016).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d94641431f_0_145"/>
          <p:cNvSpPr txBox="1"/>
          <p:nvPr/>
        </p:nvSpPr>
        <p:spPr>
          <a:xfrm>
            <a:off x="750000" y="500000"/>
            <a:ext cx="59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Exemplo de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d94641431f_0_14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d94641431f_0_145"/>
          <p:cNvSpPr txBox="1"/>
          <p:nvPr/>
        </p:nvSpPr>
        <p:spPr>
          <a:xfrm>
            <a:off x="750000" y="1379950"/>
            <a:ext cx="66438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00" lIns="38300" spcFirstLastPara="1" rIns="38300" wrap="square" tIns="3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Base de dados com todos os recursos publicados no STJ de janeiro à julho de 2025</a:t>
            </a:r>
            <a:endParaRPr b="0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801" lvl="0" marL="1914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40"/>
              <a:buFont typeface="Arial"/>
              <a:buChar char="●"/>
            </a:pP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18.790 recursos julgados.</a:t>
            </a:r>
            <a:endParaRPr b="0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801" lvl="0" marL="1914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40"/>
              <a:buFont typeface="Arial"/>
              <a:buChar char="●"/>
            </a:pP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Filtro das três UFs mais representativas (com maior volume de recursos julgados no STJ).</a:t>
            </a:r>
            <a:endParaRPr b="1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5" name="Google Shape;805;g3d94641431f_0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6355" y="2904529"/>
            <a:ext cx="1618011" cy="112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d94641431f_0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4469" y="2924142"/>
            <a:ext cx="1735684" cy="1088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d94641431f_0_145"/>
          <p:cNvSpPr txBox="1"/>
          <p:nvPr/>
        </p:nvSpPr>
        <p:spPr>
          <a:xfrm>
            <a:off x="2073463" y="2500237"/>
            <a:ext cx="10839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125" lIns="94125" spcFirstLastPara="1" rIns="94125" wrap="square" tIns="9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1"/>
              <a:buFont typeface="Arial"/>
              <a:buNone/>
            </a:pPr>
            <a:r>
              <a:rPr b="0" i="0" lang="en-US" sz="13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População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d94641431f_0_145"/>
          <p:cNvSpPr txBox="1"/>
          <p:nvPr/>
        </p:nvSpPr>
        <p:spPr>
          <a:xfrm>
            <a:off x="4353302" y="2500239"/>
            <a:ext cx="16182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125" lIns="94125" spcFirstLastPara="1" rIns="94125" wrap="square" tIns="9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1"/>
              <a:buFont typeface="Arial"/>
              <a:buNone/>
            </a:pPr>
            <a:r>
              <a:rPr b="0" i="0" lang="en-US" sz="13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Amostra aelatória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7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Uma Analogia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7"/>
          <p:cNvSpPr txBox="1"/>
          <p:nvPr/>
        </p:nvSpPr>
        <p:spPr>
          <a:xfrm>
            <a:off x="750000" y="11505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Amostra está para a população como prova está para a pretensão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750000" y="1570575"/>
            <a:ext cx="2850000" cy="21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7"/>
          <p:cNvSpPr txBox="1"/>
          <p:nvPr/>
        </p:nvSpPr>
        <p:spPr>
          <a:xfrm>
            <a:off x="900000" y="1720575"/>
            <a:ext cx="255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"/>
          <p:cNvSpPr txBox="1"/>
          <p:nvPr/>
        </p:nvSpPr>
        <p:spPr>
          <a:xfrm>
            <a:off x="900000" y="2170575"/>
            <a:ext cx="255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juiz decide sobre fatos que, em regra, não presenciou.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prova funciona como recorte confiável da realidade.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Prova mal produzida gera decisão mal fundamentada.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3800000" y="1570575"/>
            <a:ext cx="2850000" cy="21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7"/>
          <p:cNvSpPr txBox="1"/>
          <p:nvPr/>
        </p:nvSpPr>
        <p:spPr>
          <a:xfrm>
            <a:off x="3950000" y="1720575"/>
            <a:ext cx="255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NA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7"/>
          <p:cNvSpPr txBox="1"/>
          <p:nvPr/>
        </p:nvSpPr>
        <p:spPr>
          <a:xfrm>
            <a:off x="3950000" y="2170575"/>
            <a:ext cx="255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analista conclui sobre casos que não leu um a 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amostra funciona como recorte confiável da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Amostra mal colhida gera conclusão mal fundamentada.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7"/>
          <p:cNvSpPr txBox="1"/>
          <p:nvPr/>
        </p:nvSpPr>
        <p:spPr>
          <a:xfrm>
            <a:off x="750000" y="40943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Nos dois casos, ônus da qualidade do recorte recai sobre quem decide.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8"/>
          <p:cNvSpPr txBox="1"/>
          <p:nvPr/>
        </p:nvSpPr>
        <p:spPr>
          <a:xfrm>
            <a:off x="750000" y="500000"/>
            <a:ext cx="5949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Tipos de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8"/>
          <p:cNvSpPr txBox="1"/>
          <p:nvPr/>
        </p:nvSpPr>
        <p:spPr>
          <a:xfrm>
            <a:off x="750000" y="11879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Três famílias que cobrem quase todo dado jurídico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8"/>
          <p:cNvSpPr/>
          <p:nvPr/>
        </p:nvSpPr>
        <p:spPr>
          <a:xfrm>
            <a:off x="750000" y="1533215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8"/>
          <p:cNvSpPr txBox="1"/>
          <p:nvPr/>
        </p:nvSpPr>
        <p:spPr>
          <a:xfrm>
            <a:off x="866814" y="1613215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8"/>
          <p:cNvSpPr txBox="1"/>
          <p:nvPr/>
        </p:nvSpPr>
        <p:spPr>
          <a:xfrm>
            <a:off x="866814" y="1881090"/>
            <a:ext cx="195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Classes sem ordem natural ou com ordem fixa.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8"/>
          <p:cNvSpPr txBox="1"/>
          <p:nvPr/>
        </p:nvSpPr>
        <p:spPr>
          <a:xfrm>
            <a:off x="2948710" y="1693215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8"/>
          <p:cNvSpPr txBox="1"/>
          <p:nvPr/>
        </p:nvSpPr>
        <p:spPr>
          <a:xfrm>
            <a:off x="2948710" y="1973215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Classe, comarca, sentenca, assunto.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8"/>
          <p:cNvSpPr/>
          <p:nvPr/>
        </p:nvSpPr>
        <p:spPr>
          <a:xfrm>
            <a:off x="750000" y="2445739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8"/>
          <p:cNvSpPr txBox="1"/>
          <p:nvPr/>
        </p:nvSpPr>
        <p:spPr>
          <a:xfrm>
            <a:off x="866814" y="2525739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Numéricas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8"/>
          <p:cNvSpPr txBox="1"/>
          <p:nvPr/>
        </p:nvSpPr>
        <p:spPr>
          <a:xfrm>
            <a:off x="866825" y="2829364"/>
            <a:ext cx="195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Valores que podem ser somados, comparados, medidos.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8"/>
          <p:cNvSpPr txBox="1"/>
          <p:nvPr/>
        </p:nvSpPr>
        <p:spPr>
          <a:xfrm>
            <a:off x="2948710" y="2605739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8"/>
          <p:cNvSpPr txBox="1"/>
          <p:nvPr/>
        </p:nvSpPr>
        <p:spPr>
          <a:xfrm>
            <a:off x="2948710" y="2885739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da causa, valor do aluguel, valor corrigido pelo juiz.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750000" y="3447975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8"/>
          <p:cNvSpPr txBox="1"/>
          <p:nvPr/>
        </p:nvSpPr>
        <p:spPr>
          <a:xfrm>
            <a:off x="866814" y="3527975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Temporais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8"/>
          <p:cNvSpPr txBox="1"/>
          <p:nvPr/>
        </p:nvSpPr>
        <p:spPr>
          <a:xfrm>
            <a:off x="866814" y="3907975"/>
            <a:ext cx="1869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Datas e intervalos de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8"/>
          <p:cNvSpPr txBox="1"/>
          <p:nvPr/>
        </p:nvSpPr>
        <p:spPr>
          <a:xfrm>
            <a:off x="2939977" y="3607975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8"/>
          <p:cNvSpPr txBox="1"/>
          <p:nvPr/>
        </p:nvSpPr>
        <p:spPr>
          <a:xfrm>
            <a:off x="2939977" y="3887975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de distribuição, data da sentença, data do trânsito, tempo até 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8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Wheelan (2016).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Variáveis na Base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9"/>
          <p:cNvSpPr txBox="1"/>
          <p:nvPr/>
        </p:nvSpPr>
        <p:spPr>
          <a:xfrm>
            <a:off x="750000" y="1145000"/>
            <a:ext cx="59499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Aplicando a classificação à carteira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9"/>
          <p:cNvSpPr/>
          <p:nvPr/>
        </p:nvSpPr>
        <p:spPr>
          <a:xfrm>
            <a:off x="75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9"/>
          <p:cNvSpPr/>
          <p:nvPr/>
        </p:nvSpPr>
        <p:spPr>
          <a:xfrm>
            <a:off x="75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9"/>
          <p:cNvSpPr txBox="1"/>
          <p:nvPr/>
        </p:nvSpPr>
        <p:spPr>
          <a:xfrm>
            <a:off x="85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9"/>
          <p:cNvSpPr txBox="1"/>
          <p:nvPr/>
        </p:nvSpPr>
        <p:spPr>
          <a:xfrm>
            <a:off x="93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Comarca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Polo autor/réu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282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9"/>
          <p:cNvSpPr/>
          <p:nvPr/>
        </p:nvSpPr>
        <p:spPr>
          <a:xfrm>
            <a:off x="282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9"/>
          <p:cNvSpPr txBox="1"/>
          <p:nvPr/>
        </p:nvSpPr>
        <p:spPr>
          <a:xfrm>
            <a:off x="292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Numéricas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9"/>
          <p:cNvSpPr txBox="1"/>
          <p:nvPr/>
        </p:nvSpPr>
        <p:spPr>
          <a:xfrm>
            <a:off x="300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da causa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do aluguel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do aluguel  corrigido pelo juiz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489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489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9"/>
          <p:cNvSpPr txBox="1"/>
          <p:nvPr/>
        </p:nvSpPr>
        <p:spPr>
          <a:xfrm>
            <a:off x="499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Temporais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9"/>
          <p:cNvSpPr txBox="1"/>
          <p:nvPr/>
        </p:nvSpPr>
        <p:spPr>
          <a:xfrm>
            <a:off x="507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 distribuição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 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do trânsito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 até o trânsito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9"/>
          <p:cNvSpPr/>
          <p:nvPr/>
        </p:nvSpPr>
        <p:spPr>
          <a:xfrm>
            <a:off x="750000" y="4078050"/>
            <a:ext cx="5949900" cy="3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9"/>
          <p:cNvSpPr txBox="1"/>
          <p:nvPr/>
        </p:nvSpPr>
        <p:spPr>
          <a:xfrm>
            <a:off x="900000" y="4108050"/>
            <a:ext cx="5649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 análise futura combina variáveis destas três famílias. Saber classificá-las é o primeiro passo.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Síntese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1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Cinco pontos para levar para casa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1"/>
          <p:cNvSpPr/>
          <p:nvPr/>
        </p:nvSpPr>
        <p:spPr>
          <a:xfrm>
            <a:off x="750000" y="17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1"/>
          <p:cNvSpPr txBox="1"/>
          <p:nvPr/>
        </p:nvSpPr>
        <p:spPr>
          <a:xfrm>
            <a:off x="1350000" y="181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Jurimetria aplica ciência de dados ao Direito, com objetivos empíricos, quantitativos e aplicados.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750000" y="232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1"/>
          <p:cNvSpPr txBox="1"/>
          <p:nvPr/>
        </p:nvSpPr>
        <p:spPr>
          <a:xfrm>
            <a:off x="1350000" y="238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Dados não substituem a análise jurídica; eles fundamentam decisões de litígio, negociação, provisionamento e gestão.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1"/>
          <p:cNvSpPr/>
          <p:nvPr/>
        </p:nvSpPr>
        <p:spPr>
          <a:xfrm>
            <a:off x="750000" y="289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1"/>
          <p:cNvSpPr txBox="1"/>
          <p:nvPr/>
        </p:nvSpPr>
        <p:spPr>
          <a:xfrm>
            <a:off x="1350000" y="295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abordagem qualitativa responde pelo caso concreto; a quantitativa responde pela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1"/>
          <p:cNvSpPr/>
          <p:nvPr/>
        </p:nvSpPr>
        <p:spPr>
          <a:xfrm>
            <a:off x="750000" y="346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1"/>
          <p:cNvSpPr txBox="1"/>
          <p:nvPr/>
        </p:nvSpPr>
        <p:spPr>
          <a:xfrm>
            <a:off x="1350000" y="352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 análise começa por distinguir população, amostra e variáveis categóricas, numéricas e temporais.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750000" y="403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1"/>
          <p:cNvSpPr txBox="1"/>
          <p:nvPr/>
        </p:nvSpPr>
        <p:spPr>
          <a:xfrm>
            <a:off x="1350000" y="409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Transformar uma dúvida jurídica em pergunta jurimétrica é a ponte que vamos atravessar no Bloco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Ponte para o Bloco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vem a seguir, depois do intervalo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2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2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 conceito à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Bloco 2 vamos aplicar o que acabamos de discutir.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2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Justiça em Números e DataJud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2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Panorama do uso de dados no Judiciário brasileiro.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2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2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Painéis do CNJ, na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2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Demonstração ao vivo.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2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Leitura crítica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2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Quais perguntas fazer ao olhar um número.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2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Dúvida → pergunta jurimétrica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2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ponte fundamental que sustenta a Aula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2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Referências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Fontes citadas ao longo do 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3"/>
          <p:cNvSpPr txBox="1"/>
          <p:nvPr/>
        </p:nvSpPr>
        <p:spPr>
          <a:xfrm>
            <a:off x="750000" y="1780000"/>
            <a:ext cx="7025100" cy="2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NUNES, Marcelo Guedes. Jurimetria: como a estatística pode reinventar o Direito. 2. ed. São Paulo: Revista dos Tribunais, 2019.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ZABALA, Filipe Jaeger; SILVEIRA, Fabiano Feijó. Jurimetria: estatística aplicada ao Direito. Revista Direito e Liberdade, v. 16, n. 1, 2014.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KATZ, Daniel Martin; BOMMARITO, Michael J. Quantitative Legal Prediction. Emory Law Journal, v. 62, 2013.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WHEELAN, Charles. Estatística: o que é, para que serve, como funciona. Rio de Janeiro: Zahar, 2016.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ASSOCIAÇÃO BRASILEIRA DE JURIMETRIA (ABJ). Relatórios e publicações. Disponível em: abj.org.br.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3"/>
          <p:cNvSpPr txBox="1"/>
          <p:nvPr/>
        </p:nvSpPr>
        <p:spPr>
          <a:xfrm>
            <a:off x="750000" y="430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Leituras complementares estarão indicadas ao longo dos próximos blocos.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d94641431f_0_127"/>
          <p:cNvSpPr/>
          <p:nvPr/>
        </p:nvSpPr>
        <p:spPr>
          <a:xfrm>
            <a:off x="822960" y="914400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Fim do Bloco 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d94641431f_0_127"/>
          <p:cNvSpPr/>
          <p:nvPr/>
        </p:nvSpPr>
        <p:spPr>
          <a:xfrm>
            <a:off x="82296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d94641431f_0_127"/>
          <p:cNvSpPr/>
          <p:nvPr/>
        </p:nvSpPr>
        <p:spPr>
          <a:xfrm>
            <a:off x="822960" y="2391995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Intervalo de 15 minutos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d94641431f_0_127"/>
          <p:cNvSpPr txBox="1"/>
          <p:nvPr/>
        </p:nvSpPr>
        <p:spPr>
          <a:xfrm>
            <a:off x="822955" y="2849200"/>
            <a:ext cx="5486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Bloco 2: painéis do Judiciário e a ponte para a pergunta jurimétrica.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