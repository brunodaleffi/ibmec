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205"/>
    <p:sldId id="257" r:id="rId206"/>
    <p:sldId id="258" r:id="rId207"/>
    <p:sldId id="259" r:id="rId208"/>
    <p:sldId id="260" r:id="rId209"/>
    <p:sldId id="261" r:id="rId210"/>
    <p:sldId id="262" r:id="rId211"/>
    <p:sldId id="263" r:id="rId212"/>
    <p:sldId id="264" r:id="rId213"/>
    <p:sldId id="265" r:id="rId214"/>
    <p:sldId id="266" r:id="rId215"/>
    <p:sldId id="267" r:id="rId216"/>
    <p:sldId id="268" r:id="rId217"/>
    <p:sldId id="269" r:id="rId218"/>
    <p:sldId id="270" r:id="rId219"/>
    <p:sldId id="271" r:id="rId220"/>
    <p:sldId id="272" r:id="rId221"/>
    <p:sldId id="273" r:id="rId222"/>
    <p:sldId id="274" r:id="rId223"/>
    <p:sldId id="275" r:id="rId224"/>
    <p:sldId id="276" r:id="rId225"/>
    <p:sldId id="277" r:id="rId226"/>
    <p:sldId id="278" r:id="rId227"/>
    <p:sldId id="279" r:id="rId228"/>
    <p:sldId id="280" r:id="rId229"/>
    <p:sldId id="281" r:id="rId230"/>
    <p:sldId id="282" r:id="rId231"/>
    <p:sldId id="283" r:id="rId232"/>
    <p:sldId id="284" r:id="rId233"/>
    <p:sldId id="285" r:id="rId234"/>
    <p:sldId id="286" r:id="rId235"/>
    <p:sldId id="287" r:id="rId236"/>
    <p:sldId id="288" r:id="rId237"/>
    <p:sldId id="289" r:id="rId238"/>
    <p:sldId id="290" r:id="rId239"/>
    <p:sldId id="291" r:id="rId240"/>
    <p:sldId id="292" r:id="rId241"/>
    <p:sldId id="293" r:id="rId242"/>
    <p:sldId id="294" r:id="rId243"/>
  </p:sldIdLst>
  <p:sldSz cy="5143500" cx="9144000"/>
  <p:notesSz cx="5143500" cy="9144000"/>
  <p:embeddedFontLst>
    <p:embeddedFont>
      <p:font typeface="Arial Black"/>
      <p:regular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60">
          <p15:clr>
            <a:srgbClr val="747775"/>
          </p15:clr>
        </p15:guide>
      </p15:sldGuideLst>
    </p:ext>
    <p:ext uri="GoogleSlidesCustomDataVersion2">
      <go:slidesCustomData xmlns:go="http://customooxmlschemas.google.com/" r:id="rId9" roundtripDataSignature="AMtx7mhh5oWEV931oxANsAAKpH6PvK4/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6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ArialBlack-regular.fntdata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1.xml"/><Relationship Id="rId50" Type="http://schemas.openxmlformats.org/officeDocument/2006/relationships/slide" Target="slides/slide2.xml"/><Relationship Id="rId51" Type="http://schemas.openxmlformats.org/officeDocument/2006/relationships/slide" Target="slides/slide3.xml"/><Relationship Id="rId52" Type="http://schemas.openxmlformats.org/officeDocument/2006/relationships/slide" Target="slides/slide4.xml"/><Relationship Id="rId53" Type="http://schemas.openxmlformats.org/officeDocument/2006/relationships/slide" Target="slides/slide5.xml"/><Relationship Id="rId54" Type="http://schemas.openxmlformats.org/officeDocument/2006/relationships/slide" Target="slides/slide6.xml"/><Relationship Id="rId55" Type="http://schemas.openxmlformats.org/officeDocument/2006/relationships/slide" Target="slides/slide7.xml"/><Relationship Id="rId56" Type="http://schemas.openxmlformats.org/officeDocument/2006/relationships/slide" Target="slides/slide8.xml"/><Relationship Id="rId57" Type="http://schemas.openxmlformats.org/officeDocument/2006/relationships/slide" Target="slides/slide9.xml"/><Relationship Id="rId58" Type="http://schemas.openxmlformats.org/officeDocument/2006/relationships/slide" Target="slides/slide10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19.xml"/><Relationship Id="rId68" Type="http://schemas.openxmlformats.org/officeDocument/2006/relationships/slide" Target="slides/slide20.xml"/><Relationship Id="rId69" Type="http://schemas.openxmlformats.org/officeDocument/2006/relationships/slide" Target="slides/slide21.xml"/><Relationship Id="rId70" Type="http://schemas.openxmlformats.org/officeDocument/2006/relationships/slide" Target="slides/slide22.xml"/><Relationship Id="rId71" Type="http://schemas.openxmlformats.org/officeDocument/2006/relationships/slide" Target="slides/slide23.xml"/><Relationship Id="rId72" Type="http://schemas.openxmlformats.org/officeDocument/2006/relationships/slide" Target="slides/slide24.xml"/><Relationship Id="rId73" Type="http://schemas.openxmlformats.org/officeDocument/2006/relationships/slide" Target="slides/slide25.xml"/><Relationship Id="rId74" Type="http://schemas.openxmlformats.org/officeDocument/2006/relationships/slide" Target="slides/slide26.xml"/><Relationship Id="rId75" Type="http://schemas.openxmlformats.org/officeDocument/2006/relationships/slide" Target="slides/slide27.xml"/><Relationship Id="rId76" Type="http://schemas.openxmlformats.org/officeDocument/2006/relationships/slide" Target="slides/slide28.xml"/><Relationship Id="rId77" Type="http://schemas.openxmlformats.org/officeDocument/2006/relationships/slide" Target="slides/slide29.xml"/><Relationship Id="rId78" Type="http://schemas.openxmlformats.org/officeDocument/2006/relationships/slide" Target="slides/slide30.xml"/><Relationship Id="rId79" Type="http://schemas.openxmlformats.org/officeDocument/2006/relationships/slide" Target="slides/slide31.xml"/><Relationship Id="rId80" Type="http://schemas.openxmlformats.org/officeDocument/2006/relationships/slide" Target="slides/slide32.xml"/><Relationship Id="rId81" Type="http://schemas.openxmlformats.org/officeDocument/2006/relationships/slide" Target="slides/slide33.xml"/><Relationship Id="rId82" Type="http://schemas.openxmlformats.org/officeDocument/2006/relationships/slide" Target="slides/slide34.xml"/><Relationship Id="rId83" Type="http://schemas.openxmlformats.org/officeDocument/2006/relationships/slide" Target="slides/slide35.xml"/><Relationship Id="rId84" Type="http://schemas.openxmlformats.org/officeDocument/2006/relationships/slide" Target="slides/slide36.xml"/><Relationship Id="rId85" Type="http://schemas.openxmlformats.org/officeDocument/2006/relationships/slide" Target="slides/slide37.xml"/><Relationship Id="rId86" Type="http://schemas.openxmlformats.org/officeDocument/2006/relationships/slide" Target="slides/slide38.xml"/><Relationship Id="rId87" Type="http://schemas.openxmlformats.org/officeDocument/2006/relationships/slide" Target="slides/slide39.xml"/><Relationship Id="rId88" Type="http://schemas.openxmlformats.org/officeDocument/2006/relationships/slide" Target="slides/slide1.xml"/><Relationship Id="rId89" Type="http://schemas.openxmlformats.org/officeDocument/2006/relationships/slide" Target="slides/slide2.xml"/><Relationship Id="rId90" Type="http://schemas.openxmlformats.org/officeDocument/2006/relationships/slide" Target="slides/slide3.xml"/><Relationship Id="rId91" Type="http://schemas.openxmlformats.org/officeDocument/2006/relationships/slide" Target="slides/slide4.xml"/><Relationship Id="rId92" Type="http://schemas.openxmlformats.org/officeDocument/2006/relationships/slide" Target="slides/slide5.xml"/><Relationship Id="rId93" Type="http://schemas.openxmlformats.org/officeDocument/2006/relationships/slide" Target="slides/slide6.xml"/><Relationship Id="rId94" Type="http://schemas.openxmlformats.org/officeDocument/2006/relationships/slide" Target="slides/slide7.xml"/><Relationship Id="rId95" Type="http://schemas.openxmlformats.org/officeDocument/2006/relationships/slide" Target="slides/slide8.xml"/><Relationship Id="rId96" Type="http://schemas.openxmlformats.org/officeDocument/2006/relationships/slide" Target="slides/slide9.xml"/><Relationship Id="rId97" Type="http://schemas.openxmlformats.org/officeDocument/2006/relationships/slide" Target="slides/slide10.xml"/><Relationship Id="rId98" Type="http://schemas.openxmlformats.org/officeDocument/2006/relationships/slide" Target="slides/slide11.xml"/><Relationship Id="rId99" Type="http://schemas.openxmlformats.org/officeDocument/2006/relationships/slide" Target="slides/slide12.xml"/><Relationship Id="rId100" Type="http://schemas.openxmlformats.org/officeDocument/2006/relationships/slide" Target="slides/slide13.xml"/><Relationship Id="rId101" Type="http://schemas.openxmlformats.org/officeDocument/2006/relationships/slide" Target="slides/slide14.xml"/><Relationship Id="rId102" Type="http://schemas.openxmlformats.org/officeDocument/2006/relationships/slide" Target="slides/slide15.xml"/><Relationship Id="rId103" Type="http://schemas.openxmlformats.org/officeDocument/2006/relationships/slide" Target="slides/slide16.xml"/><Relationship Id="rId104" Type="http://schemas.openxmlformats.org/officeDocument/2006/relationships/slide" Target="slides/slide17.xml"/><Relationship Id="rId105" Type="http://schemas.openxmlformats.org/officeDocument/2006/relationships/slide" Target="slides/slide18.xml"/><Relationship Id="rId106" Type="http://schemas.openxmlformats.org/officeDocument/2006/relationships/slide" Target="slides/slide19.xml"/><Relationship Id="rId107" Type="http://schemas.openxmlformats.org/officeDocument/2006/relationships/slide" Target="slides/slide20.xml"/><Relationship Id="rId108" Type="http://schemas.openxmlformats.org/officeDocument/2006/relationships/slide" Target="slides/slide21.xml"/><Relationship Id="rId109" Type="http://schemas.openxmlformats.org/officeDocument/2006/relationships/slide" Target="slides/slide22.xml"/><Relationship Id="rId110" Type="http://schemas.openxmlformats.org/officeDocument/2006/relationships/slide" Target="slides/slide23.xml"/><Relationship Id="rId111" Type="http://schemas.openxmlformats.org/officeDocument/2006/relationships/slide" Target="slides/slide24.xml"/><Relationship Id="rId112" Type="http://schemas.openxmlformats.org/officeDocument/2006/relationships/slide" Target="slides/slide25.xml"/><Relationship Id="rId113" Type="http://schemas.openxmlformats.org/officeDocument/2006/relationships/slide" Target="slides/slide26.xml"/><Relationship Id="rId114" Type="http://schemas.openxmlformats.org/officeDocument/2006/relationships/slide" Target="slides/slide27.xml"/><Relationship Id="rId115" Type="http://schemas.openxmlformats.org/officeDocument/2006/relationships/slide" Target="slides/slide28.xml"/><Relationship Id="rId116" Type="http://schemas.openxmlformats.org/officeDocument/2006/relationships/slide" Target="slides/slide29.xml"/><Relationship Id="rId117" Type="http://schemas.openxmlformats.org/officeDocument/2006/relationships/slide" Target="slides/slide30.xml"/><Relationship Id="rId118" Type="http://schemas.openxmlformats.org/officeDocument/2006/relationships/slide" Target="slides/slide31.xml"/><Relationship Id="rId119" Type="http://schemas.openxmlformats.org/officeDocument/2006/relationships/slide" Target="slides/slide32.xml"/><Relationship Id="rId120" Type="http://schemas.openxmlformats.org/officeDocument/2006/relationships/slide" Target="slides/slide33.xml"/><Relationship Id="rId121" Type="http://schemas.openxmlformats.org/officeDocument/2006/relationships/slide" Target="slides/slide34.xml"/><Relationship Id="rId122" Type="http://schemas.openxmlformats.org/officeDocument/2006/relationships/slide" Target="slides/slide35.xml"/><Relationship Id="rId123" Type="http://schemas.openxmlformats.org/officeDocument/2006/relationships/slide" Target="slides/slide36.xml"/><Relationship Id="rId124" Type="http://schemas.openxmlformats.org/officeDocument/2006/relationships/slide" Target="slides/slide37.xml"/><Relationship Id="rId125" Type="http://schemas.openxmlformats.org/officeDocument/2006/relationships/slide" Target="slides/slide38.xml"/><Relationship Id="rId126" Type="http://schemas.openxmlformats.org/officeDocument/2006/relationships/slide" Target="slides/slide39.xml"/><Relationship Id="rId127" Type="http://schemas.openxmlformats.org/officeDocument/2006/relationships/slide" Target="slides/slide1.xml"/><Relationship Id="rId128" Type="http://schemas.openxmlformats.org/officeDocument/2006/relationships/slide" Target="slides/slide2.xml"/><Relationship Id="rId129" Type="http://schemas.openxmlformats.org/officeDocument/2006/relationships/slide" Target="slides/slide3.xml"/><Relationship Id="rId130" Type="http://schemas.openxmlformats.org/officeDocument/2006/relationships/slide" Target="slides/slide4.xml"/><Relationship Id="rId131" Type="http://schemas.openxmlformats.org/officeDocument/2006/relationships/slide" Target="slides/slide5.xml"/><Relationship Id="rId132" Type="http://schemas.openxmlformats.org/officeDocument/2006/relationships/slide" Target="slides/slide6.xml"/><Relationship Id="rId133" Type="http://schemas.openxmlformats.org/officeDocument/2006/relationships/slide" Target="slides/slide7.xml"/><Relationship Id="rId134" Type="http://schemas.openxmlformats.org/officeDocument/2006/relationships/slide" Target="slides/slide8.xml"/><Relationship Id="rId135" Type="http://schemas.openxmlformats.org/officeDocument/2006/relationships/slide" Target="slides/slide9.xml"/><Relationship Id="rId136" Type="http://schemas.openxmlformats.org/officeDocument/2006/relationships/slide" Target="slides/slide10.xml"/><Relationship Id="rId137" Type="http://schemas.openxmlformats.org/officeDocument/2006/relationships/slide" Target="slides/slide11.xml"/><Relationship Id="rId138" Type="http://schemas.openxmlformats.org/officeDocument/2006/relationships/slide" Target="slides/slide12.xml"/><Relationship Id="rId139" Type="http://schemas.openxmlformats.org/officeDocument/2006/relationships/slide" Target="slides/slide13.xml"/><Relationship Id="rId140" Type="http://schemas.openxmlformats.org/officeDocument/2006/relationships/slide" Target="slides/slide14.xml"/><Relationship Id="rId141" Type="http://schemas.openxmlformats.org/officeDocument/2006/relationships/slide" Target="slides/slide15.xml"/><Relationship Id="rId142" Type="http://schemas.openxmlformats.org/officeDocument/2006/relationships/slide" Target="slides/slide16.xml"/><Relationship Id="rId143" Type="http://schemas.openxmlformats.org/officeDocument/2006/relationships/slide" Target="slides/slide17.xml"/><Relationship Id="rId144" Type="http://schemas.openxmlformats.org/officeDocument/2006/relationships/slide" Target="slides/slide18.xml"/><Relationship Id="rId145" Type="http://schemas.openxmlformats.org/officeDocument/2006/relationships/slide" Target="slides/slide19.xml"/><Relationship Id="rId146" Type="http://schemas.openxmlformats.org/officeDocument/2006/relationships/slide" Target="slides/slide20.xml"/><Relationship Id="rId147" Type="http://schemas.openxmlformats.org/officeDocument/2006/relationships/slide" Target="slides/slide21.xml"/><Relationship Id="rId148" Type="http://schemas.openxmlformats.org/officeDocument/2006/relationships/slide" Target="slides/slide22.xml"/><Relationship Id="rId149" Type="http://schemas.openxmlformats.org/officeDocument/2006/relationships/slide" Target="slides/slide23.xml"/><Relationship Id="rId150" Type="http://schemas.openxmlformats.org/officeDocument/2006/relationships/slide" Target="slides/slide24.xml"/><Relationship Id="rId151" Type="http://schemas.openxmlformats.org/officeDocument/2006/relationships/slide" Target="slides/slide25.xml"/><Relationship Id="rId152" Type="http://schemas.openxmlformats.org/officeDocument/2006/relationships/slide" Target="slides/slide26.xml"/><Relationship Id="rId153" Type="http://schemas.openxmlformats.org/officeDocument/2006/relationships/slide" Target="slides/slide27.xml"/><Relationship Id="rId154" Type="http://schemas.openxmlformats.org/officeDocument/2006/relationships/slide" Target="slides/slide28.xml"/><Relationship Id="rId155" Type="http://schemas.openxmlformats.org/officeDocument/2006/relationships/slide" Target="slides/slide29.xml"/><Relationship Id="rId156" Type="http://schemas.openxmlformats.org/officeDocument/2006/relationships/slide" Target="slides/slide30.xml"/><Relationship Id="rId157" Type="http://schemas.openxmlformats.org/officeDocument/2006/relationships/slide" Target="slides/slide31.xml"/><Relationship Id="rId158" Type="http://schemas.openxmlformats.org/officeDocument/2006/relationships/slide" Target="slides/slide32.xml"/><Relationship Id="rId159" Type="http://schemas.openxmlformats.org/officeDocument/2006/relationships/slide" Target="slides/slide33.xml"/><Relationship Id="rId160" Type="http://schemas.openxmlformats.org/officeDocument/2006/relationships/slide" Target="slides/slide34.xml"/><Relationship Id="rId161" Type="http://schemas.openxmlformats.org/officeDocument/2006/relationships/slide" Target="slides/slide35.xml"/><Relationship Id="rId162" Type="http://schemas.openxmlformats.org/officeDocument/2006/relationships/slide" Target="slides/slide36.xml"/><Relationship Id="rId163" Type="http://schemas.openxmlformats.org/officeDocument/2006/relationships/slide" Target="slides/slide37.xml"/><Relationship Id="rId164" Type="http://schemas.openxmlformats.org/officeDocument/2006/relationships/slide" Target="slides/slide38.xml"/><Relationship Id="rId165" Type="http://schemas.openxmlformats.org/officeDocument/2006/relationships/slide" Target="slides/slide39.xml"/><Relationship Id="rId166" Type="http://schemas.openxmlformats.org/officeDocument/2006/relationships/slide" Target="slides/slide1.xml"/><Relationship Id="rId167" Type="http://schemas.openxmlformats.org/officeDocument/2006/relationships/slide" Target="slides/slide2.xml"/><Relationship Id="rId168" Type="http://schemas.openxmlformats.org/officeDocument/2006/relationships/slide" Target="slides/slide3.xml"/><Relationship Id="rId169" Type="http://schemas.openxmlformats.org/officeDocument/2006/relationships/slide" Target="slides/slide4.xml"/><Relationship Id="rId170" Type="http://schemas.openxmlformats.org/officeDocument/2006/relationships/slide" Target="slides/slide5.xml"/><Relationship Id="rId171" Type="http://schemas.openxmlformats.org/officeDocument/2006/relationships/slide" Target="slides/slide6.xml"/><Relationship Id="rId172" Type="http://schemas.openxmlformats.org/officeDocument/2006/relationships/slide" Target="slides/slide7.xml"/><Relationship Id="rId173" Type="http://schemas.openxmlformats.org/officeDocument/2006/relationships/slide" Target="slides/slide8.xml"/><Relationship Id="rId174" Type="http://schemas.openxmlformats.org/officeDocument/2006/relationships/slide" Target="slides/slide9.xml"/><Relationship Id="rId175" Type="http://schemas.openxmlformats.org/officeDocument/2006/relationships/slide" Target="slides/slide10.xml"/><Relationship Id="rId176" Type="http://schemas.openxmlformats.org/officeDocument/2006/relationships/slide" Target="slides/slide11.xml"/><Relationship Id="rId177" Type="http://schemas.openxmlformats.org/officeDocument/2006/relationships/slide" Target="slides/slide12.xml"/><Relationship Id="rId178" Type="http://schemas.openxmlformats.org/officeDocument/2006/relationships/slide" Target="slides/slide13.xml"/><Relationship Id="rId179" Type="http://schemas.openxmlformats.org/officeDocument/2006/relationships/slide" Target="slides/slide14.xml"/><Relationship Id="rId180" Type="http://schemas.openxmlformats.org/officeDocument/2006/relationships/slide" Target="slides/slide15.xml"/><Relationship Id="rId181" Type="http://schemas.openxmlformats.org/officeDocument/2006/relationships/slide" Target="slides/slide16.xml"/><Relationship Id="rId182" Type="http://schemas.openxmlformats.org/officeDocument/2006/relationships/slide" Target="slides/slide17.xml"/><Relationship Id="rId183" Type="http://schemas.openxmlformats.org/officeDocument/2006/relationships/slide" Target="slides/slide18.xml"/><Relationship Id="rId184" Type="http://schemas.openxmlformats.org/officeDocument/2006/relationships/slide" Target="slides/slide19.xml"/><Relationship Id="rId185" Type="http://schemas.openxmlformats.org/officeDocument/2006/relationships/slide" Target="slides/slide20.xml"/><Relationship Id="rId186" Type="http://schemas.openxmlformats.org/officeDocument/2006/relationships/slide" Target="slides/slide21.xml"/><Relationship Id="rId187" Type="http://schemas.openxmlformats.org/officeDocument/2006/relationships/slide" Target="slides/slide22.xml"/><Relationship Id="rId188" Type="http://schemas.openxmlformats.org/officeDocument/2006/relationships/slide" Target="slides/slide23.xml"/><Relationship Id="rId189" Type="http://schemas.openxmlformats.org/officeDocument/2006/relationships/slide" Target="slides/slide24.xml"/><Relationship Id="rId190" Type="http://schemas.openxmlformats.org/officeDocument/2006/relationships/slide" Target="slides/slide25.xml"/><Relationship Id="rId191" Type="http://schemas.openxmlformats.org/officeDocument/2006/relationships/slide" Target="slides/slide26.xml"/><Relationship Id="rId192" Type="http://schemas.openxmlformats.org/officeDocument/2006/relationships/slide" Target="slides/slide27.xml"/><Relationship Id="rId193" Type="http://schemas.openxmlformats.org/officeDocument/2006/relationships/slide" Target="slides/slide28.xml"/><Relationship Id="rId194" Type="http://schemas.openxmlformats.org/officeDocument/2006/relationships/slide" Target="slides/slide29.xml"/><Relationship Id="rId195" Type="http://schemas.openxmlformats.org/officeDocument/2006/relationships/slide" Target="slides/slide30.xml"/><Relationship Id="rId196" Type="http://schemas.openxmlformats.org/officeDocument/2006/relationships/slide" Target="slides/slide31.xml"/><Relationship Id="rId197" Type="http://schemas.openxmlformats.org/officeDocument/2006/relationships/slide" Target="slides/slide32.xml"/><Relationship Id="rId198" Type="http://schemas.openxmlformats.org/officeDocument/2006/relationships/slide" Target="slides/slide33.xml"/><Relationship Id="rId199" Type="http://schemas.openxmlformats.org/officeDocument/2006/relationships/slide" Target="slides/slide34.xml"/><Relationship Id="rId200" Type="http://schemas.openxmlformats.org/officeDocument/2006/relationships/slide" Target="slides/slide35.xml"/><Relationship Id="rId201" Type="http://schemas.openxmlformats.org/officeDocument/2006/relationships/slide" Target="slides/slide36.xml"/><Relationship Id="rId202" Type="http://schemas.openxmlformats.org/officeDocument/2006/relationships/slide" Target="slides/slide37.xml"/><Relationship Id="rId203" Type="http://schemas.openxmlformats.org/officeDocument/2006/relationships/slide" Target="slides/slide38.xml"/><Relationship Id="rId204" Type="http://schemas.openxmlformats.org/officeDocument/2006/relationships/slide" Target="slides/slide39.xml"/><Relationship Id="rId205" Type="http://schemas.openxmlformats.org/officeDocument/2006/relationships/slide" Target="slides/slide1.xml"/><Relationship Id="rId206" Type="http://schemas.openxmlformats.org/officeDocument/2006/relationships/slide" Target="slides/slide2.xml"/><Relationship Id="rId207" Type="http://schemas.openxmlformats.org/officeDocument/2006/relationships/slide" Target="slides/slide3.xml"/><Relationship Id="rId208" Type="http://schemas.openxmlformats.org/officeDocument/2006/relationships/slide" Target="slides/slide4.xml"/><Relationship Id="rId209" Type="http://schemas.openxmlformats.org/officeDocument/2006/relationships/slide" Target="slides/slide5.xml"/><Relationship Id="rId210" Type="http://schemas.openxmlformats.org/officeDocument/2006/relationships/slide" Target="slides/slide6.xml"/><Relationship Id="rId211" Type="http://schemas.openxmlformats.org/officeDocument/2006/relationships/slide" Target="slides/slide7.xml"/><Relationship Id="rId212" Type="http://schemas.openxmlformats.org/officeDocument/2006/relationships/slide" Target="slides/slide8.xml"/><Relationship Id="rId213" Type="http://schemas.openxmlformats.org/officeDocument/2006/relationships/slide" Target="slides/slide9.xml"/><Relationship Id="rId214" Type="http://schemas.openxmlformats.org/officeDocument/2006/relationships/slide" Target="slides/slide10.xml"/><Relationship Id="rId215" Type="http://schemas.openxmlformats.org/officeDocument/2006/relationships/slide" Target="slides/slide11.xml"/><Relationship Id="rId216" Type="http://schemas.openxmlformats.org/officeDocument/2006/relationships/slide" Target="slides/slide12.xml"/><Relationship Id="rId217" Type="http://schemas.openxmlformats.org/officeDocument/2006/relationships/slide" Target="slides/slide13.xml"/><Relationship Id="rId218" Type="http://schemas.openxmlformats.org/officeDocument/2006/relationships/slide" Target="slides/slide14.xml"/><Relationship Id="rId219" Type="http://schemas.openxmlformats.org/officeDocument/2006/relationships/slide" Target="slides/slide15.xml"/><Relationship Id="rId220" Type="http://schemas.openxmlformats.org/officeDocument/2006/relationships/slide" Target="slides/slide16.xml"/><Relationship Id="rId221" Type="http://schemas.openxmlformats.org/officeDocument/2006/relationships/slide" Target="slides/slide17.xml"/><Relationship Id="rId222" Type="http://schemas.openxmlformats.org/officeDocument/2006/relationships/slide" Target="slides/slide18.xml"/><Relationship Id="rId223" Type="http://schemas.openxmlformats.org/officeDocument/2006/relationships/slide" Target="slides/slide19.xml"/><Relationship Id="rId224" Type="http://schemas.openxmlformats.org/officeDocument/2006/relationships/slide" Target="slides/slide20.xml"/><Relationship Id="rId225" Type="http://schemas.openxmlformats.org/officeDocument/2006/relationships/slide" Target="slides/slide21.xml"/><Relationship Id="rId226" Type="http://schemas.openxmlformats.org/officeDocument/2006/relationships/slide" Target="slides/slide22.xml"/><Relationship Id="rId227" Type="http://schemas.openxmlformats.org/officeDocument/2006/relationships/slide" Target="slides/slide23.xml"/><Relationship Id="rId228" Type="http://schemas.openxmlformats.org/officeDocument/2006/relationships/slide" Target="slides/slide24.xml"/><Relationship Id="rId229" Type="http://schemas.openxmlformats.org/officeDocument/2006/relationships/slide" Target="slides/slide25.xml"/><Relationship Id="rId230" Type="http://schemas.openxmlformats.org/officeDocument/2006/relationships/slide" Target="slides/slide26.xml"/><Relationship Id="rId231" Type="http://schemas.openxmlformats.org/officeDocument/2006/relationships/slide" Target="slides/slide27.xml"/><Relationship Id="rId232" Type="http://schemas.openxmlformats.org/officeDocument/2006/relationships/slide" Target="slides/slide28.xml"/><Relationship Id="rId233" Type="http://schemas.openxmlformats.org/officeDocument/2006/relationships/slide" Target="slides/slide29.xml"/><Relationship Id="rId234" Type="http://schemas.openxmlformats.org/officeDocument/2006/relationships/slide" Target="slides/slide30.xml"/><Relationship Id="rId235" Type="http://schemas.openxmlformats.org/officeDocument/2006/relationships/slide" Target="slides/slide31.xml"/><Relationship Id="rId236" Type="http://schemas.openxmlformats.org/officeDocument/2006/relationships/slide" Target="slides/slide32.xml"/><Relationship Id="rId237" Type="http://schemas.openxmlformats.org/officeDocument/2006/relationships/slide" Target="slides/slide33.xml"/><Relationship Id="rId238" Type="http://schemas.openxmlformats.org/officeDocument/2006/relationships/slide" Target="slides/slide34.xml"/><Relationship Id="rId239" Type="http://schemas.openxmlformats.org/officeDocument/2006/relationships/slide" Target="slides/slide35.xml"/><Relationship Id="rId240" Type="http://schemas.openxmlformats.org/officeDocument/2006/relationships/slide" Target="slides/slide36.xml"/><Relationship Id="rId241" Type="http://schemas.openxmlformats.org/officeDocument/2006/relationships/slide" Target="slides/slide37.xml"/><Relationship Id="rId242" Type="http://schemas.openxmlformats.org/officeDocument/2006/relationships/slide" Target="slides/slide38.xml"/><Relationship Id="rId243" Type="http://schemas.openxmlformats.org/officeDocument/2006/relationships/slide" Target="slides/slide39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b10"/>
          <p:cNvSpPr txBox="1"/>
          <p:nvPr/>
        </p:nvSpPr>
        <p:spPr>
          <a:xfrm>
            <a:off x="1097275" y="914400"/>
            <a:ext cx="6790500" cy="18288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6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JURIMETRIA E ANÁLISE DE DADOS PARA DECISÕES ESTRATÉGICAS</a:t>
            </a:r>
          </a:p>
        </p:txBody>
      </p:sp>
      <p:sp>
        <p:nvSpPr>
          <p:cNvPr id="11" name="rect11"/>
          <p:cNvSpPr/>
          <p:nvPr/>
        </p:nvSpPr>
        <p:spPr>
          <a:xfrm>
            <a:off x="1097280" y="278892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12" name="tb12"/>
          <p:cNvSpPr txBox="1"/>
          <p:nvPr/>
        </p:nvSpPr>
        <p:spPr>
          <a:xfrm>
            <a:off x="1097280" y="2926080"/>
            <a:ext cx="5486400" cy="50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Aula 2 · Bloco 1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1097280" y="3450000"/>
            <a:ext cx="54864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Ciclo da Ciência de Dados Aplicado ao Direito (Parte 1)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1097280" y="4000000"/>
            <a:ext cx="54864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Do problema à coleta: perguntar e mapear no modo raiz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Agenda do Bloco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50000"/>
            <a:ext cx="595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1.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Correção das 3 questões da Atividade 1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2.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Visão geral das 6 etapas do ciclo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3.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Por que pensar em ciclo importa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4.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1: transformar pergunta jurídica em investigável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5.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Critérios de boa pergunta e exemplos práticos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6.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2: mapear as informações necessárias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7.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Demonstração: variáveis na base de locação do TJSP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8.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Exercício dirigido e fechamento da Etapa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Objetivos de aprendizagem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700000"/>
            <a:ext cx="5950000" cy="2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800"/>
              </a:spcBef>
              <a:buNone/>
            </a:pPr>
            <a:r>
              <a:rPr lang="pt-BR" sz="18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✓  </a:t>
            </a:r>
            <a:r>
              <a:rPr lang="pt-BR" sz="18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Compreender o ciclo da ciência de dados aplicado ao Direito em suas 6 etapas</a:t>
            </a:r>
          </a:p>
          <a:p>
            <a:pPr lvl="0" marL="0" indent="0" algn="l">
              <a:lnSpc>
                <a:spcPct val="130000"/>
              </a:lnSpc>
              <a:spcBef>
                <a:spcPts val="800"/>
              </a:spcBef>
              <a:buNone/>
            </a:pPr>
            <a:r>
              <a:rPr lang="pt-BR" sz="18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✓  </a:t>
            </a:r>
            <a:r>
              <a:rPr lang="pt-BR" sz="18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Reconhecer os critérios de uma pergunta jurimétrica investigável</a:t>
            </a:r>
          </a:p>
          <a:p>
            <a:pPr lvl="0" marL="0" indent="0" algn="l">
              <a:lnSpc>
                <a:spcPct val="130000"/>
              </a:lnSpc>
              <a:spcBef>
                <a:spcPts val="800"/>
              </a:spcBef>
              <a:buNone/>
            </a:pPr>
            <a:r>
              <a:rPr lang="pt-BR" sz="18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✓  </a:t>
            </a:r>
            <a:r>
              <a:rPr lang="pt-BR" sz="18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Reescrever uma pergunta jurídica vaga em pergunta de dados</a:t>
            </a:r>
          </a:p>
          <a:p>
            <a:pPr lvl="0" marL="0" indent="0" algn="l">
              <a:lnSpc>
                <a:spcPct val="130000"/>
              </a:lnSpc>
              <a:spcBef>
                <a:spcPts val="800"/>
              </a:spcBef>
              <a:buNone/>
            </a:pPr>
            <a:r>
              <a:rPr lang="pt-BR" sz="18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✓  </a:t>
            </a:r>
            <a:r>
              <a:rPr lang="pt-BR" sz="18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Mapear, a partir de uma pergunta, as variáveis e fontes necessárias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Onde estamos no curso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Da fundamentação ao método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Na Aula 1, vimos por que dados importam para o operador do Direito e o que é Jurimetria.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Agora começa o método: o ciclo da ciência de dados em modo raiz, que será percorrido nas Aulas 2 e 3.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Toda a aula opera sobre a base do trabalho final (16.110 julgados de locação do TJSP) e sobre o caso XY&amp;A.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CNJ (2024)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80" y="1300000"/>
            <a:ext cx="5486400" cy="45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Tópico 1</a:t>
            </a:r>
          </a:p>
        </p:txBody>
      </p:sp>
      <p:sp>
        <p:nvSpPr>
          <p:cNvPr id="21" name="rect21"/>
          <p:cNvSpPr/>
          <p:nvPr/>
        </p:nvSpPr>
        <p:spPr>
          <a:xfrm>
            <a:off x="1097280" y="180000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2" name="tb22"/>
          <p:cNvSpPr txBox="1"/>
          <p:nvPr/>
        </p:nvSpPr>
        <p:spPr>
          <a:xfrm>
            <a:off x="1097280" y="1950000"/>
            <a:ext cx="6500000" cy="1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4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1: o que aprendemos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97280" y="3300000"/>
            <a:ext cx="60000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Correção comentada das 3 questões e ponte para o método desta aula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foi pedido na Atividade 1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6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700" b="1" i="0">
                <a:solidFill>
                  <a:srgbClr val="1B2A4A"/>
                </a:solidFill>
                <a:latin typeface="Arial Black"/>
              </a:rPr>
              <a:t>Atividade Prática 1 (Bloco 2 da Aula 1) · 3 questões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Pano de fundo: caso XY&amp;A e a base de 16.110 julgados de locação do TJSP, sobre os fundamentos de dados da Aula 1.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Q1. Listar 3 perguntas jurimétricas do XY&amp;A em ao menos 2 áreas (contencioso, gestão, provisionamento).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Q2. Reescrever uma das 3 perguntas em formato investigável (tema, recorte, variável central, comparação).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0" i="0">
                <a:solidFill>
                  <a:srgbClr val="333333"/>
                </a:solidFill>
                <a:latin typeface="Arial"/>
              </a:rPr>
              <a:t>Q3. Apontar que decisão concreta do escritório a resposta apoiaria, e por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1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20000"/>
            <a:ext cx="58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Q1. Listar 3 perguntas jurimétricas do XY&amp;A em ao menos 2 áreas (contencioso, gestão, provisionamento).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380000"/>
            <a:ext cx="5950000" cy="1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cobrir pelo menos 2 das 3 áreas e dar a cada pergunta um recorte mínimo (matéria, jurisdição ou período).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Exemplos no XY&amp;A: contencioso, 'taxa de procedência por vara em revisão'; gestão, 'concentração de despejos por comarca'; provisão, 'valor mediano de condenação'.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3 perguntas todas no mesmo plano operacional, perguntas de opinião sem variável, ou perguntas grandes demais sem ancoragem.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400000"/>
            <a:ext cx="5950000" cy="17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2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20000"/>
            <a:ext cx="58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Q2. Reescrever uma das 3 perguntas em formato investigável: tema, recorte, variável central e comparação.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380000"/>
            <a:ext cx="5950000" cy="1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tema = matéria e tipo de ação; recorte = jurisdição e período; variável central = o que será medido (taxa, mediana, valor); comparação = média ou outro grupo.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 XY&amp;A: 'Em renovatórias do TJSP, parte PJ, 2018 a 2024, qual a taxa de procedência em favor do locador?'.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pergunta 'investigável' que ainda mistura opinião e métrica, ausência de ponto de comparação ou recorte vago.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400000"/>
            <a:ext cx="5950000" cy="17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Atividade 1 · Questão 3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20000"/>
            <a:ext cx="5850000" cy="72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400" b="1" i="0">
                <a:solidFill>
                  <a:srgbClr val="1B2A4A"/>
                </a:solidFill>
                <a:latin typeface="Arial Black"/>
              </a:rPr>
              <a:t>Q3. Que decisão concreta do escritório (litígio, negociação, provisionamento, gestão) a resposta apoiaria, e por quê.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380000"/>
            <a:ext cx="5950000" cy="1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Caminho de resposta: nomear uma decisão específica que mudaria com a resposta. Exemplos: política de acordo, recalibrar provisão, redistribuir equipe, mudar tese.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Exemplo XY&amp;A: se a taxa de procedência em renovatórias caiu, a decisão pode ser revisar a estratégia de litígio e priorizar acordos.</a:t>
            </a:r>
          </a:p>
          <a:p>
            <a:pPr lvl="0" marL="0" indent="0" algn="l">
              <a:lnSpc>
                <a:spcPct val="118000"/>
              </a:lnSpc>
              <a:spcBef>
                <a:spcPts val="35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▶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Armadilhas frequentes: respostas vagas como 'a empresa fica mais informada', sem nomear a decisão concreta que muda.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400000"/>
            <a:ext cx="5950000" cy="17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Susskind (2023); Nunes (2019)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Da pergunta solta à pergunta de dados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2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Insight do Bloco e ponte para o ciclo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050000"/>
            <a:ext cx="5950000" cy="2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intuição jurídica relevante pode ser convertida em uma pergunta investigável.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Quando a pergunta é boa, a sequência fica clara: variáveis, fonte, coleta, análise e entrega. É o ciclo da próxima seção.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Quando a pergunta é ruim, qualquer dado parece interessante. É aí que estatística vira marketing.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Huff (2016); Silver (2013)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80" y="1300000"/>
            <a:ext cx="5486400" cy="45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Tópico 2</a:t>
            </a:r>
          </a:p>
        </p:txBody>
      </p:sp>
      <p:sp>
        <p:nvSpPr>
          <p:cNvPr id="21" name="rect21"/>
          <p:cNvSpPr/>
          <p:nvPr/>
        </p:nvSpPr>
        <p:spPr>
          <a:xfrm>
            <a:off x="1097280" y="180000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2" name="tb22"/>
          <p:cNvSpPr txBox="1"/>
          <p:nvPr/>
        </p:nvSpPr>
        <p:spPr>
          <a:xfrm>
            <a:off x="1097280" y="1950000"/>
            <a:ext cx="6500000" cy="1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4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ciclo da ciência de dados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97280" y="3300000"/>
            <a:ext cx="60000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Visão geral das 6 etapas que estruturam o resto do curso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é o ciclo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É a espinha dorsal metodológica da disciplina: 6 etapas executadas em sequência, com idas e voltas controladas.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Será percorrido duas vezes: primeiro no modo raiz (Aulas 2 e 3, com Excel) e depois no modo com IA (Aula 5).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 sala, sempre que abrirmos uma análise, vamos identificar em que etapa estamos.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James et al. (2021)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As 6 etapas do ciclo</a:t>
            </a:r>
          </a:p>
        </p:txBody>
      </p:sp>
      <p:sp>
        <p:nvSpPr>
          <p:cNvPr id="50" name="el50"/>
          <p:cNvSpPr/>
          <p:nvPr/>
        </p:nvSpPr>
        <p:spPr>
          <a:xfrm>
            <a:off x="75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0" name="rect150"/>
          <p:cNvSpPr/>
          <p:nvPr/>
        </p:nvSpPr>
        <p:spPr>
          <a:xfrm>
            <a:off x="1480000" y="22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0" name="tb250"/>
          <p:cNvSpPr txBox="1"/>
          <p:nvPr/>
        </p:nvSpPr>
        <p:spPr>
          <a:xfrm>
            <a:off x="40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Pergunta</a:t>
            </a:r>
          </a:p>
        </p:txBody>
      </p:sp>
      <p:sp>
        <p:nvSpPr>
          <p:cNvPr id="51" name="el51"/>
          <p:cNvSpPr/>
          <p:nvPr/>
        </p:nvSpPr>
        <p:spPr>
          <a:xfrm>
            <a:off x="180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51" name="rect151"/>
          <p:cNvSpPr/>
          <p:nvPr/>
        </p:nvSpPr>
        <p:spPr>
          <a:xfrm>
            <a:off x="2530000" y="22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1" name="tb251"/>
          <p:cNvSpPr txBox="1"/>
          <p:nvPr/>
        </p:nvSpPr>
        <p:spPr>
          <a:xfrm>
            <a:off x="145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Mapear</a:t>
            </a:r>
          </a:p>
        </p:txBody>
      </p:sp>
      <p:sp>
        <p:nvSpPr>
          <p:cNvPr id="52" name="el52"/>
          <p:cNvSpPr/>
          <p:nvPr/>
        </p:nvSpPr>
        <p:spPr>
          <a:xfrm>
            <a:off x="285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52" name="rect152"/>
          <p:cNvSpPr/>
          <p:nvPr/>
        </p:nvSpPr>
        <p:spPr>
          <a:xfrm>
            <a:off x="3580000" y="22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2" name="tb252"/>
          <p:cNvSpPr txBox="1"/>
          <p:nvPr/>
        </p:nvSpPr>
        <p:spPr>
          <a:xfrm>
            <a:off x="250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Coletar</a:t>
            </a:r>
          </a:p>
        </p:txBody>
      </p:sp>
      <p:sp>
        <p:nvSpPr>
          <p:cNvPr id="53" name="el53"/>
          <p:cNvSpPr/>
          <p:nvPr/>
        </p:nvSpPr>
        <p:spPr>
          <a:xfrm>
            <a:off x="390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53" name="rect153"/>
          <p:cNvSpPr/>
          <p:nvPr/>
        </p:nvSpPr>
        <p:spPr>
          <a:xfrm>
            <a:off x="4630000" y="22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3" name="tb253"/>
          <p:cNvSpPr txBox="1"/>
          <p:nvPr/>
        </p:nvSpPr>
        <p:spPr>
          <a:xfrm>
            <a:off x="355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Tratar</a:t>
            </a:r>
          </a:p>
        </p:txBody>
      </p:sp>
      <p:sp>
        <p:nvSpPr>
          <p:cNvPr id="54" name="el54"/>
          <p:cNvSpPr/>
          <p:nvPr/>
        </p:nvSpPr>
        <p:spPr>
          <a:xfrm>
            <a:off x="495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4" name="rect154"/>
          <p:cNvSpPr/>
          <p:nvPr/>
        </p:nvSpPr>
        <p:spPr>
          <a:xfrm>
            <a:off x="5680000" y="2225000"/>
            <a:ext cx="290000" cy="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54" name="tb254"/>
          <p:cNvSpPr txBox="1"/>
          <p:nvPr/>
        </p:nvSpPr>
        <p:spPr>
          <a:xfrm>
            <a:off x="460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Analisar</a:t>
            </a:r>
          </a:p>
        </p:txBody>
      </p:sp>
      <p:sp>
        <p:nvSpPr>
          <p:cNvPr id="55" name="el55"/>
          <p:cNvSpPr/>
          <p:nvPr/>
        </p:nvSpPr>
        <p:spPr>
          <a:xfrm>
            <a:off x="6000000" y="1900000"/>
            <a:ext cx="700000" cy="7000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36000" rIns="36000" tIns="36000" bIns="36000"/>
          <a:lstStyle/>
          <a:p>
            <a:pPr algn="ctr"/>
            <a:r>
              <a:rPr lang="pt-BR" sz="2400" b="1">
                <a:solidFill>
                  <a:srgbClr val="FFFFFF"/>
                </a:solidFill>
                <a:latin typeface="Arial Black"/>
              </a:rPr>
              <a:t>6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5650000" y="2680000"/>
            <a:ext cx="1400000" cy="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100" b="1" i="0">
                <a:solidFill>
                  <a:srgbClr val="1B2A4A"/>
                </a:solidFill>
                <a:latin typeface="Arial"/>
                <a:ea typeface="Arial"/>
                <a:cs typeface="Arial"/>
              </a:rPr>
              <a:t>Apresentar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1 e 2: pergunta e mapeamento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Onde tudo começa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1, transformar a pergunta jurídica em pergunta investigável: foco do bloco de hoje.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2, mapear as informações necessárias: identificar quais variáveis e fontes responderiam à pergunta.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Sem essas duas etapas bem feitas, todo o resto do ciclo fica frágil ou enviesado.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3 e 4: coletar e tratar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Construindo a base analítica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3, coletar: fontes públicas (DataJud, tribunais), internas (sistemas) e, quando preciso, scraping.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4, tratar: padronizar datas, valores, classificações e textos em uma TABELA estruturada e saneada.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Veremos as duas em detalhe no Bloco 2 (coleta) e na Aula 3 (tratamento).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Etapas 5 e 6: analisar e apresentar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Da TABELA ao insight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5, analisar: estatística descritiva no Excel. Medidas de posição, dispersão e gráficos.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Etapa 6, apresentar: gráficos e tabelas com boas práticas de visualização para o público jurídico.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Aprofundamos as duas na Aula 3 e voltamos a elas na Aula 5 com IA generativa.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Por que pensar em ciclo?</a:t>
            </a:r>
          </a:p>
        </p:txBody>
      </p:sp>
      <p:sp>
        <p:nvSpPr>
          <p:cNvPr id="41" name="rect41"/>
          <p:cNvSpPr/>
          <p:nvPr/>
        </p:nvSpPr>
        <p:spPr>
          <a:xfrm>
            <a:off x="750000" y="165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Sem método (pura intuição)</a:t>
            </a:r>
          </a:p>
        </p:txBody>
      </p:sp>
      <p:sp>
        <p:nvSpPr>
          <p:cNvPr id="42" name="rect42"/>
          <p:cNvSpPr/>
          <p:nvPr/>
        </p:nvSpPr>
        <p:spPr>
          <a:xfrm>
            <a:off x="3830000" y="165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Com ciclo (método reproduzível)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Resultado depende da pessoa, não do processo.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Difícil de replicar e auditar.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Indefensável quando contestado em juízo.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Decisões aleatórias, sem rastro.</a:t>
            </a:r>
          </a:p>
        </p:txBody>
      </p:sp>
      <p:sp>
        <p:nvSpPr>
          <p:cNvPr id="44" name="tb44"/>
          <p:cNvSpPr txBox="1"/>
          <p:nvPr/>
        </p:nvSpPr>
        <p:spPr>
          <a:xfrm>
            <a:off x="383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Mesmo procedimento gera mesma resposta.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Cada etapa documentada e revisável.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Defensável: mostra como se chegou ao número.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Permite escalar para a equipe inteira.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Susskind (2023)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Cadeia de custódia: do processo ao dado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2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Analogia jurídica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050000"/>
            <a:ext cx="5950000" cy="2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No processo penal, a cadeia de custódia garante que a prova chegue íntegra ao julgamento.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Na Jurimetria, o ciclo cumpre o mesmo papel: cada etapa preserva e documenta a integridade dos dados.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Quem pula etapas perde rastreabilidade. Quem documenta, defende a análise como defenderia uma prova pericial.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CNJ (2024)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80" y="1300000"/>
            <a:ext cx="5486400" cy="45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Tópico 3</a:t>
            </a:r>
          </a:p>
        </p:txBody>
      </p:sp>
      <p:sp>
        <p:nvSpPr>
          <p:cNvPr id="21" name="rect21"/>
          <p:cNvSpPr/>
          <p:nvPr/>
        </p:nvSpPr>
        <p:spPr>
          <a:xfrm>
            <a:off x="1097280" y="180000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2" name="tb22"/>
          <p:cNvSpPr txBox="1"/>
          <p:nvPr/>
        </p:nvSpPr>
        <p:spPr>
          <a:xfrm>
            <a:off x="1097280" y="1950000"/>
            <a:ext cx="6500000" cy="1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4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 1: transformar a pergunta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97280" y="3300000"/>
            <a:ext cx="60000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Da pergunta jurídica vaga à pergunta investigável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é uma pergunta investigável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É uma pergunta que aponta com clareza para um dado mensurável e para um critério de resposta.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 vez de pedir uma opinião, pede uma comparação, uma proporção, uma frequência ou uma evolução.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Sem pergunta investigável, qualquer análise ou IA tende a produzir um número aparentemente preciso, mas sem ancoragem.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Critérios de uma boa pergunta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4 critérios não negociáveis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Específica: define matéria, período e jurisdição.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Verificável: aponta para uma variável que existe ou é coletável.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Comparável: traz um ponto de referência (média, outro juízo, outro período).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Útil: a resposta muda alguma decisão concreta de litígio, negociação ou provisão.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Katz e Bommarito (2013)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Antes e depois</a:t>
            </a:r>
          </a:p>
        </p:txBody>
      </p:sp>
      <p:sp>
        <p:nvSpPr>
          <p:cNvPr id="41" name="rect41"/>
          <p:cNvSpPr/>
          <p:nvPr/>
        </p:nvSpPr>
        <p:spPr>
          <a:xfrm>
            <a:off x="750000" y="165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Pergunta vaga</a:t>
            </a:r>
          </a:p>
        </p:txBody>
      </p:sp>
      <p:sp>
        <p:nvSpPr>
          <p:cNvPr id="42" name="rect42"/>
          <p:cNvSpPr/>
          <p:nvPr/>
        </p:nvSpPr>
        <p:spPr>
          <a:xfrm>
            <a:off x="3830000" y="165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Pergunta investigável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Esse juiz é duro?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Renovatórias demoram mais?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Vale a pena recorrer?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Acordos saem por quanto?</a:t>
            </a:r>
          </a:p>
        </p:txBody>
      </p:sp>
      <p:sp>
        <p:nvSpPr>
          <p:cNvPr id="44" name="tb44"/>
          <p:cNvSpPr txBox="1"/>
          <p:nvPr/>
        </p:nvSpPr>
        <p:spPr>
          <a:xfrm>
            <a:off x="383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Revisões no TJSP, 2018–2024: a taxa de procedência do juízo X difere da média?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Renovatórias: o tempo mediano até sentença subiu entre 2019 e 2024 na Capital?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Recursos de revisão, 2020–2024: qual a proporção de reformas a favor do recorrente?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2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Acordos, 2022–2024: o valor acordado é qual fração do valor da causa?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alcance da pergunta certa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750000"/>
            <a:ext cx="5800000" cy="140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16.110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3300000"/>
            <a:ext cx="595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0">
                <a:solidFill>
                  <a:srgbClr val="666666"/>
                </a:solidFill>
                <a:latin typeface="Arial"/>
                <a:ea typeface="Arial"/>
                <a:cs typeface="Arial"/>
              </a:rPr>
              <a:t>julgados de revisão e renovatória de locação do TJSP, 2010 a 2024 (parte PJ), à disposição do XY&amp;A para responder boas perguntas.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(2024); TJSP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Armadilhas comuns ao formular perguntas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650000"/>
            <a:ext cx="5950000" cy="83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1" i="0">
                <a:solidFill>
                  <a:srgbClr val="1B2A4A"/>
                </a:solidFill>
                <a:latin typeface="Arial Black"/>
              </a:rPr>
              <a:t>⚠  Pergunta de mão dupla disfarçada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250" b="0" i="0">
                <a:solidFill>
                  <a:srgbClr val="333333"/>
                </a:solidFill>
                <a:latin typeface="Arial"/>
              </a:rPr>
              <a:t>Pedir 'taxa de êxito' sem definir o que conta como êxito (procedência total, parcial, acordo) inviabiliza a contagem.</a:t>
            </a:r>
          </a:p>
        </p:txBody>
      </p:sp>
      <p:sp>
        <p:nvSpPr>
          <p:cNvPr id="53" name="rect53"/>
          <p:cNvSpPr/>
          <p:nvPr/>
        </p:nvSpPr>
        <p:spPr>
          <a:xfrm>
            <a:off x="750000" y="2530000"/>
            <a:ext cx="5950000" cy="83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1" i="0">
                <a:solidFill>
                  <a:srgbClr val="1B2A4A"/>
                </a:solidFill>
                <a:latin typeface="Arial Black"/>
              </a:rPr>
              <a:t>⚠  Comparar sem grupo de controle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250" b="0" i="0">
                <a:solidFill>
                  <a:srgbClr val="333333"/>
                </a:solidFill>
                <a:latin typeface="Arial"/>
              </a:rPr>
              <a:t>'Esse juiz decide pior?' sem referência: pior comparado a quê? Sempre fixe o ponto de comparação antes de coletar.</a:t>
            </a:r>
          </a:p>
        </p:txBody>
      </p:sp>
      <p:sp>
        <p:nvSpPr>
          <p:cNvPr id="56" name="rect56"/>
          <p:cNvSpPr/>
          <p:nvPr/>
        </p:nvSpPr>
        <p:spPr>
          <a:xfrm>
            <a:off x="750000" y="3410000"/>
            <a:ext cx="5950000" cy="83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15000">
            <a:solidFill>
              <a:srgbClr val="E8A317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1" i="0">
                <a:solidFill>
                  <a:srgbClr val="1B2A4A"/>
                </a:solidFill>
                <a:latin typeface="Arial Black"/>
              </a:rPr>
              <a:t>⚠  Pergunta interessante e impossível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250" b="0" i="0">
                <a:solidFill>
                  <a:srgbClr val="333333"/>
                </a:solidFill>
                <a:latin typeface="Arial"/>
              </a:rPr>
              <a:t>Variáveis necessárias não estão na base nem em fonte pública. Cheque viabilidade na Etapa 2 antes de prometer resposta.</a:t>
            </a:r>
          </a:p>
        </p:txBody>
      </p:sp>
      <p:sp>
        <p:nvSpPr>
          <p:cNvPr id="80" name="tb80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Huff (2016); Silver (2013)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Mini-caso XY&amp;A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Da intuição à pergunta investigável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Intuição do sócio: 'estamos perdendo mais renovatórias do que antes'.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Pergunta investigável: nas renovatórias do TJSP, 2018–2024, com parte PJ, qual a evolução anual da taxa de procedência em favor do locador?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Variáveis necessárias (já aparecem na Etapa 2): tipo de ação, ano da sentença, parte, desfecho.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Síntese da Etapa 1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Checklist da boa pergunta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Especifiquei matéria, jurisdição e período?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Defini a variável central da resposta (taxa, mediana, evolução)?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Tenho um ponto de comparação (média, outra vara, outro ano)?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Sei qual decisão concreta vai mudar com a resposta?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b20"/>
          <p:cNvSpPr txBox="1"/>
          <p:nvPr/>
        </p:nvSpPr>
        <p:spPr>
          <a:xfrm>
            <a:off x="1097280" y="1300000"/>
            <a:ext cx="5486400" cy="45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0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Tópico 4</a:t>
            </a:r>
          </a:p>
        </p:txBody>
      </p:sp>
      <p:sp>
        <p:nvSpPr>
          <p:cNvPr id="21" name="rect21"/>
          <p:cNvSpPr/>
          <p:nvPr/>
        </p:nvSpPr>
        <p:spPr>
          <a:xfrm>
            <a:off x="1097280" y="180000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22" name="tb22"/>
          <p:cNvSpPr txBox="1"/>
          <p:nvPr/>
        </p:nvSpPr>
        <p:spPr>
          <a:xfrm>
            <a:off x="1097280" y="1950000"/>
            <a:ext cx="6500000" cy="1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4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Etapa 2: mapear as informações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97280" y="3300000"/>
            <a:ext cx="6000000" cy="5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Que variáveis responderiam à pergunta?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 que significa mapear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1700000"/>
            <a:ext cx="5950000" cy="24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Mapear é traduzir a pergunta em variáveis concretas: cada palavra-chave da pergunta vira uma coluna da futura tabela.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Variáveis vêm de duas perguntas espelhadas: o que precisa estar na linha (cada processo, cada sentença) e o que precisa estar na coluna (cada atributo).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Sem mapeamento, a coleta vira pesca: se traz tudo, complica; se traz pouco, falta para responder.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Wheelan (2016)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Tipos de variável (revisita da Aula 1)</a:t>
            </a:r>
          </a:p>
        </p:txBody>
      </p:sp>
      <p:sp>
        <p:nvSpPr>
          <p:cNvPr id="41" name="rect41"/>
          <p:cNvSpPr/>
          <p:nvPr/>
        </p:nvSpPr>
        <p:spPr>
          <a:xfrm>
            <a:off x="750000" y="1650000"/>
            <a:ext cx="2870000" cy="4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FFFFFF"/>
                </a:solidFill>
                <a:latin typeface="Arial Black"/>
              </a:rPr>
              <a:t>Categóricas</a:t>
            </a:r>
          </a:p>
        </p:txBody>
      </p:sp>
      <p:sp>
        <p:nvSpPr>
          <p:cNvPr id="42" name="rect42"/>
          <p:cNvSpPr/>
          <p:nvPr/>
        </p:nvSpPr>
        <p:spPr>
          <a:xfrm>
            <a:off x="3830000" y="1650000"/>
            <a:ext cx="2870000" cy="480000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700" b="1" i="0">
                <a:solidFill>
                  <a:srgbClr val="1B2A4A"/>
                </a:solidFill>
                <a:latin typeface="Arial Black"/>
              </a:rPr>
              <a:t>Numéricas e temporais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Tipo de ação: revisão ou renovatória.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Comarca, vara, classe processual.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Desfecho: procedência, improcedência, acordo, extinção.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Parte: pessoa jurídica ou física.</a:t>
            </a:r>
          </a:p>
        </p:txBody>
      </p:sp>
      <p:sp>
        <p:nvSpPr>
          <p:cNvPr id="44" name="tb44"/>
          <p:cNvSpPr txBox="1"/>
          <p:nvPr/>
        </p:nvSpPr>
        <p:spPr>
          <a:xfrm>
            <a:off x="3830000" y="2130000"/>
            <a:ext cx="2870000" cy="23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Valor da causa, valor de condenação, valor acordado.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Data de distribuição, data da sentença, data de baixa.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Tempo de tramitação, em dias.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E8A317"/>
              </a:buClr>
              <a:buFont typeface="Arial"/>
              <a:buChar char="•"/>
            </a:pP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Quantidade de recursos, de partes, de audiências.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Variáveis disponíveis na base TJSP</a:t>
            </a:r>
          </a:p>
        </p:txBody>
      </p:sp>
      <p:sp>
        <p:nvSpPr>
          <p:cNvPr id="50" name="rect50"/>
          <p:cNvSpPr/>
          <p:nvPr/>
        </p:nvSpPr>
        <p:spPr>
          <a:xfrm>
            <a:off x="750000" y="1650000"/>
            <a:ext cx="170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Variável</a:t>
            </a:r>
          </a:p>
        </p:txBody>
      </p:sp>
      <p:sp>
        <p:nvSpPr>
          <p:cNvPr id="51" name="rect51"/>
          <p:cNvSpPr/>
          <p:nvPr/>
        </p:nvSpPr>
        <p:spPr>
          <a:xfrm>
            <a:off x="2450000" y="1650000"/>
            <a:ext cx="130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Tipo</a:t>
            </a:r>
          </a:p>
        </p:txBody>
      </p:sp>
      <p:sp>
        <p:nvSpPr>
          <p:cNvPr id="52" name="rect52"/>
          <p:cNvSpPr/>
          <p:nvPr/>
        </p:nvSpPr>
        <p:spPr>
          <a:xfrm>
            <a:off x="3750000" y="1650000"/>
            <a:ext cx="2950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300" b="1" i="0">
                <a:solidFill>
                  <a:srgbClr val="FFFFFF"/>
                </a:solidFill>
                <a:latin typeface="Arial Black"/>
              </a:rPr>
              <a:t>O que ela permite responder</a:t>
            </a:r>
          </a:p>
        </p:txBody>
      </p:sp>
      <p:sp>
        <p:nvSpPr>
          <p:cNvPr id="53" name="rect53"/>
          <p:cNvSpPr/>
          <p:nvPr/>
        </p:nvSpPr>
        <p:spPr>
          <a:xfrm>
            <a:off x="750000" y="2030000"/>
            <a:ext cx="17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Tipo de ação</a:t>
            </a:r>
          </a:p>
        </p:txBody>
      </p:sp>
      <p:sp>
        <p:nvSpPr>
          <p:cNvPr id="54" name="rect54"/>
          <p:cNvSpPr/>
          <p:nvPr/>
        </p:nvSpPr>
        <p:spPr>
          <a:xfrm>
            <a:off x="2450000" y="2030000"/>
            <a:ext cx="13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55" name="rect55"/>
          <p:cNvSpPr/>
          <p:nvPr/>
        </p:nvSpPr>
        <p:spPr>
          <a:xfrm>
            <a:off x="3750000" y="2030000"/>
            <a:ext cx="295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Comparar revisão x renovatória</a:t>
            </a:r>
          </a:p>
        </p:txBody>
      </p:sp>
      <p:sp>
        <p:nvSpPr>
          <p:cNvPr id="56" name="rect56"/>
          <p:cNvSpPr/>
          <p:nvPr/>
        </p:nvSpPr>
        <p:spPr>
          <a:xfrm>
            <a:off x="750000" y="2360000"/>
            <a:ext cx="17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Comarca / vara</a:t>
            </a:r>
          </a:p>
        </p:txBody>
      </p:sp>
      <p:sp>
        <p:nvSpPr>
          <p:cNvPr id="57" name="rect57"/>
          <p:cNvSpPr/>
          <p:nvPr/>
        </p:nvSpPr>
        <p:spPr>
          <a:xfrm>
            <a:off x="2450000" y="2360000"/>
            <a:ext cx="13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58" name="rect58"/>
          <p:cNvSpPr/>
          <p:nvPr/>
        </p:nvSpPr>
        <p:spPr>
          <a:xfrm>
            <a:off x="3750000" y="2360000"/>
            <a:ext cx="295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Concentração geográfica e por juízo</a:t>
            </a:r>
          </a:p>
        </p:txBody>
      </p:sp>
      <p:sp>
        <p:nvSpPr>
          <p:cNvPr id="59" name="rect59"/>
          <p:cNvSpPr/>
          <p:nvPr/>
        </p:nvSpPr>
        <p:spPr>
          <a:xfrm>
            <a:off x="750000" y="2690000"/>
            <a:ext cx="17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Data de distribuição</a:t>
            </a:r>
          </a:p>
        </p:txBody>
      </p:sp>
      <p:sp>
        <p:nvSpPr>
          <p:cNvPr id="60" name="rect60"/>
          <p:cNvSpPr/>
          <p:nvPr/>
        </p:nvSpPr>
        <p:spPr>
          <a:xfrm>
            <a:off x="2450000" y="2690000"/>
            <a:ext cx="13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Temporal</a:t>
            </a:r>
          </a:p>
        </p:txBody>
      </p:sp>
      <p:sp>
        <p:nvSpPr>
          <p:cNvPr id="61" name="rect61"/>
          <p:cNvSpPr/>
          <p:nvPr/>
        </p:nvSpPr>
        <p:spPr>
          <a:xfrm>
            <a:off x="3750000" y="2690000"/>
            <a:ext cx="295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Volume e sazonalidade ao longo do tempo</a:t>
            </a:r>
          </a:p>
        </p:txBody>
      </p:sp>
      <p:sp>
        <p:nvSpPr>
          <p:cNvPr id="62" name="rect62"/>
          <p:cNvSpPr/>
          <p:nvPr/>
        </p:nvSpPr>
        <p:spPr>
          <a:xfrm>
            <a:off x="750000" y="3020000"/>
            <a:ext cx="17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Data da sentença</a:t>
            </a:r>
          </a:p>
        </p:txBody>
      </p:sp>
      <p:sp>
        <p:nvSpPr>
          <p:cNvPr id="63" name="rect63"/>
          <p:cNvSpPr/>
          <p:nvPr/>
        </p:nvSpPr>
        <p:spPr>
          <a:xfrm>
            <a:off x="2450000" y="3020000"/>
            <a:ext cx="13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Temporal</a:t>
            </a:r>
          </a:p>
        </p:txBody>
      </p:sp>
      <p:sp>
        <p:nvSpPr>
          <p:cNvPr id="64" name="rect64"/>
          <p:cNvSpPr/>
          <p:nvPr/>
        </p:nvSpPr>
        <p:spPr>
          <a:xfrm>
            <a:off x="3750000" y="3020000"/>
            <a:ext cx="295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Tempo de tramitação</a:t>
            </a:r>
          </a:p>
        </p:txBody>
      </p:sp>
      <p:sp>
        <p:nvSpPr>
          <p:cNvPr id="65" name="rect65"/>
          <p:cNvSpPr/>
          <p:nvPr/>
        </p:nvSpPr>
        <p:spPr>
          <a:xfrm>
            <a:off x="750000" y="3350000"/>
            <a:ext cx="17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Desfecho</a:t>
            </a:r>
          </a:p>
        </p:txBody>
      </p:sp>
      <p:sp>
        <p:nvSpPr>
          <p:cNvPr id="66" name="rect66"/>
          <p:cNvSpPr/>
          <p:nvPr/>
        </p:nvSpPr>
        <p:spPr>
          <a:xfrm>
            <a:off x="2450000" y="3350000"/>
            <a:ext cx="130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Categórica</a:t>
            </a:r>
          </a:p>
        </p:txBody>
      </p:sp>
      <p:sp>
        <p:nvSpPr>
          <p:cNvPr id="67" name="rect67"/>
          <p:cNvSpPr/>
          <p:nvPr/>
        </p:nvSpPr>
        <p:spPr>
          <a:xfrm>
            <a:off x="3750000" y="3350000"/>
            <a:ext cx="2950000" cy="33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Taxa de êxito por recorte</a:t>
            </a:r>
          </a:p>
        </p:txBody>
      </p:sp>
      <p:sp>
        <p:nvSpPr>
          <p:cNvPr id="68" name="rect68"/>
          <p:cNvSpPr/>
          <p:nvPr/>
        </p:nvSpPr>
        <p:spPr>
          <a:xfrm>
            <a:off x="750000" y="3680000"/>
            <a:ext cx="17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Valor da causa</a:t>
            </a:r>
          </a:p>
        </p:txBody>
      </p:sp>
      <p:sp>
        <p:nvSpPr>
          <p:cNvPr id="69" name="rect69"/>
          <p:cNvSpPr/>
          <p:nvPr/>
        </p:nvSpPr>
        <p:spPr>
          <a:xfrm>
            <a:off x="2450000" y="3680000"/>
            <a:ext cx="130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Numérica</a:t>
            </a:r>
          </a:p>
        </p:txBody>
      </p:sp>
      <p:sp>
        <p:nvSpPr>
          <p:cNvPr id="70" name="rect70"/>
          <p:cNvSpPr/>
          <p:nvPr/>
        </p:nvSpPr>
        <p:spPr>
          <a:xfrm>
            <a:off x="3750000" y="3680000"/>
            <a:ext cx="295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pPr algn="l"/>
            <a:r>
              <a:rPr lang="pt-BR" sz="1200" b="0" i="0">
                <a:solidFill>
                  <a:srgbClr val="333333"/>
                </a:solidFill>
                <a:latin typeface="Arial"/>
              </a:rPr>
              <a:t>Distribuição financeira da carteira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/ DataJud (2024); TJSP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De pergunta a variáveis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Exemplo prático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Pergunta: o tempo mediano até a sentença em renovatórias do TJSP cresceu de 2019 a 2024?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Variáveis necessárias: tipo de ação (renovatória), data de distribuição, data de sentença, ano da sentença.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Operação derivada: tempo de tramitação = data de sentença − data de distribuição. Mediana por ano da sentença.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CNJ (2024); Wheelan (2016)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Três exemplos de mapeamento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50000"/>
            <a:ext cx="595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1.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Pergunta: existe diferença entre acordos e sentenças no valor envolvido? → tipo de ação, desfecho, valor da causa, valor de condenação ou acordado.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2.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Pergunta: há concentração de ações em poucas varas? → comarca, vara, ano de distribuição.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3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3.  </a:t>
            </a:r>
            <a:r>
              <a:rPr lang="pt-BR" sz="13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Pergunta: a taxa de procedência mudou após 2020? → tipo de ação, ano da sentença, desfecho.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ABJ (relatórios)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Exercício dirigido em sala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10 minutos · em duplas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Escolha uma das 4 perguntas investigáveis do slide 'Antes e depois' (slide 22).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Liste em uma folha as variáveis necessárias para respondê-la, separando categóricas, numéricas e temporais.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Indique se cada variável existe na base do XY&amp;A, se viria de fonte pública (DataJud, CNJ) ou se precisaria ser construída.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Tudo começa com uma TABELA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2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Insight da Etapa 2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050000"/>
            <a:ext cx="5950000" cy="2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Para iniciar a análise, basta uma tabela: 1 linha por unidade de observação (em geral, um processo) e 1 coluna por variável.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Linhas comparáveis e colunas com valores no mesmo formato. Datas como datas, valores como números, categorias como categorias.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análise descritiva da Aula 3, e todos os modelos da Aula 4, partem dessa mesma forma: linhas e colunas saneadas.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Wheelan (2016); Nunes (2019)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Tabela analítica como petição inicial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20000"/>
            <a:ext cx="59500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6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Analogia jurídica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2050000"/>
            <a:ext cx="5950000" cy="21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petição inicial define o que está em juízo. Tudo o que não estiver nela, em regra, não pode ser decidido.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 tabela analítica define o que pode ser respondido. Tudo o que não estiver nela, em regra, não pode ser analisado.</a:t>
            </a:r>
          </a:p>
          <a:p>
            <a:pPr lvl="0" marL="0" indent="0" algn="l">
              <a:lnSpc>
                <a:spcPct val="130000"/>
              </a:lnSpc>
              <a:spcBef>
                <a:spcPts val="600"/>
              </a:spcBef>
              <a:buNone/>
            </a:pPr>
            <a:r>
              <a:rPr lang="pt-BR" sz="16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Por isso, mapear bem na Etapa 2 é desenhar a competência da análise, antes de qualquer coleta.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Síntese do Bloco 1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50000"/>
            <a:ext cx="595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1.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Toda análise jurimétrica começa por uma pergunta investigável e termina em uma decisão concreta.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2.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 ciclo de 6 etapas é o método reproduzível, rastreável e defensável que sustenta cada análise.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3.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1: pergunta específica, verificável, comparável e útil.</a:t>
            </a:r>
          </a:p>
          <a:p>
            <a:pPr lvl="0" marL="0" indent="0" algn="l">
              <a:lnSpc>
                <a:spcPct val="115000"/>
              </a:lnSpc>
              <a:spcBef>
                <a:spcPts val="600"/>
              </a:spcBef>
              <a:buNone/>
            </a:pPr>
            <a:r>
              <a:rPr lang="pt-BR" sz="15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 4.  </a:t>
            </a:r>
            <a:r>
              <a:rPr lang="pt-BR" sz="15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Etapa 2: tabela com 1 linha por processo e 1 coluna por variável, saneada e completa.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750000" y="4350000"/>
            <a:ext cx="5950000" cy="220000"/>
          </a:xfrm>
          <a:prstGeom prst="rect">
            <a:avLst/>
          </a:prstGeom>
          <a:noFill/>
        </p:spPr>
        <p:txBody>
          <a:bodyPr wrap="square" anchor="b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0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Nunes (2019); Wheelan (2016)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Ponte para o Bloco 2</a:t>
            </a:r>
          </a:p>
        </p:txBody>
      </p:sp>
      <p:sp>
        <p:nvSpPr>
          <p:cNvPr id="41" name="rect41"/>
          <p:cNvSpPr/>
          <p:nvPr/>
        </p:nvSpPr>
        <p:spPr>
          <a:xfrm>
            <a:off x="800000" y="1650000"/>
            <a:ext cx="5850000" cy="2550000"/>
          </a:xfrm>
          <a:prstGeom prst="roundRect">
            <a:avLst>
              <a:gd name="adj" fmla="val 6500"/>
            </a:avLst>
          </a:prstGeom>
          <a:solidFill>
            <a:srgbClr val="F4F4F4"/>
          </a:solidFill>
          <a:ln w="9525">
            <a:solidFill>
              <a:srgbClr val="1B2A4A"/>
            </a:solidFill>
          </a:ln>
        </p:spPr>
        <p:txBody>
          <a:bodyPr wrap="square" anchor="t" lIns="180000" rIns="180000" tIns="120000" bIns="120000"/>
          <a:lstStyle/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800" b="1" i="0">
                <a:solidFill>
                  <a:srgbClr val="1B2A4A"/>
                </a:solidFill>
                <a:latin typeface="Arial Black"/>
              </a:rPr>
              <a:t>O que vem agora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No próximo bloco entramos na Etapa 3 do ciclo: coletar as informações em fontes públicas (DataJud, tribunais), internas, scraping e APIs.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Discutiremos LGPD, vieses de amostragem e como foi montada a base dos 16.110 julgados do XY&amp;A.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lang="pt-BR" sz="1500" b="0" i="0">
                <a:solidFill>
                  <a:srgbClr val="333333"/>
                </a:solidFill>
                <a:latin typeface="Arial"/>
              </a:rPr>
              <a:t>Ao final do Bloco 2 vem a Atividade Prática 2, com 3 questões (entrega até a Aula 3).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b40"/>
          <p:cNvSpPr txBox="1"/>
          <p:nvPr/>
        </p:nvSpPr>
        <p:spPr>
          <a:xfrm>
            <a:off x="750000" y="650000"/>
            <a:ext cx="5950000" cy="85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24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Referências do bloco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750000" y="1650000"/>
            <a:ext cx="595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NUNES, Marcelo Guedes. Jurimetria: como a estatística pode reinventar o Direito. 2. ed. São Paulo: Revista dos Tribunais, 2019.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WHEELAN, Charles. Estatística: o que é, para que serve, como funciona. Rio de Janeiro: Zahar, 2016.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HUFF, Darrell. Como mentir com estatística. Rio de Janeiro: Intrínseca, 2016.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SILVER, Nate. O sinal e o ruído. Rio de Janeiro: Intrínseca, 2013.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KATZ, Daniel Martin; BOMMARITO, Michael J. Quantitative Legal Prediction. Emory Law Journal, v. 62, 2013.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CONSELHO NACIONAL DE JUSTIÇA (CNJ). Justiça em Números e painéis do DataJud, 2024.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ASSOCIAÇÃO BRASILEIRA DE JURIMETRIA (ABJ). Relatórios e publicações em abj.org.br.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SUSSKIND, Richard. Tomorrow's Lawyers. 3rd ed. Oxford University Press, 2023.</a:t>
            </a:r>
          </a:p>
          <a:p>
            <a:pPr lvl="0" marL="285750" indent="-285750" algn="l">
              <a:lnSpc>
                <a:spcPct val="120000"/>
              </a:lnSpc>
              <a:spcBef>
                <a:spcPts val="400"/>
              </a:spcBef>
              <a:buClr>
                <a:srgbClr val="1B2A4A"/>
              </a:buClr>
              <a:buFont typeface="Arial"/>
              <a:buChar char="•"/>
            </a:pPr>
            <a:r>
              <a:rPr lang="pt-BR" sz="110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JAMES, Gareth et al. An Introduction to Statistical Learning. 2nd ed. Springer, 2021.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gr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b30"/>
          <p:cNvSpPr txBox="1"/>
          <p:nvPr/>
        </p:nvSpPr>
        <p:spPr>
          <a:xfrm>
            <a:off x="1097280" y="1500000"/>
            <a:ext cx="5486400" cy="900000"/>
          </a:xfrm>
          <a:prstGeom prst="rect">
            <a:avLst/>
          </a:prstGeom>
          <a:noFill/>
        </p:spPr>
        <p:txBody>
          <a:bodyPr wrap="square" anchor="ctr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000" b="1" i="0">
                <a:solidFill>
                  <a:srgbClr val="1B2A4A"/>
                </a:solidFill>
                <a:latin typeface="Arial Black"/>
                <a:ea typeface="Arial Black"/>
                <a:cs typeface="Arial Black"/>
              </a:rPr>
              <a:t>Obrigado!</a:t>
            </a:r>
          </a:p>
        </p:txBody>
      </p:sp>
      <p:sp>
        <p:nvSpPr>
          <p:cNvPr id="31" name="rect31"/>
          <p:cNvSpPr/>
          <p:nvPr/>
        </p:nvSpPr>
        <p:spPr>
          <a:xfrm>
            <a:off x="1097280" y="2700000"/>
            <a:ext cx="1828800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wrap="square" anchor="ctr" lIns="180000" rIns="180000" tIns="120000" bIns="120000"/>
          <a:lstStyle/>
          <a:p>
            <a:endParaRPr lang="pt-BR"/>
          </a:p>
        </p:txBody>
      </p:sp>
      <p:sp>
        <p:nvSpPr>
          <p:cNvPr id="32" name="tb32"/>
          <p:cNvSpPr txBox="1"/>
          <p:nvPr/>
        </p:nvSpPr>
        <p:spPr>
          <a:xfrm>
            <a:off x="1097280" y="2800000"/>
            <a:ext cx="5486400" cy="6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3200" b="1" i="0">
                <a:solidFill>
                  <a:srgbClr val="E8A317"/>
                </a:solidFill>
                <a:latin typeface="Arial Black"/>
                <a:ea typeface="Arial Black"/>
                <a:cs typeface="Arial Black"/>
              </a:rPr>
              <a:t>Perguntas?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1097280" y="3500000"/>
            <a:ext cx="5486400" cy="4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lvl="0"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1400" b="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Aula 2 · Bloco 1 · IBMEC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2026-02-14T20:12:37Z</dcterms:created>
  <dc:creator>Bruno Daleffi</dc:creator>
</cp:coreProperties>
</file>