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  <p:sldId id="272" r:id="rId26"/>
    <p:sldId id="273" r:id="rId27"/>
    <p:sldId id="274" r:id="rId28"/>
    <p:sldId id="275" r:id="rId29"/>
    <p:sldId id="276" r:id="rId30"/>
    <p:sldId id="277" r:id="rId31"/>
    <p:sldId id="278" r:id="rId32"/>
    <p:sldId id="279" r:id="rId33"/>
    <p:sldId id="280" r:id="rId34"/>
    <p:sldId id="281" r:id="rId35"/>
    <p:sldId id="282" r:id="rId36"/>
    <p:sldId id="283" r:id="rId37"/>
    <p:sldId id="284" r:id="rId38"/>
    <p:sldId id="285" r:id="rId39"/>
    <p:sldId id="286" r:id="rId40"/>
    <p:sldId id="287" r:id="rId41"/>
    <p:sldId id="288" r:id="rId42"/>
    <p:sldId id="289" r:id="rId43"/>
    <p:sldId id="290" r:id="rId44"/>
    <p:sldId id="291" r:id="rId45"/>
    <p:sldId id="292" r:id="rId46"/>
    <p:sldId id="293" r:id="rId47"/>
    <p:sldId id="294" r:id="rId48"/>
  </p:sldIdLst>
  <p:sldSz cy="5143500" cx="9144000"/>
  <p:notesSz cx="5143500" cy="9144000"/>
  <p:embeddedFontLst>
    <p:embeddedFont>
      <p:font typeface="Arial Black"/>
      <p:regular r:id="rId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360">
          <p15:clr>
            <a:srgbClr val="747775"/>
          </p15:clr>
        </p15:guide>
      </p15:sldGuideLst>
    </p:ext>
    <p:ext uri="GoogleSlidesCustomDataVersion2">
      <go:slidesCustomData xmlns:go="http://customooxmlschemas.google.com/" r:id="rId9" roundtripDataSignature="AMtx7mhh5oWEV931oxANsAAKpH6PvK4/O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60"/>
      </p:guideLst>
    </p:cSldViewPr>
  </p:slideViewPr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font" Target="fonts/ArialBlack-regular.fntdata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slide" Target="slides/slide12.xml"/><Relationship Id="rId22" Type="http://schemas.openxmlformats.org/officeDocument/2006/relationships/slide" Target="slides/slide13.xml"/><Relationship Id="rId23" Type="http://schemas.openxmlformats.org/officeDocument/2006/relationships/slide" Target="slides/slide14.xml"/><Relationship Id="rId24" Type="http://schemas.openxmlformats.org/officeDocument/2006/relationships/slide" Target="slides/slide15.xml"/><Relationship Id="rId25" Type="http://schemas.openxmlformats.org/officeDocument/2006/relationships/slide" Target="slides/slide16.xml"/><Relationship Id="rId26" Type="http://schemas.openxmlformats.org/officeDocument/2006/relationships/slide" Target="slides/slide17.xml"/><Relationship Id="rId27" Type="http://schemas.openxmlformats.org/officeDocument/2006/relationships/slide" Target="slides/slide18.xml"/><Relationship Id="rId28" Type="http://schemas.openxmlformats.org/officeDocument/2006/relationships/slide" Target="slides/slide19.xml"/><Relationship Id="rId29" Type="http://schemas.openxmlformats.org/officeDocument/2006/relationships/slide" Target="slides/slide20.xml"/><Relationship Id="rId30" Type="http://schemas.openxmlformats.org/officeDocument/2006/relationships/slide" Target="slides/slide21.xml"/><Relationship Id="rId31" Type="http://schemas.openxmlformats.org/officeDocument/2006/relationships/slide" Target="slides/slide22.xml"/><Relationship Id="rId32" Type="http://schemas.openxmlformats.org/officeDocument/2006/relationships/slide" Target="slides/slide23.xml"/><Relationship Id="rId33" Type="http://schemas.openxmlformats.org/officeDocument/2006/relationships/slide" Target="slides/slide24.xml"/><Relationship Id="rId34" Type="http://schemas.openxmlformats.org/officeDocument/2006/relationships/slide" Target="slides/slide25.xml"/><Relationship Id="rId35" Type="http://schemas.openxmlformats.org/officeDocument/2006/relationships/slide" Target="slides/slide26.xml"/><Relationship Id="rId36" Type="http://schemas.openxmlformats.org/officeDocument/2006/relationships/slide" Target="slides/slide27.xml"/><Relationship Id="rId37" Type="http://schemas.openxmlformats.org/officeDocument/2006/relationships/slide" Target="slides/slide28.xml"/><Relationship Id="rId38" Type="http://schemas.openxmlformats.org/officeDocument/2006/relationships/slide" Target="slides/slide29.xml"/><Relationship Id="rId39" Type="http://schemas.openxmlformats.org/officeDocument/2006/relationships/slide" Target="slides/slide30.xml"/><Relationship Id="rId40" Type="http://schemas.openxmlformats.org/officeDocument/2006/relationships/slide" Target="slides/slide31.xml"/><Relationship Id="rId41" Type="http://schemas.openxmlformats.org/officeDocument/2006/relationships/slide" Target="slides/slide32.xml"/><Relationship Id="rId42" Type="http://schemas.openxmlformats.org/officeDocument/2006/relationships/slide" Target="slides/slide33.xml"/><Relationship Id="rId43" Type="http://schemas.openxmlformats.org/officeDocument/2006/relationships/slide" Target="slides/slide34.xml"/><Relationship Id="rId44" Type="http://schemas.openxmlformats.org/officeDocument/2006/relationships/slide" Target="slides/slide35.xml"/><Relationship Id="rId45" Type="http://schemas.openxmlformats.org/officeDocument/2006/relationships/slide" Target="slides/slide36.xml"/><Relationship Id="rId46" Type="http://schemas.openxmlformats.org/officeDocument/2006/relationships/slide" Target="slides/slide37.xml"/><Relationship Id="rId47" Type="http://schemas.openxmlformats.org/officeDocument/2006/relationships/slide" Target="slides/slide38.xml"/><Relationship Id="rId48" Type="http://schemas.openxmlformats.org/officeDocument/2006/relationships/slide" Target="slides/slide39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" name="Google Shape;2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" name="Google Shape;2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2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3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3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3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3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3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3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3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3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3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3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gr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b10"/>
          <p:cNvSpPr txBox="1"/>
          <p:nvPr/>
        </p:nvSpPr>
        <p:spPr>
          <a:xfrm>
            <a:off x="1097275" y="914400"/>
            <a:ext cx="6790500" cy="18288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32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JURIMETRIA E ANÁLISE DE DADOS PARA DECISÕES ESTRATÉGICAS</a:t>
            </a:r>
          </a:p>
        </p:txBody>
      </p:sp>
      <p:sp>
        <p:nvSpPr>
          <p:cNvPr id="11" name="rect11"/>
          <p:cNvSpPr/>
          <p:nvPr/>
        </p:nvSpPr>
        <p:spPr>
          <a:xfrm>
            <a:off x="1097280" y="2788920"/>
            <a:ext cx="1828800" cy="54864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12" name="tb12"/>
          <p:cNvSpPr txBox="1"/>
          <p:nvPr/>
        </p:nvSpPr>
        <p:spPr>
          <a:xfrm>
            <a:off x="1097280" y="2926080"/>
            <a:ext cx="5486400" cy="4572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000" b="0" i="0">
                <a:solidFill>
                  <a:srgbClr val="E8A317"/>
                </a:solidFill>
                <a:latin typeface="Arial"/>
                <a:ea typeface="Arial"/>
                <a:cs typeface="Arial"/>
              </a:rPr>
              <a:t>Aula 2 · Bloco 1</a:t>
            </a:r>
          </a:p>
        </p:txBody>
      </p:sp>
      <p:sp>
        <p:nvSpPr>
          <p:cNvPr id="13" name="tb13"/>
          <p:cNvSpPr txBox="1"/>
          <p:nvPr/>
        </p:nvSpPr>
        <p:spPr>
          <a:xfrm>
            <a:off x="1097280" y="3337560"/>
            <a:ext cx="5486400" cy="5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400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O Ciclo da Ciência de Dados Aplicado ao Direito (Parte 1)</a:t>
            </a:r>
          </a:p>
        </p:txBody>
      </p:sp>
      <p:sp>
        <p:nvSpPr>
          <p:cNvPr id="14" name="tb14"/>
          <p:cNvSpPr txBox="1"/>
          <p:nvPr/>
        </p:nvSpPr>
        <p:spPr>
          <a:xfrm>
            <a:off x="1097280" y="3700000"/>
            <a:ext cx="5486400" cy="4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300" b="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Do problema à coleta: perguntar e mapear no modo raiz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gr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b10"/>
          <p:cNvSpPr txBox="1"/>
          <p:nvPr/>
        </p:nvSpPr>
        <p:spPr>
          <a:xfrm>
            <a:off x="750000" y="500000"/>
            <a:ext cx="5950000" cy="9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4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Agenda do Bloco</a:t>
            </a:r>
          </a:p>
        </p:txBody>
      </p:sp>
      <p:sp>
        <p:nvSpPr>
          <p:cNvPr id="11" name="rect11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12" name="tb12"/>
          <p:cNvSpPr txBox="1"/>
          <p:nvPr/>
        </p:nvSpPr>
        <p:spPr>
          <a:xfrm>
            <a:off x="750000" y="1330000"/>
            <a:ext cx="5950000" cy="4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400" b="1" i="0">
                <a:solidFill>
                  <a:srgbClr val="E8A317"/>
                </a:solidFill>
                <a:latin typeface="Arial"/>
                <a:ea typeface="Arial"/>
                <a:cs typeface="Arial"/>
              </a:rPr>
              <a:t>O que vamos percorrer nas próximas 1h50min</a:t>
            </a:r>
          </a:p>
        </p:txBody>
      </p:sp>
      <p:sp>
        <p:nvSpPr>
          <p:cNvPr id="50" name="el50"/>
          <p:cNvSpPr/>
          <p:nvPr/>
        </p:nvSpPr>
        <p:spPr>
          <a:xfrm>
            <a:off x="781363" y="1700000"/>
            <a:ext cx="420000" cy="42000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wrap="square" anchor="ctr" lIns="36000" rIns="36000" tIns="36000" bIns="36000"/>
          <a:lstStyle/>
          <a:p>
            <a:pPr algn="ctr"/>
            <a:r>
              <a:rPr lang="pt-BR" sz="1600" b="1">
                <a:solidFill>
                  <a:srgbClr val="E8A317"/>
                </a:solidFill>
                <a:latin typeface="Arial Black"/>
              </a:rPr>
              <a:t>1</a:t>
            </a:r>
          </a:p>
        </p:txBody>
      </p:sp>
      <p:sp>
        <p:nvSpPr>
          <p:cNvPr id="51" name="tb51"/>
          <p:cNvSpPr txBox="1"/>
          <p:nvPr/>
        </p:nvSpPr>
        <p:spPr>
          <a:xfrm>
            <a:off x="1301363" y="1760000"/>
            <a:ext cx="2400000" cy="399900"/>
          </a:xfrm>
          <a:prstGeom prst="rect">
            <a:avLst/>
          </a:prstGeom>
          <a:noFill/>
        </p:spPr>
        <p:txBody>
          <a:bodyPr wrap="square" anchor="ctr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200" b="0" i="0">
                <a:solidFill>
                  <a:srgbClr val="1B2A4A"/>
                </a:solidFill>
                <a:latin typeface="Arial"/>
                <a:ea typeface="Arial"/>
                <a:cs typeface="Arial"/>
              </a:rPr>
              <a:t>Correção das 3 questões da Atividade 1</a:t>
            </a:r>
          </a:p>
        </p:txBody>
      </p:sp>
      <p:sp>
        <p:nvSpPr>
          <p:cNvPr id="52" name="el52"/>
          <p:cNvSpPr/>
          <p:nvPr/>
        </p:nvSpPr>
        <p:spPr>
          <a:xfrm>
            <a:off x="4204761" y="1700000"/>
            <a:ext cx="420000" cy="42000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wrap="square" anchor="ctr" lIns="36000" rIns="36000" tIns="36000" bIns="36000"/>
          <a:lstStyle/>
          <a:p>
            <a:pPr algn="ctr"/>
            <a:r>
              <a:rPr lang="pt-BR" sz="1600" b="1">
                <a:solidFill>
                  <a:srgbClr val="E8A317"/>
                </a:solidFill>
                <a:latin typeface="Arial Black"/>
              </a:rPr>
              <a:t>2</a:t>
            </a:r>
          </a:p>
        </p:txBody>
      </p:sp>
      <p:sp>
        <p:nvSpPr>
          <p:cNvPr id="53" name="tb53"/>
          <p:cNvSpPr txBox="1"/>
          <p:nvPr/>
        </p:nvSpPr>
        <p:spPr>
          <a:xfrm>
            <a:off x="4724761" y="1760000"/>
            <a:ext cx="2400000" cy="399900"/>
          </a:xfrm>
          <a:prstGeom prst="rect">
            <a:avLst/>
          </a:prstGeom>
          <a:noFill/>
        </p:spPr>
        <p:txBody>
          <a:bodyPr wrap="square" anchor="ctr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200" b="0" i="0">
                <a:solidFill>
                  <a:srgbClr val="1B2A4A"/>
                </a:solidFill>
                <a:latin typeface="Arial"/>
                <a:ea typeface="Arial"/>
                <a:cs typeface="Arial"/>
              </a:rPr>
              <a:t>Visão geral das 6 etapas do ciclo</a:t>
            </a:r>
          </a:p>
        </p:txBody>
      </p:sp>
      <p:sp>
        <p:nvSpPr>
          <p:cNvPr id="54" name="el54"/>
          <p:cNvSpPr/>
          <p:nvPr/>
        </p:nvSpPr>
        <p:spPr>
          <a:xfrm>
            <a:off x="781363" y="2300000"/>
            <a:ext cx="420000" cy="42000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wrap="square" anchor="ctr" lIns="36000" rIns="36000" tIns="36000" bIns="36000"/>
          <a:lstStyle/>
          <a:p>
            <a:pPr algn="ctr"/>
            <a:r>
              <a:rPr lang="pt-BR" sz="1600" b="1">
                <a:solidFill>
                  <a:srgbClr val="E8A317"/>
                </a:solidFill>
                <a:latin typeface="Arial Black"/>
              </a:rPr>
              <a:t>3</a:t>
            </a:r>
          </a:p>
        </p:txBody>
      </p:sp>
      <p:sp>
        <p:nvSpPr>
          <p:cNvPr id="55" name="tb55"/>
          <p:cNvSpPr txBox="1"/>
          <p:nvPr/>
        </p:nvSpPr>
        <p:spPr>
          <a:xfrm>
            <a:off x="1301363" y="2360000"/>
            <a:ext cx="2400000" cy="399900"/>
          </a:xfrm>
          <a:prstGeom prst="rect">
            <a:avLst/>
          </a:prstGeom>
          <a:noFill/>
        </p:spPr>
        <p:txBody>
          <a:bodyPr wrap="square" anchor="ctr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200" b="0" i="0">
                <a:solidFill>
                  <a:srgbClr val="1B2A4A"/>
                </a:solidFill>
                <a:latin typeface="Arial"/>
                <a:ea typeface="Arial"/>
                <a:cs typeface="Arial"/>
              </a:rPr>
              <a:t>Por que pensar em ciclo importa</a:t>
            </a:r>
          </a:p>
        </p:txBody>
      </p:sp>
      <p:sp>
        <p:nvSpPr>
          <p:cNvPr id="56" name="el56"/>
          <p:cNvSpPr/>
          <p:nvPr/>
        </p:nvSpPr>
        <p:spPr>
          <a:xfrm>
            <a:off x="4204761" y="2300000"/>
            <a:ext cx="420000" cy="42000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wrap="square" anchor="ctr" lIns="36000" rIns="36000" tIns="36000" bIns="36000"/>
          <a:lstStyle/>
          <a:p>
            <a:pPr algn="ctr"/>
            <a:r>
              <a:rPr lang="pt-BR" sz="1600" b="1">
                <a:solidFill>
                  <a:srgbClr val="E8A317"/>
                </a:solidFill>
                <a:latin typeface="Arial Black"/>
              </a:rPr>
              <a:t>4</a:t>
            </a:r>
          </a:p>
        </p:txBody>
      </p:sp>
      <p:sp>
        <p:nvSpPr>
          <p:cNvPr id="57" name="tb57"/>
          <p:cNvSpPr txBox="1"/>
          <p:nvPr/>
        </p:nvSpPr>
        <p:spPr>
          <a:xfrm>
            <a:off x="4724761" y="2360000"/>
            <a:ext cx="2400000" cy="399900"/>
          </a:xfrm>
          <a:prstGeom prst="rect">
            <a:avLst/>
          </a:prstGeom>
          <a:noFill/>
        </p:spPr>
        <p:txBody>
          <a:bodyPr wrap="square" anchor="ctr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200" b="0" i="0">
                <a:solidFill>
                  <a:srgbClr val="1B2A4A"/>
                </a:solidFill>
                <a:latin typeface="Arial"/>
                <a:ea typeface="Arial"/>
                <a:cs typeface="Arial"/>
              </a:rPr>
              <a:t>Etapa 1: pergunta jurídica em investigável</a:t>
            </a:r>
          </a:p>
        </p:txBody>
      </p:sp>
      <p:sp>
        <p:nvSpPr>
          <p:cNvPr id="58" name="el58"/>
          <p:cNvSpPr/>
          <p:nvPr/>
        </p:nvSpPr>
        <p:spPr>
          <a:xfrm>
            <a:off x="781363" y="2900000"/>
            <a:ext cx="420000" cy="42000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wrap="square" anchor="ctr" lIns="36000" rIns="36000" tIns="36000" bIns="36000"/>
          <a:lstStyle/>
          <a:p>
            <a:pPr algn="ctr"/>
            <a:r>
              <a:rPr lang="pt-BR" sz="1600" b="1">
                <a:solidFill>
                  <a:srgbClr val="E8A317"/>
                </a:solidFill>
                <a:latin typeface="Arial Black"/>
              </a:rPr>
              <a:t>5</a:t>
            </a:r>
          </a:p>
        </p:txBody>
      </p:sp>
      <p:sp>
        <p:nvSpPr>
          <p:cNvPr id="59" name="tb59"/>
          <p:cNvSpPr txBox="1"/>
          <p:nvPr/>
        </p:nvSpPr>
        <p:spPr>
          <a:xfrm>
            <a:off x="1301363" y="2960000"/>
            <a:ext cx="2400000" cy="399900"/>
          </a:xfrm>
          <a:prstGeom prst="rect">
            <a:avLst/>
          </a:prstGeom>
          <a:noFill/>
        </p:spPr>
        <p:txBody>
          <a:bodyPr wrap="square" anchor="ctr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200" b="0" i="0">
                <a:solidFill>
                  <a:srgbClr val="1B2A4A"/>
                </a:solidFill>
                <a:latin typeface="Arial"/>
                <a:ea typeface="Arial"/>
                <a:cs typeface="Arial"/>
              </a:rPr>
              <a:t>Critérios de boa pergunta e exemplos</a:t>
            </a:r>
          </a:p>
        </p:txBody>
      </p:sp>
      <p:sp>
        <p:nvSpPr>
          <p:cNvPr id="60" name="el60"/>
          <p:cNvSpPr/>
          <p:nvPr/>
        </p:nvSpPr>
        <p:spPr>
          <a:xfrm>
            <a:off x="4204761" y="2900000"/>
            <a:ext cx="420000" cy="42000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wrap="square" anchor="ctr" lIns="36000" rIns="36000" tIns="36000" bIns="36000"/>
          <a:lstStyle/>
          <a:p>
            <a:pPr algn="ctr"/>
            <a:r>
              <a:rPr lang="pt-BR" sz="1600" b="1">
                <a:solidFill>
                  <a:srgbClr val="E8A317"/>
                </a:solidFill>
                <a:latin typeface="Arial Black"/>
              </a:rPr>
              <a:t>6</a:t>
            </a:r>
          </a:p>
        </p:txBody>
      </p:sp>
      <p:sp>
        <p:nvSpPr>
          <p:cNvPr id="61" name="tb61"/>
          <p:cNvSpPr txBox="1"/>
          <p:nvPr/>
        </p:nvSpPr>
        <p:spPr>
          <a:xfrm>
            <a:off x="4724761" y="2960000"/>
            <a:ext cx="2400000" cy="399900"/>
          </a:xfrm>
          <a:prstGeom prst="rect">
            <a:avLst/>
          </a:prstGeom>
          <a:noFill/>
        </p:spPr>
        <p:txBody>
          <a:bodyPr wrap="square" anchor="ctr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200" b="0" i="0">
                <a:solidFill>
                  <a:srgbClr val="1B2A4A"/>
                </a:solidFill>
                <a:latin typeface="Arial"/>
                <a:ea typeface="Arial"/>
                <a:cs typeface="Arial"/>
              </a:rPr>
              <a:t>Etapa 2: mapear as informações</a:t>
            </a:r>
          </a:p>
        </p:txBody>
      </p:sp>
      <p:sp>
        <p:nvSpPr>
          <p:cNvPr id="62" name="el62"/>
          <p:cNvSpPr/>
          <p:nvPr/>
        </p:nvSpPr>
        <p:spPr>
          <a:xfrm>
            <a:off x="781363" y="3500000"/>
            <a:ext cx="420000" cy="42000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wrap="square" anchor="ctr" lIns="36000" rIns="36000" tIns="36000" bIns="36000"/>
          <a:lstStyle/>
          <a:p>
            <a:pPr algn="ctr"/>
            <a:r>
              <a:rPr lang="pt-BR" sz="1600" b="1">
                <a:solidFill>
                  <a:srgbClr val="E8A317"/>
                </a:solidFill>
                <a:latin typeface="Arial Black"/>
              </a:rPr>
              <a:t>7</a:t>
            </a:r>
          </a:p>
        </p:txBody>
      </p:sp>
      <p:sp>
        <p:nvSpPr>
          <p:cNvPr id="63" name="tb63"/>
          <p:cNvSpPr txBox="1"/>
          <p:nvPr/>
        </p:nvSpPr>
        <p:spPr>
          <a:xfrm>
            <a:off x="1301363" y="3560000"/>
            <a:ext cx="2400000" cy="399900"/>
          </a:xfrm>
          <a:prstGeom prst="rect">
            <a:avLst/>
          </a:prstGeom>
          <a:noFill/>
        </p:spPr>
        <p:txBody>
          <a:bodyPr wrap="square" anchor="ctr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200" b="0" i="0">
                <a:solidFill>
                  <a:srgbClr val="1B2A4A"/>
                </a:solidFill>
                <a:latin typeface="Arial"/>
                <a:ea typeface="Arial"/>
                <a:cs typeface="Arial"/>
              </a:rPr>
              <a:t>Variáveis na base de locação do TJSP</a:t>
            </a:r>
          </a:p>
        </p:txBody>
      </p:sp>
      <p:sp>
        <p:nvSpPr>
          <p:cNvPr id="64" name="el64"/>
          <p:cNvSpPr/>
          <p:nvPr/>
        </p:nvSpPr>
        <p:spPr>
          <a:xfrm>
            <a:off x="4204761" y="3500000"/>
            <a:ext cx="420000" cy="42000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wrap="square" anchor="ctr" lIns="36000" rIns="36000" tIns="36000" bIns="36000"/>
          <a:lstStyle/>
          <a:p>
            <a:pPr algn="ctr"/>
            <a:r>
              <a:rPr lang="pt-BR" sz="1600" b="1">
                <a:solidFill>
                  <a:srgbClr val="E8A317"/>
                </a:solidFill>
                <a:latin typeface="Arial Black"/>
              </a:rPr>
              <a:t>8</a:t>
            </a:r>
          </a:p>
        </p:txBody>
      </p:sp>
      <p:sp>
        <p:nvSpPr>
          <p:cNvPr id="65" name="tb65"/>
          <p:cNvSpPr txBox="1"/>
          <p:nvPr/>
        </p:nvSpPr>
        <p:spPr>
          <a:xfrm>
            <a:off x="4724761" y="3560000"/>
            <a:ext cx="2400000" cy="399900"/>
          </a:xfrm>
          <a:prstGeom prst="rect">
            <a:avLst/>
          </a:prstGeom>
          <a:noFill/>
        </p:spPr>
        <p:txBody>
          <a:bodyPr wrap="square" anchor="ctr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200" b="0" i="0">
                <a:solidFill>
                  <a:srgbClr val="1B2A4A"/>
                </a:solidFill>
                <a:latin typeface="Arial"/>
                <a:ea typeface="Arial"/>
                <a:cs typeface="Arial"/>
              </a:rPr>
              <a:t>Exercício dirigido e fechamento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gr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b10"/>
          <p:cNvSpPr txBox="1"/>
          <p:nvPr/>
        </p:nvSpPr>
        <p:spPr>
          <a:xfrm>
            <a:off x="750000" y="500000"/>
            <a:ext cx="5950000" cy="9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4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Objetivos de Aprendizagem</a:t>
            </a:r>
          </a:p>
        </p:txBody>
      </p:sp>
      <p:sp>
        <p:nvSpPr>
          <p:cNvPr id="11" name="rect11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12" name="tb12"/>
          <p:cNvSpPr txBox="1"/>
          <p:nvPr/>
        </p:nvSpPr>
        <p:spPr>
          <a:xfrm>
            <a:off x="750000" y="1330000"/>
            <a:ext cx="5950000" cy="4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400" b="1" i="0">
                <a:solidFill>
                  <a:srgbClr val="E8A317"/>
                </a:solidFill>
                <a:latin typeface="Arial"/>
                <a:ea typeface="Arial"/>
                <a:cs typeface="Arial"/>
              </a:rPr>
              <a:t>Ao final deste bloco, você será capaz de</a:t>
            </a:r>
          </a:p>
        </p:txBody>
      </p:sp>
      <p:sp>
        <p:nvSpPr>
          <p:cNvPr id="50" name="el50"/>
          <p:cNvSpPr/>
          <p:nvPr/>
        </p:nvSpPr>
        <p:spPr>
          <a:xfrm>
            <a:off x="790000" y="1780000"/>
            <a:ext cx="160000" cy="160000"/>
          </a:xfrm>
          <a:prstGeom prst="ellipse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36000" rIns="36000" tIns="36000" bIns="36000"/>
          <a:lstStyle/>
          <a:p>
            <a:endParaRPr lang="pt-BR"/>
          </a:p>
        </p:txBody>
      </p:sp>
      <p:sp>
        <p:nvSpPr>
          <p:cNvPr id="51" name="tb51"/>
          <p:cNvSpPr txBox="1"/>
          <p:nvPr/>
        </p:nvSpPr>
        <p:spPr>
          <a:xfrm>
            <a:off x="1060000" y="1750000"/>
            <a:ext cx="1800000" cy="3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5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Compreender</a:t>
            </a:r>
          </a:p>
        </p:txBody>
      </p:sp>
      <p:sp>
        <p:nvSpPr>
          <p:cNvPr id="52" name="tb52"/>
          <p:cNvSpPr txBox="1"/>
          <p:nvPr/>
        </p:nvSpPr>
        <p:spPr>
          <a:xfrm>
            <a:off x="2900000" y="1750000"/>
            <a:ext cx="3500000" cy="5001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2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o ciclo da ciência de dados aplicado ao Direito em suas 6 etapas</a:t>
            </a:r>
          </a:p>
        </p:txBody>
      </p:sp>
      <p:sp>
        <p:nvSpPr>
          <p:cNvPr id="53" name="el53"/>
          <p:cNvSpPr/>
          <p:nvPr/>
        </p:nvSpPr>
        <p:spPr>
          <a:xfrm>
            <a:off x="790000" y="2300000"/>
            <a:ext cx="160000" cy="160000"/>
          </a:xfrm>
          <a:prstGeom prst="ellipse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36000" rIns="36000" tIns="36000" bIns="36000"/>
          <a:lstStyle/>
          <a:p>
            <a:endParaRPr lang="pt-BR"/>
          </a:p>
        </p:txBody>
      </p:sp>
      <p:sp>
        <p:nvSpPr>
          <p:cNvPr id="54" name="tb54"/>
          <p:cNvSpPr txBox="1"/>
          <p:nvPr/>
        </p:nvSpPr>
        <p:spPr>
          <a:xfrm>
            <a:off x="1060000" y="2270000"/>
            <a:ext cx="1800000" cy="3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5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Reconhecer</a:t>
            </a:r>
          </a:p>
        </p:txBody>
      </p:sp>
      <p:sp>
        <p:nvSpPr>
          <p:cNvPr id="55" name="tb55"/>
          <p:cNvSpPr txBox="1"/>
          <p:nvPr/>
        </p:nvSpPr>
        <p:spPr>
          <a:xfrm>
            <a:off x="2900000" y="2270000"/>
            <a:ext cx="3500000" cy="5001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2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os critérios de uma pergunta jurimétrica investigável</a:t>
            </a:r>
          </a:p>
        </p:txBody>
      </p:sp>
      <p:sp>
        <p:nvSpPr>
          <p:cNvPr id="56" name="el56"/>
          <p:cNvSpPr/>
          <p:nvPr/>
        </p:nvSpPr>
        <p:spPr>
          <a:xfrm>
            <a:off x="790000" y="2820000"/>
            <a:ext cx="160000" cy="160000"/>
          </a:xfrm>
          <a:prstGeom prst="ellipse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36000" rIns="36000" tIns="36000" bIns="36000"/>
          <a:lstStyle/>
          <a:p>
            <a:endParaRPr lang="pt-BR"/>
          </a:p>
        </p:txBody>
      </p:sp>
      <p:sp>
        <p:nvSpPr>
          <p:cNvPr id="57" name="tb57"/>
          <p:cNvSpPr txBox="1"/>
          <p:nvPr/>
        </p:nvSpPr>
        <p:spPr>
          <a:xfrm>
            <a:off x="1060000" y="2790000"/>
            <a:ext cx="1800000" cy="3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5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Reescrever</a:t>
            </a:r>
          </a:p>
        </p:txBody>
      </p:sp>
      <p:sp>
        <p:nvSpPr>
          <p:cNvPr id="58" name="tb58"/>
          <p:cNvSpPr txBox="1"/>
          <p:nvPr/>
        </p:nvSpPr>
        <p:spPr>
          <a:xfrm>
            <a:off x="2900000" y="2790000"/>
            <a:ext cx="3500000" cy="5001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2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uma pergunta jurídica vaga em pergunta de dados</a:t>
            </a:r>
          </a:p>
        </p:txBody>
      </p:sp>
      <p:sp>
        <p:nvSpPr>
          <p:cNvPr id="59" name="el59"/>
          <p:cNvSpPr/>
          <p:nvPr/>
        </p:nvSpPr>
        <p:spPr>
          <a:xfrm>
            <a:off x="790000" y="3340000"/>
            <a:ext cx="160000" cy="160000"/>
          </a:xfrm>
          <a:prstGeom prst="ellipse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36000" rIns="36000" tIns="36000" bIns="36000"/>
          <a:lstStyle/>
          <a:p>
            <a:endParaRPr lang="pt-BR"/>
          </a:p>
        </p:txBody>
      </p:sp>
      <p:sp>
        <p:nvSpPr>
          <p:cNvPr id="60" name="tb60"/>
          <p:cNvSpPr txBox="1"/>
          <p:nvPr/>
        </p:nvSpPr>
        <p:spPr>
          <a:xfrm>
            <a:off x="1060000" y="3310000"/>
            <a:ext cx="1800000" cy="3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5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Mapear</a:t>
            </a:r>
          </a:p>
        </p:txBody>
      </p:sp>
      <p:sp>
        <p:nvSpPr>
          <p:cNvPr id="61" name="tb61"/>
          <p:cNvSpPr txBox="1"/>
          <p:nvPr/>
        </p:nvSpPr>
        <p:spPr>
          <a:xfrm>
            <a:off x="2900000" y="3310000"/>
            <a:ext cx="3500000" cy="5001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2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as variáveis e fontes necessárias a partir de uma pergunta</a:t>
            </a:r>
          </a:p>
        </p:txBody>
      </p:sp>
      <p:sp>
        <p:nvSpPr>
          <p:cNvPr id="62" name="el62"/>
          <p:cNvSpPr/>
          <p:nvPr/>
        </p:nvSpPr>
        <p:spPr>
          <a:xfrm>
            <a:off x="790000" y="3860000"/>
            <a:ext cx="160000" cy="160000"/>
          </a:xfrm>
          <a:prstGeom prst="ellipse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36000" rIns="36000" tIns="36000" bIns="36000"/>
          <a:lstStyle/>
          <a:p>
            <a:endParaRPr lang="pt-BR"/>
          </a:p>
        </p:txBody>
      </p:sp>
      <p:sp>
        <p:nvSpPr>
          <p:cNvPr id="63" name="tb63"/>
          <p:cNvSpPr txBox="1"/>
          <p:nvPr/>
        </p:nvSpPr>
        <p:spPr>
          <a:xfrm>
            <a:off x="1060000" y="3830000"/>
            <a:ext cx="1800000" cy="3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5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Construir</a:t>
            </a:r>
          </a:p>
        </p:txBody>
      </p:sp>
      <p:sp>
        <p:nvSpPr>
          <p:cNvPr id="64" name="tb64"/>
          <p:cNvSpPr txBox="1"/>
          <p:nvPr/>
        </p:nvSpPr>
        <p:spPr>
          <a:xfrm>
            <a:off x="2900000" y="3830000"/>
            <a:ext cx="3500000" cy="5001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2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uma tabela analítica mínima como ponto de partida da análise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gr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b10"/>
          <p:cNvSpPr txBox="1"/>
          <p:nvPr/>
        </p:nvSpPr>
        <p:spPr>
          <a:xfrm>
            <a:off x="750000" y="500000"/>
            <a:ext cx="5950000" cy="9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4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Onde estamos no curso</a:t>
            </a:r>
          </a:p>
        </p:txBody>
      </p:sp>
      <p:sp>
        <p:nvSpPr>
          <p:cNvPr id="11" name="rect11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12" name="tb12"/>
          <p:cNvSpPr txBox="1"/>
          <p:nvPr/>
        </p:nvSpPr>
        <p:spPr>
          <a:xfrm>
            <a:off x="750000" y="1330000"/>
            <a:ext cx="5950000" cy="4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400" b="1" i="0">
                <a:solidFill>
                  <a:srgbClr val="E8A317"/>
                </a:solidFill>
                <a:latin typeface="Arial"/>
                <a:ea typeface="Arial"/>
                <a:cs typeface="Arial"/>
              </a:rPr>
              <a:t>Da fundamentação ao método</a:t>
            </a:r>
          </a:p>
        </p:txBody>
      </p:sp>
      <p:sp>
        <p:nvSpPr>
          <p:cNvPr id="50" name="tb50"/>
          <p:cNvSpPr txBox="1"/>
          <p:nvPr/>
        </p:nvSpPr>
        <p:spPr>
          <a:xfrm>
            <a:off x="750000" y="1730000"/>
            <a:ext cx="5950000" cy="34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4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Na Aula 1, vimos por que dados importam para o operador do Direito e o que é Jurimetria.</a:t>
            </a:r>
          </a:p>
        </p:txBody>
      </p:sp>
      <p:sp>
        <p:nvSpPr>
          <p:cNvPr id="51" name="tb51"/>
          <p:cNvSpPr txBox="1"/>
          <p:nvPr/>
        </p:nvSpPr>
        <p:spPr>
          <a:xfrm>
            <a:off x="750000" y="2200000"/>
            <a:ext cx="5950000" cy="205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30000"/>
              </a:lnSpc>
              <a:spcBef>
                <a:spcPts val="600"/>
              </a:spcBef>
              <a:buNone/>
            </a:pPr>
            <a:r>
              <a:rPr lang="pt-BR" sz="15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Agora começa o método: o ciclo da ciência de dados em modo raiz, percorrido nas Aulas 2 e 3.</a:t>
            </a:r>
          </a:p>
          <a:p>
            <a:pPr lvl="0" marL="0" indent="0" algn="l">
              <a:lnSpc>
                <a:spcPct val="130000"/>
              </a:lnSpc>
              <a:spcBef>
                <a:spcPts val="600"/>
              </a:spcBef>
              <a:buNone/>
            </a:pPr>
            <a:r>
              <a:rPr lang="pt-BR" sz="15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Toda a aula opera sobre a base do trabalho final (16.110 julgados de locação do TJSP) e sobre o caso XY&amp;A.</a:t>
            </a:r>
          </a:p>
          <a:p>
            <a:pPr lvl="0" marL="0" indent="0" algn="l">
              <a:lnSpc>
                <a:spcPct val="130000"/>
              </a:lnSpc>
              <a:spcBef>
                <a:spcPts val="600"/>
              </a:spcBef>
              <a:buNone/>
            </a:pPr>
            <a:r>
              <a:rPr lang="pt-BR" sz="15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Depois, na Aula 5, o mesmo ciclo será revisitado com IA generativa em cada etapa.</a:t>
            </a:r>
          </a:p>
        </p:txBody>
      </p:sp>
      <p:sp>
        <p:nvSpPr>
          <p:cNvPr id="52" name="tb52"/>
          <p:cNvSpPr txBox="1"/>
          <p:nvPr/>
        </p:nvSpPr>
        <p:spPr>
          <a:xfrm>
            <a:off x="750000" y="4350000"/>
            <a:ext cx="5950000" cy="220000"/>
          </a:xfrm>
          <a:prstGeom prst="rect">
            <a:avLst/>
          </a:prstGeom>
          <a:noFill/>
        </p:spPr>
        <p:txBody>
          <a:bodyPr wrap="square" anchor="b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000" b="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Nunes (2019); CNJ (2024)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gr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b20"/>
          <p:cNvSpPr txBox="1"/>
          <p:nvPr/>
        </p:nvSpPr>
        <p:spPr>
          <a:xfrm>
            <a:off x="1097275" y="900000"/>
            <a:ext cx="2400000" cy="11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9600" b="1" i="0">
                <a:solidFill>
                  <a:srgbClr val="E8A317"/>
                </a:solidFill>
                <a:latin typeface="Arial Black"/>
                <a:ea typeface="Arial Black"/>
                <a:cs typeface="Arial Black"/>
              </a:rPr>
              <a:t>01</a:t>
            </a:r>
          </a:p>
        </p:txBody>
      </p:sp>
      <p:sp>
        <p:nvSpPr>
          <p:cNvPr id="21" name="tb21"/>
          <p:cNvSpPr txBox="1"/>
          <p:nvPr/>
        </p:nvSpPr>
        <p:spPr>
          <a:xfrm>
            <a:off x="1097275" y="2100000"/>
            <a:ext cx="6500000" cy="11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36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Atividade 1: revisão</a:t>
            </a:r>
          </a:p>
        </p:txBody>
      </p:sp>
      <p:sp>
        <p:nvSpPr>
          <p:cNvPr id="22" name="rect22"/>
          <p:cNvSpPr/>
          <p:nvPr/>
        </p:nvSpPr>
        <p:spPr>
          <a:xfrm>
            <a:off x="1097280" y="3250000"/>
            <a:ext cx="1500000" cy="54864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23" name="tb23"/>
          <p:cNvSpPr txBox="1"/>
          <p:nvPr/>
        </p:nvSpPr>
        <p:spPr>
          <a:xfrm>
            <a:off x="1097280" y="3400000"/>
            <a:ext cx="5486400" cy="5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400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Correção comentada das 3 questões e ponte para o método desta aula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gr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b10"/>
          <p:cNvSpPr txBox="1"/>
          <p:nvPr/>
        </p:nvSpPr>
        <p:spPr>
          <a:xfrm>
            <a:off x="750000" y="500000"/>
            <a:ext cx="5950000" cy="9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4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O que foi pedido na Atividade 1</a:t>
            </a:r>
          </a:p>
        </p:txBody>
      </p:sp>
      <p:sp>
        <p:nvSpPr>
          <p:cNvPr id="11" name="rect11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12" name="tb12"/>
          <p:cNvSpPr txBox="1"/>
          <p:nvPr/>
        </p:nvSpPr>
        <p:spPr>
          <a:xfrm>
            <a:off x="750000" y="1330000"/>
            <a:ext cx="5950000" cy="4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400" b="1" i="0">
                <a:solidFill>
                  <a:srgbClr val="E8A317"/>
                </a:solidFill>
                <a:latin typeface="Arial"/>
                <a:ea typeface="Arial"/>
                <a:cs typeface="Arial"/>
              </a:rPr>
              <a:t>Atividade Prática 1 (Bloco 2 da Aula 1) · 3 questões</a:t>
            </a:r>
          </a:p>
        </p:txBody>
      </p:sp>
      <p:sp>
        <p:nvSpPr>
          <p:cNvPr id="50" name="tb50"/>
          <p:cNvSpPr txBox="1"/>
          <p:nvPr/>
        </p:nvSpPr>
        <p:spPr>
          <a:xfrm>
            <a:off x="750000" y="1780000"/>
            <a:ext cx="5950000" cy="252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25000"/>
              </a:lnSpc>
              <a:spcBef>
                <a:spcPts val="600"/>
              </a:spcBef>
              <a:buNone/>
            </a:pPr>
            <a:r>
              <a:rPr lang="pt-BR" sz="14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Pano de fundo: caso XY&amp;A e a base de 16.110 julgados de locação do TJSP, sobre os fundamentos da Aula 1.</a:t>
            </a:r>
          </a:p>
          <a:p>
            <a:pPr lvl="0" marL="0" indent="0" algn="l">
              <a:lnSpc>
                <a:spcPct val="125000"/>
              </a:lnSpc>
              <a:spcBef>
                <a:spcPts val="600"/>
              </a:spcBef>
              <a:buNone/>
            </a:pPr>
            <a:r>
              <a:rPr lang="pt-BR" sz="1400" b="1" i="0">
                <a:solidFill>
                  <a:srgbClr val="E8A317"/>
                </a:solidFill>
                <a:latin typeface="Arial Black"/>
                <a:ea typeface="Arial Black"/>
                <a:cs typeface="Arial Black"/>
              </a:rPr>
              <a:t>Q1. </a:t>
            </a:r>
            <a:r>
              <a:rPr lang="pt-BR" sz="14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Listar 3 perguntas jurimétricas do XY&amp;A em ao menos 2 áreas (contencioso, gestão, provisionamento).</a:t>
            </a:r>
          </a:p>
          <a:p>
            <a:pPr lvl="0" marL="0" indent="0" algn="l">
              <a:lnSpc>
                <a:spcPct val="125000"/>
              </a:lnSpc>
              <a:spcBef>
                <a:spcPts val="600"/>
              </a:spcBef>
              <a:buNone/>
            </a:pPr>
            <a:r>
              <a:rPr lang="pt-BR" sz="1400" b="1" i="0">
                <a:solidFill>
                  <a:srgbClr val="E8A317"/>
                </a:solidFill>
                <a:latin typeface="Arial Black"/>
                <a:ea typeface="Arial Black"/>
                <a:cs typeface="Arial Black"/>
              </a:rPr>
              <a:t>Q2. </a:t>
            </a:r>
            <a:r>
              <a:rPr lang="pt-BR" sz="14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Reescrever uma das 3 perguntas em formato investigável: tema, recorte, variável central e comparação.</a:t>
            </a:r>
          </a:p>
          <a:p>
            <a:pPr lvl="0" marL="0" indent="0" algn="l">
              <a:lnSpc>
                <a:spcPct val="125000"/>
              </a:lnSpc>
              <a:spcBef>
                <a:spcPts val="600"/>
              </a:spcBef>
              <a:buNone/>
            </a:pPr>
            <a:r>
              <a:rPr lang="pt-BR" sz="1400" b="1" i="0">
                <a:solidFill>
                  <a:srgbClr val="E8A317"/>
                </a:solidFill>
                <a:latin typeface="Arial Black"/>
                <a:ea typeface="Arial Black"/>
                <a:cs typeface="Arial Black"/>
              </a:rPr>
              <a:t>Q3. </a:t>
            </a:r>
            <a:r>
              <a:rPr lang="pt-BR" sz="14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Apontar que decisão concreta do escritório a resposta apoiaria, e por quê.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gr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b10"/>
          <p:cNvSpPr txBox="1"/>
          <p:nvPr/>
        </p:nvSpPr>
        <p:spPr>
          <a:xfrm>
            <a:off x="750000" y="500000"/>
            <a:ext cx="5950000" cy="9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4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Atividade 1 · Questão 1</a:t>
            </a:r>
          </a:p>
        </p:txBody>
      </p:sp>
      <p:sp>
        <p:nvSpPr>
          <p:cNvPr id="11" name="rect11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12" name="tb12"/>
          <p:cNvSpPr txBox="1"/>
          <p:nvPr/>
        </p:nvSpPr>
        <p:spPr>
          <a:xfrm>
            <a:off x="750000" y="1330000"/>
            <a:ext cx="5950000" cy="4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400" b="1" i="0">
                <a:solidFill>
                  <a:srgbClr val="E8A317"/>
                </a:solidFill>
                <a:latin typeface="Arial"/>
                <a:ea typeface="Arial"/>
                <a:cs typeface="Arial"/>
              </a:rPr>
              <a:t>Caminho de resposta esperado e armadilhas observadas</a:t>
            </a:r>
          </a:p>
        </p:txBody>
      </p:sp>
      <p:sp>
        <p:nvSpPr>
          <p:cNvPr id="50" name="rect50"/>
          <p:cNvSpPr/>
          <p:nvPr/>
        </p:nvSpPr>
        <p:spPr>
          <a:xfrm>
            <a:off x="750000" y="1780000"/>
            <a:ext cx="5950000" cy="7200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lang="pt-BR" sz="1400" b="1" i="0">
                <a:solidFill>
                  <a:srgbClr val="1B2A4A"/>
                </a:solidFill>
                <a:latin typeface="Arial Black"/>
              </a:rPr>
              <a:t>Q1. Listar 3 perguntas jurimétricas do XY&amp;A em ao menos 2 áreas (contencioso, gestão, provisionamento).</a:t>
            </a:r>
          </a:p>
        </p:txBody>
      </p:sp>
      <p:sp>
        <p:nvSpPr>
          <p:cNvPr id="51" name="tb51"/>
          <p:cNvSpPr txBox="1"/>
          <p:nvPr/>
        </p:nvSpPr>
        <p:spPr>
          <a:xfrm>
            <a:off x="750000" y="2560000"/>
            <a:ext cx="5950000" cy="17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15000"/>
              </a:lnSpc>
              <a:spcBef>
                <a:spcPts val="300"/>
              </a:spcBef>
              <a:buNone/>
            </a:pPr>
            <a:r>
              <a:rPr lang="pt-BR" sz="1200" b="1" i="0">
                <a:solidFill>
                  <a:srgbClr val="E8A317"/>
                </a:solidFill>
                <a:latin typeface="Arial Black"/>
                <a:ea typeface="Arial Black"/>
                <a:cs typeface="Arial Black"/>
              </a:rPr>
              <a:t>▶  </a:t>
            </a:r>
            <a:r>
              <a:rPr lang="pt-BR" sz="12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Caminho de resposta: cobrir pelo menos 2 das 3 áreas e dar a cada pergunta um recorte mínimo (matéria, jurisdição ou período).</a:t>
            </a:r>
          </a:p>
          <a:p>
            <a:pPr lvl="0" marL="0" indent="0" algn="l">
              <a:lnSpc>
                <a:spcPct val="115000"/>
              </a:lnSpc>
              <a:spcBef>
                <a:spcPts val="300"/>
              </a:spcBef>
              <a:buNone/>
            </a:pPr>
            <a:r>
              <a:rPr lang="pt-BR" sz="1200" b="1" i="0">
                <a:solidFill>
                  <a:srgbClr val="E8A317"/>
                </a:solidFill>
                <a:latin typeface="Arial Black"/>
                <a:ea typeface="Arial Black"/>
                <a:cs typeface="Arial Black"/>
              </a:rPr>
              <a:t>▶  </a:t>
            </a:r>
            <a:r>
              <a:rPr lang="pt-BR" sz="12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Exemplos no XY&amp;A: contencioso, 'taxa de procedência por vara em revisão'; gestão, 'concentração de despejos por comarca'; provisão, 'valor mediano de condenação'.</a:t>
            </a:r>
          </a:p>
          <a:p>
            <a:pPr lvl="0" marL="0" indent="0" algn="l">
              <a:lnSpc>
                <a:spcPct val="115000"/>
              </a:lnSpc>
              <a:spcBef>
                <a:spcPts val="300"/>
              </a:spcBef>
              <a:buNone/>
            </a:pPr>
            <a:r>
              <a:rPr lang="pt-BR" sz="1200" b="1" i="0">
                <a:solidFill>
                  <a:srgbClr val="E8A317"/>
                </a:solidFill>
                <a:latin typeface="Arial Black"/>
                <a:ea typeface="Arial Black"/>
                <a:cs typeface="Arial Black"/>
              </a:rPr>
              <a:t>▶  </a:t>
            </a:r>
            <a:r>
              <a:rPr lang="pt-BR" sz="12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Armadilhas frequentes: 3 perguntas todas no mesmo plano operacional, perguntas de opinião sem variável, ou perguntas grandes demais sem ancoragem.</a:t>
            </a:r>
          </a:p>
        </p:txBody>
      </p:sp>
      <p:sp>
        <p:nvSpPr>
          <p:cNvPr id="52" name="tb52"/>
          <p:cNvSpPr txBox="1"/>
          <p:nvPr/>
        </p:nvSpPr>
        <p:spPr>
          <a:xfrm>
            <a:off x="750000" y="4350000"/>
            <a:ext cx="5950000" cy="220000"/>
          </a:xfrm>
          <a:prstGeom prst="rect">
            <a:avLst/>
          </a:prstGeom>
          <a:noFill/>
        </p:spPr>
        <p:txBody>
          <a:bodyPr wrap="square" anchor="b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000" b="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Nunes (2019); ABJ (relatórios)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gr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b10"/>
          <p:cNvSpPr txBox="1"/>
          <p:nvPr/>
        </p:nvSpPr>
        <p:spPr>
          <a:xfrm>
            <a:off x="750000" y="500000"/>
            <a:ext cx="5950000" cy="9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4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Atividade 1 · Questão 2</a:t>
            </a:r>
          </a:p>
        </p:txBody>
      </p:sp>
      <p:sp>
        <p:nvSpPr>
          <p:cNvPr id="11" name="rect11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12" name="tb12"/>
          <p:cNvSpPr txBox="1"/>
          <p:nvPr/>
        </p:nvSpPr>
        <p:spPr>
          <a:xfrm>
            <a:off x="750000" y="1330000"/>
            <a:ext cx="5950000" cy="4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400" b="1" i="0">
                <a:solidFill>
                  <a:srgbClr val="E8A317"/>
                </a:solidFill>
                <a:latin typeface="Arial"/>
                <a:ea typeface="Arial"/>
                <a:cs typeface="Arial"/>
              </a:rPr>
              <a:t>Caminho de resposta esperado e armadilhas observadas</a:t>
            </a:r>
          </a:p>
        </p:txBody>
      </p:sp>
      <p:sp>
        <p:nvSpPr>
          <p:cNvPr id="50" name="rect50"/>
          <p:cNvSpPr/>
          <p:nvPr/>
        </p:nvSpPr>
        <p:spPr>
          <a:xfrm>
            <a:off x="750000" y="1780000"/>
            <a:ext cx="5950000" cy="7200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lang="pt-BR" sz="1400" b="1" i="0">
                <a:solidFill>
                  <a:srgbClr val="1B2A4A"/>
                </a:solidFill>
                <a:latin typeface="Arial Black"/>
              </a:rPr>
              <a:t>Q2. Reescrever uma das 3 perguntas em formato investigável: tema, recorte, variável central e comparação.</a:t>
            </a:r>
          </a:p>
        </p:txBody>
      </p:sp>
      <p:sp>
        <p:nvSpPr>
          <p:cNvPr id="51" name="tb51"/>
          <p:cNvSpPr txBox="1"/>
          <p:nvPr/>
        </p:nvSpPr>
        <p:spPr>
          <a:xfrm>
            <a:off x="750000" y="2560000"/>
            <a:ext cx="5950000" cy="17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15000"/>
              </a:lnSpc>
              <a:spcBef>
                <a:spcPts val="300"/>
              </a:spcBef>
              <a:buNone/>
            </a:pPr>
            <a:r>
              <a:rPr lang="pt-BR" sz="1200" b="1" i="0">
                <a:solidFill>
                  <a:srgbClr val="E8A317"/>
                </a:solidFill>
                <a:latin typeface="Arial Black"/>
                <a:ea typeface="Arial Black"/>
                <a:cs typeface="Arial Black"/>
              </a:rPr>
              <a:t>▶  </a:t>
            </a:r>
            <a:r>
              <a:rPr lang="pt-BR" sz="12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Caminho de resposta: tema (matéria e tipo de ação), recorte (jurisdição e período), variável central (taxa, mediana, valor) e ponto de comparação (média ou outro grupo).</a:t>
            </a:r>
          </a:p>
          <a:p>
            <a:pPr lvl="0" marL="0" indent="0" algn="l">
              <a:lnSpc>
                <a:spcPct val="115000"/>
              </a:lnSpc>
              <a:spcBef>
                <a:spcPts val="300"/>
              </a:spcBef>
              <a:buNone/>
            </a:pPr>
            <a:r>
              <a:rPr lang="pt-BR" sz="1200" b="1" i="0">
                <a:solidFill>
                  <a:srgbClr val="E8A317"/>
                </a:solidFill>
                <a:latin typeface="Arial Black"/>
                <a:ea typeface="Arial Black"/>
                <a:cs typeface="Arial Black"/>
              </a:rPr>
              <a:t>▶  </a:t>
            </a:r>
            <a:r>
              <a:rPr lang="pt-BR" sz="12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Exemplo XY&amp;A: 'Em renovatórias do TJSP, parte PJ, 2018 a 2024, qual a taxa de procedência em favor do locador comparada à média do tribunal?'.</a:t>
            </a:r>
          </a:p>
          <a:p>
            <a:pPr lvl="0" marL="0" indent="0" algn="l">
              <a:lnSpc>
                <a:spcPct val="115000"/>
              </a:lnSpc>
              <a:spcBef>
                <a:spcPts val="300"/>
              </a:spcBef>
              <a:buNone/>
            </a:pPr>
            <a:r>
              <a:rPr lang="pt-BR" sz="1200" b="1" i="0">
                <a:solidFill>
                  <a:srgbClr val="E8A317"/>
                </a:solidFill>
                <a:latin typeface="Arial Black"/>
                <a:ea typeface="Arial Black"/>
                <a:cs typeface="Arial Black"/>
              </a:rPr>
              <a:t>▶  </a:t>
            </a:r>
            <a:r>
              <a:rPr lang="pt-BR" sz="12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Armadilhas frequentes: pergunta investigável que ainda mistura opinião e métrica, ausência de ponto de comparação ou recorte vago.</a:t>
            </a:r>
          </a:p>
        </p:txBody>
      </p:sp>
      <p:sp>
        <p:nvSpPr>
          <p:cNvPr id="52" name="tb52"/>
          <p:cNvSpPr txBox="1"/>
          <p:nvPr/>
        </p:nvSpPr>
        <p:spPr>
          <a:xfrm>
            <a:off x="750000" y="4350000"/>
            <a:ext cx="5950000" cy="220000"/>
          </a:xfrm>
          <a:prstGeom prst="rect">
            <a:avLst/>
          </a:prstGeom>
          <a:noFill/>
        </p:spPr>
        <p:txBody>
          <a:bodyPr wrap="square" anchor="b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000" b="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Nunes (2019); Katz e Bommarito (2013)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gr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b10"/>
          <p:cNvSpPr txBox="1"/>
          <p:nvPr/>
        </p:nvSpPr>
        <p:spPr>
          <a:xfrm>
            <a:off x="750000" y="500000"/>
            <a:ext cx="5950000" cy="9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4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Atividade 1 · Questão 3</a:t>
            </a:r>
          </a:p>
        </p:txBody>
      </p:sp>
      <p:sp>
        <p:nvSpPr>
          <p:cNvPr id="11" name="rect11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12" name="tb12"/>
          <p:cNvSpPr txBox="1"/>
          <p:nvPr/>
        </p:nvSpPr>
        <p:spPr>
          <a:xfrm>
            <a:off x="750000" y="1330000"/>
            <a:ext cx="5950000" cy="4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400" b="1" i="0">
                <a:solidFill>
                  <a:srgbClr val="E8A317"/>
                </a:solidFill>
                <a:latin typeface="Arial"/>
                <a:ea typeface="Arial"/>
                <a:cs typeface="Arial"/>
              </a:rPr>
              <a:t>Caminho de resposta esperado e armadilhas observadas</a:t>
            </a:r>
          </a:p>
        </p:txBody>
      </p:sp>
      <p:sp>
        <p:nvSpPr>
          <p:cNvPr id="50" name="rect50"/>
          <p:cNvSpPr/>
          <p:nvPr/>
        </p:nvSpPr>
        <p:spPr>
          <a:xfrm>
            <a:off x="750000" y="1780000"/>
            <a:ext cx="5950000" cy="7200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lang="pt-BR" sz="1400" b="1" i="0">
                <a:solidFill>
                  <a:srgbClr val="1B2A4A"/>
                </a:solidFill>
                <a:latin typeface="Arial Black"/>
              </a:rPr>
              <a:t>Q3. Que decisão concreta do escritório a resposta apoiaria, e por quê.</a:t>
            </a:r>
          </a:p>
        </p:txBody>
      </p:sp>
      <p:sp>
        <p:nvSpPr>
          <p:cNvPr id="51" name="tb51"/>
          <p:cNvSpPr txBox="1"/>
          <p:nvPr/>
        </p:nvSpPr>
        <p:spPr>
          <a:xfrm>
            <a:off x="750000" y="2560000"/>
            <a:ext cx="5950000" cy="17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15000"/>
              </a:lnSpc>
              <a:spcBef>
                <a:spcPts val="300"/>
              </a:spcBef>
              <a:buNone/>
            </a:pPr>
            <a:r>
              <a:rPr lang="pt-BR" sz="1200" b="1" i="0">
                <a:solidFill>
                  <a:srgbClr val="E8A317"/>
                </a:solidFill>
                <a:latin typeface="Arial Black"/>
                <a:ea typeface="Arial Black"/>
                <a:cs typeface="Arial Black"/>
              </a:rPr>
              <a:t>▶  </a:t>
            </a:r>
            <a:r>
              <a:rPr lang="pt-BR" sz="12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Caminho de resposta: nomear uma decisão específica que mudaria com a resposta. Exemplos: política de acordo, recalibrar provisão, redistribuir equipe, mudar tese.</a:t>
            </a:r>
          </a:p>
          <a:p>
            <a:pPr lvl="0" marL="0" indent="0" algn="l">
              <a:lnSpc>
                <a:spcPct val="115000"/>
              </a:lnSpc>
              <a:spcBef>
                <a:spcPts val="300"/>
              </a:spcBef>
              <a:buNone/>
            </a:pPr>
            <a:r>
              <a:rPr lang="pt-BR" sz="1200" b="1" i="0">
                <a:solidFill>
                  <a:srgbClr val="E8A317"/>
                </a:solidFill>
                <a:latin typeface="Arial Black"/>
                <a:ea typeface="Arial Black"/>
                <a:cs typeface="Arial Black"/>
              </a:rPr>
              <a:t>▶  </a:t>
            </a:r>
            <a:r>
              <a:rPr lang="pt-BR" sz="12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Exemplo XY&amp;A: se a taxa de procedência em renovatórias caiu, a decisão pode ser revisar a estratégia de litígio e priorizar acordos por faixa de valor.</a:t>
            </a:r>
          </a:p>
          <a:p>
            <a:pPr lvl="0" marL="0" indent="0" algn="l">
              <a:lnSpc>
                <a:spcPct val="115000"/>
              </a:lnSpc>
              <a:spcBef>
                <a:spcPts val="300"/>
              </a:spcBef>
              <a:buNone/>
            </a:pPr>
            <a:r>
              <a:rPr lang="pt-BR" sz="1200" b="1" i="0">
                <a:solidFill>
                  <a:srgbClr val="E8A317"/>
                </a:solidFill>
                <a:latin typeface="Arial Black"/>
                <a:ea typeface="Arial Black"/>
                <a:cs typeface="Arial Black"/>
              </a:rPr>
              <a:t>▶  </a:t>
            </a:r>
            <a:r>
              <a:rPr lang="pt-BR" sz="12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Armadilhas frequentes: respostas vagas como 'a empresa fica mais informada', sem nomear a decisão concreta que muda com o número.</a:t>
            </a:r>
          </a:p>
        </p:txBody>
      </p:sp>
      <p:sp>
        <p:nvSpPr>
          <p:cNvPr id="52" name="tb52"/>
          <p:cNvSpPr txBox="1"/>
          <p:nvPr/>
        </p:nvSpPr>
        <p:spPr>
          <a:xfrm>
            <a:off x="750000" y="4350000"/>
            <a:ext cx="5950000" cy="220000"/>
          </a:xfrm>
          <a:prstGeom prst="rect">
            <a:avLst/>
          </a:prstGeom>
          <a:noFill/>
        </p:spPr>
        <p:txBody>
          <a:bodyPr wrap="square" anchor="b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000" b="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Susskind (2023); Nunes (2019)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gr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b10"/>
          <p:cNvSpPr txBox="1"/>
          <p:nvPr/>
        </p:nvSpPr>
        <p:spPr>
          <a:xfrm>
            <a:off x="750000" y="500000"/>
            <a:ext cx="5950000" cy="9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4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Da intuição à pergunta de dados</a:t>
            </a:r>
          </a:p>
        </p:txBody>
      </p:sp>
      <p:sp>
        <p:nvSpPr>
          <p:cNvPr id="11" name="rect11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12" name="tb12"/>
          <p:cNvSpPr txBox="1"/>
          <p:nvPr/>
        </p:nvSpPr>
        <p:spPr>
          <a:xfrm>
            <a:off x="750000" y="1330000"/>
            <a:ext cx="5950000" cy="4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400" b="1" i="0">
                <a:solidFill>
                  <a:srgbClr val="E8A317"/>
                </a:solidFill>
                <a:latin typeface="Arial"/>
                <a:ea typeface="Arial"/>
                <a:cs typeface="Arial"/>
              </a:rPr>
              <a:t>Insight da correção e ponte para o ciclo</a:t>
            </a:r>
          </a:p>
        </p:txBody>
      </p:sp>
      <p:sp>
        <p:nvSpPr>
          <p:cNvPr id="50" name="tb50"/>
          <p:cNvSpPr txBox="1"/>
          <p:nvPr/>
        </p:nvSpPr>
        <p:spPr>
          <a:xfrm>
            <a:off x="750000" y="1730000"/>
            <a:ext cx="5950000" cy="242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30000"/>
              </a:lnSpc>
              <a:spcBef>
                <a:spcPts val="600"/>
              </a:spcBef>
              <a:buNone/>
            </a:pPr>
            <a:r>
              <a:rPr lang="pt-BR" sz="15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Toda intuição jurídica relevante pode ser convertida em uma pergunta investigável.</a:t>
            </a:r>
          </a:p>
          <a:p>
            <a:pPr lvl="0" marL="0" indent="0" algn="l">
              <a:lnSpc>
                <a:spcPct val="130000"/>
              </a:lnSpc>
              <a:spcBef>
                <a:spcPts val="600"/>
              </a:spcBef>
              <a:buNone/>
            </a:pPr>
            <a:r>
              <a:rPr lang="pt-BR" sz="15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Quando a pergunta é boa, a sequência fica clara: variáveis, fonte, coleta, análise e entrega. É o ciclo da próxima seção.</a:t>
            </a:r>
          </a:p>
          <a:p>
            <a:pPr lvl="0" marL="0" indent="0" algn="l">
              <a:lnSpc>
                <a:spcPct val="130000"/>
              </a:lnSpc>
              <a:spcBef>
                <a:spcPts val="600"/>
              </a:spcBef>
              <a:buNone/>
            </a:pPr>
            <a:r>
              <a:rPr lang="pt-BR" sz="15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Quando a pergunta é ruim, qualquer dado parece interessante. É aí que estatística vira marketing.</a:t>
            </a:r>
          </a:p>
        </p:txBody>
      </p:sp>
      <p:sp>
        <p:nvSpPr>
          <p:cNvPr id="51" name="tb51"/>
          <p:cNvSpPr txBox="1"/>
          <p:nvPr/>
        </p:nvSpPr>
        <p:spPr>
          <a:xfrm>
            <a:off x="750000" y="4350000"/>
            <a:ext cx="5950000" cy="220000"/>
          </a:xfrm>
          <a:prstGeom prst="rect">
            <a:avLst/>
          </a:prstGeom>
          <a:noFill/>
        </p:spPr>
        <p:txBody>
          <a:bodyPr wrap="square" anchor="b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000" b="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Huff (2016); Silver (2013)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gr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b20"/>
          <p:cNvSpPr txBox="1"/>
          <p:nvPr/>
        </p:nvSpPr>
        <p:spPr>
          <a:xfrm>
            <a:off x="1097275" y="900000"/>
            <a:ext cx="2400000" cy="11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9600" b="1" i="0">
                <a:solidFill>
                  <a:srgbClr val="E8A317"/>
                </a:solidFill>
                <a:latin typeface="Arial Black"/>
                <a:ea typeface="Arial Black"/>
                <a:cs typeface="Arial Black"/>
              </a:rPr>
              <a:t>02</a:t>
            </a:r>
          </a:p>
        </p:txBody>
      </p:sp>
      <p:sp>
        <p:nvSpPr>
          <p:cNvPr id="21" name="tb21"/>
          <p:cNvSpPr txBox="1"/>
          <p:nvPr/>
        </p:nvSpPr>
        <p:spPr>
          <a:xfrm>
            <a:off x="1097275" y="2100000"/>
            <a:ext cx="6500000" cy="11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36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O ciclo da ciência de dados</a:t>
            </a:r>
          </a:p>
        </p:txBody>
      </p:sp>
      <p:sp>
        <p:nvSpPr>
          <p:cNvPr id="22" name="rect22"/>
          <p:cNvSpPr/>
          <p:nvPr/>
        </p:nvSpPr>
        <p:spPr>
          <a:xfrm>
            <a:off x="1097280" y="3250000"/>
            <a:ext cx="1500000" cy="54864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23" name="tb23"/>
          <p:cNvSpPr txBox="1"/>
          <p:nvPr/>
        </p:nvSpPr>
        <p:spPr>
          <a:xfrm>
            <a:off x="1097280" y="3400000"/>
            <a:ext cx="5486400" cy="5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400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Visão geral das 6 etapas que estruturam o resto do curso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gr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b10"/>
          <p:cNvSpPr txBox="1"/>
          <p:nvPr/>
        </p:nvSpPr>
        <p:spPr>
          <a:xfrm>
            <a:off x="750000" y="500000"/>
            <a:ext cx="5950000" cy="9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4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O que é o ciclo</a:t>
            </a:r>
          </a:p>
        </p:txBody>
      </p:sp>
      <p:sp>
        <p:nvSpPr>
          <p:cNvPr id="11" name="rect11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50" name="tb50"/>
          <p:cNvSpPr txBox="1"/>
          <p:nvPr/>
        </p:nvSpPr>
        <p:spPr>
          <a:xfrm>
            <a:off x="750000" y="1700000"/>
            <a:ext cx="5950000" cy="245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30000"/>
              </a:lnSpc>
              <a:spcBef>
                <a:spcPts val="600"/>
              </a:spcBef>
              <a:buNone/>
            </a:pPr>
            <a:r>
              <a:rPr lang="pt-BR" sz="15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É a espinha dorsal metodológica da disciplina: 6 etapas executadas em sequência, com idas e voltas controladas.</a:t>
            </a:r>
          </a:p>
          <a:p>
            <a:pPr lvl="0" marL="0" indent="0" algn="l">
              <a:lnSpc>
                <a:spcPct val="130000"/>
              </a:lnSpc>
              <a:spcBef>
                <a:spcPts val="600"/>
              </a:spcBef>
              <a:buNone/>
            </a:pPr>
            <a:r>
              <a:rPr lang="pt-BR" sz="15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Será percorrido duas vezes: primeiro no modo raiz (Aulas 2 e 3, com Excel) e depois no modo com IA (Aula 5).</a:t>
            </a:r>
          </a:p>
          <a:p>
            <a:pPr lvl="0" marL="0" indent="0" algn="l">
              <a:lnSpc>
                <a:spcPct val="130000"/>
              </a:lnSpc>
              <a:spcBef>
                <a:spcPts val="600"/>
              </a:spcBef>
              <a:buNone/>
            </a:pPr>
            <a:r>
              <a:rPr lang="pt-BR" sz="15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Em sala, sempre que abrirmos uma análise, vamos identificar em que etapa estamos.</a:t>
            </a:r>
          </a:p>
        </p:txBody>
      </p:sp>
      <p:sp>
        <p:nvSpPr>
          <p:cNvPr id="51" name="tb51"/>
          <p:cNvSpPr txBox="1"/>
          <p:nvPr/>
        </p:nvSpPr>
        <p:spPr>
          <a:xfrm>
            <a:off x="750000" y="4350000"/>
            <a:ext cx="5950000" cy="220000"/>
          </a:xfrm>
          <a:prstGeom prst="rect">
            <a:avLst/>
          </a:prstGeom>
          <a:noFill/>
        </p:spPr>
        <p:txBody>
          <a:bodyPr wrap="square" anchor="b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000" b="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Nunes (2019); James et al. (2021)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gr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b10"/>
          <p:cNvSpPr txBox="1"/>
          <p:nvPr/>
        </p:nvSpPr>
        <p:spPr>
          <a:xfrm>
            <a:off x="750000" y="500000"/>
            <a:ext cx="5950000" cy="9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4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As 6 etapas do ciclo</a:t>
            </a:r>
          </a:p>
        </p:txBody>
      </p:sp>
      <p:sp>
        <p:nvSpPr>
          <p:cNvPr id="11" name="rect11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50" name="el50"/>
          <p:cNvSpPr/>
          <p:nvPr/>
        </p:nvSpPr>
        <p:spPr>
          <a:xfrm>
            <a:off x="750000" y="2000000"/>
            <a:ext cx="700000" cy="70000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wrap="square" anchor="ctr" lIns="36000" rIns="36000" tIns="36000" bIns="36000"/>
          <a:lstStyle/>
          <a:p>
            <a:pPr algn="ctr"/>
            <a:r>
              <a:rPr lang="pt-BR" sz="2400" b="1">
                <a:solidFill>
                  <a:srgbClr val="FFFFFF"/>
                </a:solidFill>
                <a:latin typeface="Arial Black"/>
              </a:rPr>
              <a:t>1</a:t>
            </a:r>
          </a:p>
        </p:txBody>
      </p:sp>
      <p:sp>
        <p:nvSpPr>
          <p:cNvPr id="150" name="rect150"/>
          <p:cNvSpPr/>
          <p:nvPr/>
        </p:nvSpPr>
        <p:spPr>
          <a:xfrm>
            <a:off x="1480000" y="2325000"/>
            <a:ext cx="290000" cy="50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250" name="tb250"/>
          <p:cNvSpPr txBox="1"/>
          <p:nvPr/>
        </p:nvSpPr>
        <p:spPr>
          <a:xfrm>
            <a:off x="400000" y="2780000"/>
            <a:ext cx="1400000" cy="7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100" b="1" i="0">
                <a:solidFill>
                  <a:srgbClr val="1B2A4A"/>
                </a:solidFill>
                <a:latin typeface="Arial"/>
                <a:ea typeface="Arial"/>
                <a:cs typeface="Arial"/>
              </a:rPr>
              <a:t>Pergunta</a:t>
            </a:r>
          </a:p>
        </p:txBody>
      </p:sp>
      <p:sp>
        <p:nvSpPr>
          <p:cNvPr id="51" name="el51"/>
          <p:cNvSpPr/>
          <p:nvPr/>
        </p:nvSpPr>
        <p:spPr>
          <a:xfrm>
            <a:off x="1800000" y="2000000"/>
            <a:ext cx="700000" cy="70000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wrap="square" anchor="ctr" lIns="36000" rIns="36000" tIns="36000" bIns="36000"/>
          <a:lstStyle/>
          <a:p>
            <a:pPr algn="ctr"/>
            <a:r>
              <a:rPr lang="pt-BR" sz="2400" b="1">
                <a:solidFill>
                  <a:srgbClr val="FFFFFF"/>
                </a:solidFill>
                <a:latin typeface="Arial Black"/>
              </a:rPr>
              <a:t>2</a:t>
            </a:r>
          </a:p>
        </p:txBody>
      </p:sp>
      <p:sp>
        <p:nvSpPr>
          <p:cNvPr id="151" name="rect151"/>
          <p:cNvSpPr/>
          <p:nvPr/>
        </p:nvSpPr>
        <p:spPr>
          <a:xfrm>
            <a:off x="2530000" y="2325000"/>
            <a:ext cx="290000" cy="50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251" name="tb251"/>
          <p:cNvSpPr txBox="1"/>
          <p:nvPr/>
        </p:nvSpPr>
        <p:spPr>
          <a:xfrm>
            <a:off x="1450000" y="2780000"/>
            <a:ext cx="1400000" cy="7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100" b="1" i="0">
                <a:solidFill>
                  <a:srgbClr val="1B2A4A"/>
                </a:solidFill>
                <a:latin typeface="Arial"/>
                <a:ea typeface="Arial"/>
                <a:cs typeface="Arial"/>
              </a:rPr>
              <a:t>Mapear</a:t>
            </a:r>
          </a:p>
        </p:txBody>
      </p:sp>
      <p:sp>
        <p:nvSpPr>
          <p:cNvPr id="52" name="el52"/>
          <p:cNvSpPr/>
          <p:nvPr/>
        </p:nvSpPr>
        <p:spPr>
          <a:xfrm>
            <a:off x="2850000" y="2000000"/>
            <a:ext cx="700000" cy="70000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wrap="square" anchor="ctr" lIns="36000" rIns="36000" tIns="36000" bIns="36000"/>
          <a:lstStyle/>
          <a:p>
            <a:pPr algn="ctr"/>
            <a:r>
              <a:rPr lang="pt-BR" sz="2400" b="1">
                <a:solidFill>
                  <a:srgbClr val="FFFFFF"/>
                </a:solidFill>
                <a:latin typeface="Arial Black"/>
              </a:rPr>
              <a:t>3</a:t>
            </a:r>
          </a:p>
        </p:txBody>
      </p:sp>
      <p:sp>
        <p:nvSpPr>
          <p:cNvPr id="152" name="rect152"/>
          <p:cNvSpPr/>
          <p:nvPr/>
        </p:nvSpPr>
        <p:spPr>
          <a:xfrm>
            <a:off x="3580000" y="2325000"/>
            <a:ext cx="290000" cy="50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252" name="tb252"/>
          <p:cNvSpPr txBox="1"/>
          <p:nvPr/>
        </p:nvSpPr>
        <p:spPr>
          <a:xfrm>
            <a:off x="2500000" y="2780000"/>
            <a:ext cx="1400000" cy="7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100" b="1" i="0">
                <a:solidFill>
                  <a:srgbClr val="1B2A4A"/>
                </a:solidFill>
                <a:latin typeface="Arial"/>
                <a:ea typeface="Arial"/>
                <a:cs typeface="Arial"/>
              </a:rPr>
              <a:t>Coletar</a:t>
            </a:r>
          </a:p>
        </p:txBody>
      </p:sp>
      <p:sp>
        <p:nvSpPr>
          <p:cNvPr id="53" name="el53"/>
          <p:cNvSpPr/>
          <p:nvPr/>
        </p:nvSpPr>
        <p:spPr>
          <a:xfrm>
            <a:off x="3900000" y="2000000"/>
            <a:ext cx="700000" cy="70000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wrap="square" anchor="ctr" lIns="36000" rIns="36000" tIns="36000" bIns="36000"/>
          <a:lstStyle/>
          <a:p>
            <a:pPr algn="ctr"/>
            <a:r>
              <a:rPr lang="pt-BR" sz="2400" b="1">
                <a:solidFill>
                  <a:srgbClr val="FFFFFF"/>
                </a:solidFill>
                <a:latin typeface="Arial Black"/>
              </a:rPr>
              <a:t>4</a:t>
            </a:r>
          </a:p>
        </p:txBody>
      </p:sp>
      <p:sp>
        <p:nvSpPr>
          <p:cNvPr id="153" name="rect153"/>
          <p:cNvSpPr/>
          <p:nvPr/>
        </p:nvSpPr>
        <p:spPr>
          <a:xfrm>
            <a:off x="4630000" y="2325000"/>
            <a:ext cx="290000" cy="50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253" name="tb253"/>
          <p:cNvSpPr txBox="1"/>
          <p:nvPr/>
        </p:nvSpPr>
        <p:spPr>
          <a:xfrm>
            <a:off x="3550000" y="2780000"/>
            <a:ext cx="1400000" cy="7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100" b="1" i="0">
                <a:solidFill>
                  <a:srgbClr val="1B2A4A"/>
                </a:solidFill>
                <a:latin typeface="Arial"/>
                <a:ea typeface="Arial"/>
                <a:cs typeface="Arial"/>
              </a:rPr>
              <a:t>Tratar</a:t>
            </a:r>
          </a:p>
        </p:txBody>
      </p:sp>
      <p:sp>
        <p:nvSpPr>
          <p:cNvPr id="54" name="el54"/>
          <p:cNvSpPr/>
          <p:nvPr/>
        </p:nvSpPr>
        <p:spPr>
          <a:xfrm>
            <a:off x="4950000" y="2000000"/>
            <a:ext cx="700000" cy="70000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wrap="square" anchor="ctr" lIns="36000" rIns="36000" tIns="36000" bIns="36000"/>
          <a:lstStyle/>
          <a:p>
            <a:pPr algn="ctr"/>
            <a:r>
              <a:rPr lang="pt-BR" sz="2400" b="1">
                <a:solidFill>
                  <a:srgbClr val="FFFFFF"/>
                </a:solidFill>
                <a:latin typeface="Arial Black"/>
              </a:rPr>
              <a:t>5</a:t>
            </a:r>
          </a:p>
        </p:txBody>
      </p:sp>
      <p:sp>
        <p:nvSpPr>
          <p:cNvPr id="154" name="rect154"/>
          <p:cNvSpPr/>
          <p:nvPr/>
        </p:nvSpPr>
        <p:spPr>
          <a:xfrm>
            <a:off x="5680000" y="2325000"/>
            <a:ext cx="290000" cy="50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254" name="tb254"/>
          <p:cNvSpPr txBox="1"/>
          <p:nvPr/>
        </p:nvSpPr>
        <p:spPr>
          <a:xfrm>
            <a:off x="4600000" y="2780000"/>
            <a:ext cx="1400000" cy="7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100" b="1" i="0">
                <a:solidFill>
                  <a:srgbClr val="1B2A4A"/>
                </a:solidFill>
                <a:latin typeface="Arial"/>
                <a:ea typeface="Arial"/>
                <a:cs typeface="Arial"/>
              </a:rPr>
              <a:t>Analisar</a:t>
            </a:r>
          </a:p>
        </p:txBody>
      </p:sp>
      <p:sp>
        <p:nvSpPr>
          <p:cNvPr id="55" name="el55"/>
          <p:cNvSpPr/>
          <p:nvPr/>
        </p:nvSpPr>
        <p:spPr>
          <a:xfrm>
            <a:off x="6000000" y="2000000"/>
            <a:ext cx="700000" cy="70000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wrap="square" anchor="ctr" lIns="36000" rIns="36000" tIns="36000" bIns="36000"/>
          <a:lstStyle/>
          <a:p>
            <a:pPr algn="ctr"/>
            <a:r>
              <a:rPr lang="pt-BR" sz="2400" b="1">
                <a:solidFill>
                  <a:srgbClr val="FFFFFF"/>
                </a:solidFill>
                <a:latin typeface="Arial Black"/>
              </a:rPr>
              <a:t>6</a:t>
            </a:r>
          </a:p>
        </p:txBody>
      </p:sp>
      <p:sp>
        <p:nvSpPr>
          <p:cNvPr id="255" name="tb255"/>
          <p:cNvSpPr txBox="1"/>
          <p:nvPr/>
        </p:nvSpPr>
        <p:spPr>
          <a:xfrm>
            <a:off x="5650000" y="2780000"/>
            <a:ext cx="1400000" cy="7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100" b="1" i="0">
                <a:solidFill>
                  <a:srgbClr val="1B2A4A"/>
                </a:solidFill>
                <a:latin typeface="Arial"/>
                <a:ea typeface="Arial"/>
                <a:cs typeface="Arial"/>
              </a:rPr>
              <a:t>Apresentar</a:t>
            </a:r>
          </a:p>
        </p:txBody>
      </p:sp>
      <p:sp>
        <p:nvSpPr>
          <p:cNvPr id="60" name="tb60"/>
          <p:cNvSpPr txBox="1"/>
          <p:nvPr/>
        </p:nvSpPr>
        <p:spPr>
          <a:xfrm>
            <a:off x="750000" y="4350000"/>
            <a:ext cx="5950000" cy="220000"/>
          </a:xfrm>
          <a:prstGeom prst="rect">
            <a:avLst/>
          </a:prstGeom>
          <a:noFill/>
        </p:spPr>
        <p:txBody>
          <a:bodyPr wrap="square" anchor="b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000" b="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Nunes (2019)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gr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b10"/>
          <p:cNvSpPr txBox="1"/>
          <p:nvPr/>
        </p:nvSpPr>
        <p:spPr>
          <a:xfrm>
            <a:off x="750000" y="500000"/>
            <a:ext cx="5950000" cy="9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4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Etapas 1 e 2: pergunta e mapeamento</a:t>
            </a:r>
          </a:p>
        </p:txBody>
      </p:sp>
      <p:sp>
        <p:nvSpPr>
          <p:cNvPr id="11" name="rect11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12" name="tb12"/>
          <p:cNvSpPr txBox="1"/>
          <p:nvPr/>
        </p:nvSpPr>
        <p:spPr>
          <a:xfrm>
            <a:off x="750000" y="1330000"/>
            <a:ext cx="5950000" cy="4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400" b="1" i="0">
                <a:solidFill>
                  <a:srgbClr val="E8A317"/>
                </a:solidFill>
                <a:latin typeface="Arial"/>
                <a:ea typeface="Arial"/>
                <a:cs typeface="Arial"/>
              </a:rPr>
              <a:t>Onde tudo começa</a:t>
            </a:r>
          </a:p>
        </p:txBody>
      </p:sp>
      <p:sp>
        <p:nvSpPr>
          <p:cNvPr id="50" name="rect50"/>
          <p:cNvSpPr/>
          <p:nvPr/>
        </p:nvSpPr>
        <p:spPr>
          <a:xfrm>
            <a:off x="800000" y="1800000"/>
            <a:ext cx="5850000" cy="2400000"/>
          </a:xfrm>
          <a:prstGeom prst="roundRect">
            <a:avLst>
              <a:gd name="adj" fmla="val 6500"/>
            </a:avLst>
          </a:prstGeom>
          <a:solidFill>
            <a:srgbClr val="F4F4F4"/>
          </a:solidFill>
          <a:ln w="9525">
            <a:solidFill>
              <a:srgbClr val="1B2A4A"/>
            </a:solidFill>
          </a:ln>
        </p:spPr>
        <p:txBody>
          <a:bodyPr wrap="square" anchor="t" lIns="180000" rIns="180000" tIns="120000" bIns="120000"/>
          <a:lstStyle/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lang="pt-BR" sz="1400" b="0" i="0">
                <a:solidFill>
                  <a:srgbClr val="333333"/>
                </a:solidFill>
                <a:latin typeface="Arial"/>
              </a:rPr>
              <a:t>Etapa 1, transformar a pergunta jurídica em pergunta investigável: foco do bloco de hoje.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lang="pt-BR" sz="1400" b="0" i="0">
                <a:solidFill>
                  <a:srgbClr val="333333"/>
                </a:solidFill>
                <a:latin typeface="Arial"/>
              </a:rPr>
              <a:t>Etapa 2, mapear as informações necessárias: identificar quais variáveis e fontes responderiam à pergunta.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lang="pt-BR" sz="1400" b="0" i="0">
                <a:solidFill>
                  <a:srgbClr val="333333"/>
                </a:solidFill>
                <a:latin typeface="Arial"/>
              </a:rPr>
              <a:t>Sem essas duas etapas bem feitas, todo o resto do ciclo fica frágil ou enviesado.</a:t>
            </a:r>
          </a:p>
        </p:txBody>
      </p:sp>
      <p:sp>
        <p:nvSpPr>
          <p:cNvPr id="51" name="tb51"/>
          <p:cNvSpPr txBox="1"/>
          <p:nvPr/>
        </p:nvSpPr>
        <p:spPr>
          <a:xfrm>
            <a:off x="750000" y="4350000"/>
            <a:ext cx="5950000" cy="220000"/>
          </a:xfrm>
          <a:prstGeom prst="rect">
            <a:avLst/>
          </a:prstGeom>
          <a:noFill/>
        </p:spPr>
        <p:txBody>
          <a:bodyPr wrap="square" anchor="b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000" b="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Nunes (2019)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gr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b10"/>
          <p:cNvSpPr txBox="1"/>
          <p:nvPr/>
        </p:nvSpPr>
        <p:spPr>
          <a:xfrm>
            <a:off x="750000" y="500000"/>
            <a:ext cx="5950000" cy="9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4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Etapas 3 e 4: coletar e tratar</a:t>
            </a:r>
          </a:p>
        </p:txBody>
      </p:sp>
      <p:sp>
        <p:nvSpPr>
          <p:cNvPr id="11" name="rect11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12" name="tb12"/>
          <p:cNvSpPr txBox="1"/>
          <p:nvPr/>
        </p:nvSpPr>
        <p:spPr>
          <a:xfrm>
            <a:off x="750000" y="1330000"/>
            <a:ext cx="5950000" cy="4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400" b="1" i="0">
                <a:solidFill>
                  <a:srgbClr val="E8A317"/>
                </a:solidFill>
                <a:latin typeface="Arial"/>
                <a:ea typeface="Arial"/>
                <a:cs typeface="Arial"/>
              </a:rPr>
              <a:t>Construindo a base analítica</a:t>
            </a:r>
          </a:p>
        </p:txBody>
      </p:sp>
      <p:sp>
        <p:nvSpPr>
          <p:cNvPr id="50" name="rect50"/>
          <p:cNvSpPr/>
          <p:nvPr/>
        </p:nvSpPr>
        <p:spPr>
          <a:xfrm>
            <a:off x="800000" y="1800000"/>
            <a:ext cx="5850000" cy="2400000"/>
          </a:xfrm>
          <a:prstGeom prst="roundRect">
            <a:avLst>
              <a:gd name="adj" fmla="val 6500"/>
            </a:avLst>
          </a:prstGeom>
          <a:solidFill>
            <a:srgbClr val="F4F4F4"/>
          </a:solidFill>
          <a:ln w="9525">
            <a:solidFill>
              <a:srgbClr val="1B2A4A"/>
            </a:solidFill>
          </a:ln>
        </p:spPr>
        <p:txBody>
          <a:bodyPr wrap="square" anchor="t" lIns="180000" rIns="180000" tIns="120000" bIns="120000"/>
          <a:lstStyle/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lang="pt-BR" sz="1400" b="0" i="0">
                <a:solidFill>
                  <a:srgbClr val="333333"/>
                </a:solidFill>
                <a:latin typeface="Arial"/>
              </a:rPr>
              <a:t>Etapa 3, coletar: fontes públicas (DataJud, tribunais), internas (sistemas) e, quando preciso, scraping.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lang="pt-BR" sz="1400" b="0" i="0">
                <a:solidFill>
                  <a:srgbClr val="333333"/>
                </a:solidFill>
                <a:latin typeface="Arial"/>
              </a:rPr>
              <a:t>Etapa 4, tratar: padronizar datas, valores, classificações e textos em uma TABELA estruturada e saneada.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lang="pt-BR" sz="1400" b="0" i="0">
                <a:solidFill>
                  <a:srgbClr val="333333"/>
                </a:solidFill>
                <a:latin typeface="Arial"/>
              </a:rPr>
              <a:t>Veremos as duas em detalhe no Bloco 2 (coleta) e na Aula 3 (tratamento).</a:t>
            </a:r>
          </a:p>
        </p:txBody>
      </p:sp>
      <p:sp>
        <p:nvSpPr>
          <p:cNvPr id="51" name="tb51"/>
          <p:cNvSpPr txBox="1"/>
          <p:nvPr/>
        </p:nvSpPr>
        <p:spPr>
          <a:xfrm>
            <a:off x="750000" y="4350000"/>
            <a:ext cx="5950000" cy="220000"/>
          </a:xfrm>
          <a:prstGeom prst="rect">
            <a:avLst/>
          </a:prstGeom>
          <a:noFill/>
        </p:spPr>
        <p:txBody>
          <a:bodyPr wrap="square" anchor="b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000" b="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CNJ (2024)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gr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b10"/>
          <p:cNvSpPr txBox="1"/>
          <p:nvPr/>
        </p:nvSpPr>
        <p:spPr>
          <a:xfrm>
            <a:off x="750000" y="500000"/>
            <a:ext cx="5950000" cy="9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4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Etapas 5 e 6: analisar e apresentar</a:t>
            </a:r>
          </a:p>
        </p:txBody>
      </p:sp>
      <p:sp>
        <p:nvSpPr>
          <p:cNvPr id="11" name="rect11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12" name="tb12"/>
          <p:cNvSpPr txBox="1"/>
          <p:nvPr/>
        </p:nvSpPr>
        <p:spPr>
          <a:xfrm>
            <a:off x="750000" y="1330000"/>
            <a:ext cx="5950000" cy="4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400" b="1" i="0">
                <a:solidFill>
                  <a:srgbClr val="E8A317"/>
                </a:solidFill>
                <a:latin typeface="Arial"/>
                <a:ea typeface="Arial"/>
                <a:cs typeface="Arial"/>
              </a:rPr>
              <a:t>Da TABELA ao insight</a:t>
            </a:r>
          </a:p>
        </p:txBody>
      </p:sp>
      <p:sp>
        <p:nvSpPr>
          <p:cNvPr id="50" name="rect50"/>
          <p:cNvSpPr/>
          <p:nvPr/>
        </p:nvSpPr>
        <p:spPr>
          <a:xfrm>
            <a:off x="800000" y="1800000"/>
            <a:ext cx="5850000" cy="2400000"/>
          </a:xfrm>
          <a:prstGeom prst="roundRect">
            <a:avLst>
              <a:gd name="adj" fmla="val 6500"/>
            </a:avLst>
          </a:prstGeom>
          <a:solidFill>
            <a:srgbClr val="F4F4F4"/>
          </a:solidFill>
          <a:ln w="9525">
            <a:solidFill>
              <a:srgbClr val="1B2A4A"/>
            </a:solidFill>
          </a:ln>
        </p:spPr>
        <p:txBody>
          <a:bodyPr wrap="square" anchor="t" lIns="180000" rIns="180000" tIns="120000" bIns="120000"/>
          <a:lstStyle/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lang="pt-BR" sz="1400" b="0" i="0">
                <a:solidFill>
                  <a:srgbClr val="333333"/>
                </a:solidFill>
                <a:latin typeface="Arial"/>
              </a:rPr>
              <a:t>Etapa 5, analisar: estatística descritiva no Excel. Medidas de posição, dispersão e gráficos.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lang="pt-BR" sz="1400" b="0" i="0">
                <a:solidFill>
                  <a:srgbClr val="333333"/>
                </a:solidFill>
                <a:latin typeface="Arial"/>
              </a:rPr>
              <a:t>Etapa 6, apresentar: gráficos e tabelas com boas práticas de visualização para o público jurídico.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lang="pt-BR" sz="1400" b="0" i="0">
                <a:solidFill>
                  <a:srgbClr val="333333"/>
                </a:solidFill>
                <a:latin typeface="Arial"/>
              </a:rPr>
              <a:t>Aprofundamos as duas na Aula 3 e voltamos a elas na Aula 5 com IA generativa.</a:t>
            </a:r>
          </a:p>
        </p:txBody>
      </p:sp>
      <p:sp>
        <p:nvSpPr>
          <p:cNvPr id="51" name="tb51"/>
          <p:cNvSpPr txBox="1"/>
          <p:nvPr/>
        </p:nvSpPr>
        <p:spPr>
          <a:xfrm>
            <a:off x="750000" y="4350000"/>
            <a:ext cx="5950000" cy="220000"/>
          </a:xfrm>
          <a:prstGeom prst="rect">
            <a:avLst/>
          </a:prstGeom>
          <a:noFill/>
        </p:spPr>
        <p:txBody>
          <a:bodyPr wrap="square" anchor="b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000" b="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Wheelan (2016)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gr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b10"/>
          <p:cNvSpPr txBox="1"/>
          <p:nvPr/>
        </p:nvSpPr>
        <p:spPr>
          <a:xfrm>
            <a:off x="750000" y="500000"/>
            <a:ext cx="5950000" cy="9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4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Por que pensar em ciclo?</a:t>
            </a:r>
          </a:p>
        </p:txBody>
      </p:sp>
      <p:sp>
        <p:nvSpPr>
          <p:cNvPr id="11" name="rect11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50" name="rect50"/>
          <p:cNvSpPr/>
          <p:nvPr/>
        </p:nvSpPr>
        <p:spPr>
          <a:xfrm>
            <a:off x="750000" y="1780000"/>
            <a:ext cx="2870000" cy="480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700" b="1" i="0">
                <a:solidFill>
                  <a:srgbClr val="FFFFFF"/>
                </a:solidFill>
                <a:latin typeface="Arial Black"/>
              </a:rPr>
              <a:t>Sem método (pura intuição)</a:t>
            </a:r>
          </a:p>
        </p:txBody>
      </p:sp>
      <p:sp>
        <p:nvSpPr>
          <p:cNvPr id="51" name="rect51"/>
          <p:cNvSpPr/>
          <p:nvPr/>
        </p:nvSpPr>
        <p:spPr>
          <a:xfrm>
            <a:off x="3830000" y="1780000"/>
            <a:ext cx="2870000" cy="4800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700" b="1" i="0">
                <a:solidFill>
                  <a:srgbClr val="1B2A4A"/>
                </a:solidFill>
                <a:latin typeface="Arial Black"/>
              </a:rPr>
              <a:t>Com ciclo (método reproduzível)</a:t>
            </a:r>
          </a:p>
        </p:txBody>
      </p:sp>
      <p:sp>
        <p:nvSpPr>
          <p:cNvPr id="52" name="tb52"/>
          <p:cNvSpPr txBox="1"/>
          <p:nvPr/>
        </p:nvSpPr>
        <p:spPr>
          <a:xfrm>
            <a:off x="750000" y="2260000"/>
            <a:ext cx="2870000" cy="185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285750" indent="-285750" algn="l">
              <a:lnSpc>
                <a:spcPct val="120000"/>
              </a:lnSpc>
              <a:spcBef>
                <a:spcPts val="400"/>
              </a:spcBef>
              <a:buClr>
                <a:srgbClr val="1B2A4A"/>
              </a:buClr>
              <a:buFont typeface="Arial"/>
              <a:buChar char="•"/>
            </a:pPr>
            <a:r>
              <a:rPr lang="pt-BR" sz="14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Resultado depende da pessoa, não do processo.</a:t>
            </a:r>
          </a:p>
          <a:p>
            <a:pPr lvl="0" marL="285750" indent="-285750" algn="l">
              <a:lnSpc>
                <a:spcPct val="120000"/>
              </a:lnSpc>
              <a:spcBef>
                <a:spcPts val="400"/>
              </a:spcBef>
              <a:buClr>
                <a:srgbClr val="1B2A4A"/>
              </a:buClr>
              <a:buFont typeface="Arial"/>
              <a:buChar char="•"/>
            </a:pPr>
            <a:r>
              <a:rPr lang="pt-BR" sz="14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Difícil de replicar e auditar.</a:t>
            </a:r>
          </a:p>
          <a:p>
            <a:pPr lvl="0" marL="285750" indent="-285750" algn="l">
              <a:lnSpc>
                <a:spcPct val="120000"/>
              </a:lnSpc>
              <a:spcBef>
                <a:spcPts val="400"/>
              </a:spcBef>
              <a:buClr>
                <a:srgbClr val="1B2A4A"/>
              </a:buClr>
              <a:buFont typeface="Arial"/>
              <a:buChar char="•"/>
            </a:pPr>
            <a:r>
              <a:rPr lang="pt-BR" sz="14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Indefensável quando contestado em juízo.</a:t>
            </a:r>
          </a:p>
          <a:p>
            <a:pPr lvl="0" marL="285750" indent="-285750" algn="l">
              <a:lnSpc>
                <a:spcPct val="120000"/>
              </a:lnSpc>
              <a:spcBef>
                <a:spcPts val="400"/>
              </a:spcBef>
              <a:buClr>
                <a:srgbClr val="1B2A4A"/>
              </a:buClr>
              <a:buFont typeface="Arial"/>
              <a:buChar char="•"/>
            </a:pPr>
            <a:r>
              <a:rPr lang="pt-BR" sz="14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Decisões aleatórias, sem rastro.</a:t>
            </a:r>
          </a:p>
        </p:txBody>
      </p:sp>
      <p:sp>
        <p:nvSpPr>
          <p:cNvPr id="53" name="tb53"/>
          <p:cNvSpPr txBox="1"/>
          <p:nvPr/>
        </p:nvSpPr>
        <p:spPr>
          <a:xfrm>
            <a:off x="3830000" y="2260000"/>
            <a:ext cx="2870000" cy="185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285750" indent="-285750" algn="l">
              <a:lnSpc>
                <a:spcPct val="120000"/>
              </a:lnSpc>
              <a:spcBef>
                <a:spcPts val="400"/>
              </a:spcBef>
              <a:buClr>
                <a:srgbClr val="E8A317"/>
              </a:buClr>
              <a:buFont typeface="Arial"/>
              <a:buChar char="•"/>
            </a:pPr>
            <a:r>
              <a:rPr lang="pt-BR" sz="14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Mesmo procedimento gera mesma resposta.</a:t>
            </a:r>
          </a:p>
          <a:p>
            <a:pPr lvl="0" marL="285750" indent="-285750" algn="l">
              <a:lnSpc>
                <a:spcPct val="120000"/>
              </a:lnSpc>
              <a:spcBef>
                <a:spcPts val="400"/>
              </a:spcBef>
              <a:buClr>
                <a:srgbClr val="E8A317"/>
              </a:buClr>
              <a:buFont typeface="Arial"/>
              <a:buChar char="•"/>
            </a:pPr>
            <a:r>
              <a:rPr lang="pt-BR" sz="14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Cada etapa documentada e revisável.</a:t>
            </a:r>
          </a:p>
          <a:p>
            <a:pPr lvl="0" marL="285750" indent="-285750" algn="l">
              <a:lnSpc>
                <a:spcPct val="120000"/>
              </a:lnSpc>
              <a:spcBef>
                <a:spcPts val="400"/>
              </a:spcBef>
              <a:buClr>
                <a:srgbClr val="E8A317"/>
              </a:buClr>
              <a:buFont typeface="Arial"/>
              <a:buChar char="•"/>
            </a:pPr>
            <a:r>
              <a:rPr lang="pt-BR" sz="14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Defensável: mostra como se chegou ao número.</a:t>
            </a:r>
          </a:p>
          <a:p>
            <a:pPr lvl="0" marL="285750" indent="-285750" algn="l">
              <a:lnSpc>
                <a:spcPct val="120000"/>
              </a:lnSpc>
              <a:spcBef>
                <a:spcPts val="400"/>
              </a:spcBef>
              <a:buClr>
                <a:srgbClr val="E8A317"/>
              </a:buClr>
              <a:buFont typeface="Arial"/>
              <a:buChar char="•"/>
            </a:pPr>
            <a:r>
              <a:rPr lang="pt-BR" sz="14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Permite escalar para a equipe inteira.</a:t>
            </a:r>
          </a:p>
        </p:txBody>
      </p:sp>
      <p:sp>
        <p:nvSpPr>
          <p:cNvPr id="54" name="tb54"/>
          <p:cNvSpPr txBox="1"/>
          <p:nvPr/>
        </p:nvSpPr>
        <p:spPr>
          <a:xfrm>
            <a:off x="750000" y="4350000"/>
            <a:ext cx="5950000" cy="220000"/>
          </a:xfrm>
          <a:prstGeom prst="rect">
            <a:avLst/>
          </a:prstGeom>
          <a:noFill/>
        </p:spPr>
        <p:txBody>
          <a:bodyPr wrap="square" anchor="b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000" b="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Nunes (2019); Susskind (2023)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gr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b10"/>
          <p:cNvSpPr txBox="1"/>
          <p:nvPr/>
        </p:nvSpPr>
        <p:spPr>
          <a:xfrm>
            <a:off x="750000" y="500000"/>
            <a:ext cx="5950000" cy="9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4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Cadeia de custódia analítica</a:t>
            </a:r>
          </a:p>
        </p:txBody>
      </p:sp>
      <p:sp>
        <p:nvSpPr>
          <p:cNvPr id="11" name="rect11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12" name="tb12"/>
          <p:cNvSpPr txBox="1"/>
          <p:nvPr/>
        </p:nvSpPr>
        <p:spPr>
          <a:xfrm>
            <a:off x="750000" y="1330000"/>
            <a:ext cx="5950000" cy="4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400" b="1" i="0">
                <a:solidFill>
                  <a:srgbClr val="E8A317"/>
                </a:solidFill>
                <a:latin typeface="Arial"/>
                <a:ea typeface="Arial"/>
                <a:cs typeface="Arial"/>
              </a:rPr>
              <a:t>Analogia jurídica</a:t>
            </a:r>
          </a:p>
        </p:txBody>
      </p:sp>
      <p:sp>
        <p:nvSpPr>
          <p:cNvPr id="50" name="tb50"/>
          <p:cNvSpPr txBox="1"/>
          <p:nvPr/>
        </p:nvSpPr>
        <p:spPr>
          <a:xfrm>
            <a:off x="750000" y="1730000"/>
            <a:ext cx="5950000" cy="242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30000"/>
              </a:lnSpc>
              <a:spcBef>
                <a:spcPts val="600"/>
              </a:spcBef>
              <a:buNone/>
            </a:pPr>
            <a:r>
              <a:rPr lang="pt-BR" sz="15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No processo penal, a cadeia de custódia garante que a prova chegue íntegra ao julgamento.</a:t>
            </a:r>
          </a:p>
          <a:p>
            <a:pPr lvl="0" marL="0" indent="0" algn="l">
              <a:lnSpc>
                <a:spcPct val="130000"/>
              </a:lnSpc>
              <a:spcBef>
                <a:spcPts val="600"/>
              </a:spcBef>
              <a:buNone/>
            </a:pPr>
            <a:r>
              <a:rPr lang="pt-BR" sz="15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Na Jurimetria, o ciclo cumpre o mesmo papel: cada etapa preserva e documenta a integridade dos dados.</a:t>
            </a:r>
          </a:p>
          <a:p>
            <a:pPr lvl="0" marL="0" indent="0" algn="l">
              <a:lnSpc>
                <a:spcPct val="130000"/>
              </a:lnSpc>
              <a:spcBef>
                <a:spcPts val="600"/>
              </a:spcBef>
              <a:buNone/>
            </a:pPr>
            <a:r>
              <a:rPr lang="pt-BR" sz="15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Quem pula etapas perde rastreabilidade. Quem documenta, defende a análise como defenderia uma prova pericial.</a:t>
            </a:r>
          </a:p>
        </p:txBody>
      </p:sp>
      <p:sp>
        <p:nvSpPr>
          <p:cNvPr id="51" name="tb51"/>
          <p:cNvSpPr txBox="1"/>
          <p:nvPr/>
        </p:nvSpPr>
        <p:spPr>
          <a:xfrm>
            <a:off x="750000" y="4350000"/>
            <a:ext cx="5950000" cy="220000"/>
          </a:xfrm>
          <a:prstGeom prst="rect">
            <a:avLst/>
          </a:prstGeom>
          <a:noFill/>
        </p:spPr>
        <p:txBody>
          <a:bodyPr wrap="square" anchor="b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000" b="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Nunes (2019); CNJ (2024)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gr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b20"/>
          <p:cNvSpPr txBox="1"/>
          <p:nvPr/>
        </p:nvSpPr>
        <p:spPr>
          <a:xfrm>
            <a:off x="1097275" y="900000"/>
            <a:ext cx="2400000" cy="11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9600" b="1" i="0">
                <a:solidFill>
                  <a:srgbClr val="E8A317"/>
                </a:solidFill>
                <a:latin typeface="Arial Black"/>
                <a:ea typeface="Arial Black"/>
                <a:cs typeface="Arial Black"/>
              </a:rPr>
              <a:t>03</a:t>
            </a:r>
          </a:p>
        </p:txBody>
      </p:sp>
      <p:sp>
        <p:nvSpPr>
          <p:cNvPr id="21" name="tb21"/>
          <p:cNvSpPr txBox="1"/>
          <p:nvPr/>
        </p:nvSpPr>
        <p:spPr>
          <a:xfrm>
            <a:off x="1097275" y="2100000"/>
            <a:ext cx="6500000" cy="11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36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Etapa 1: a pergunta</a:t>
            </a:r>
          </a:p>
        </p:txBody>
      </p:sp>
      <p:sp>
        <p:nvSpPr>
          <p:cNvPr id="22" name="rect22"/>
          <p:cNvSpPr/>
          <p:nvPr/>
        </p:nvSpPr>
        <p:spPr>
          <a:xfrm>
            <a:off x="1097280" y="3250000"/>
            <a:ext cx="1500000" cy="54864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23" name="tb23"/>
          <p:cNvSpPr txBox="1"/>
          <p:nvPr/>
        </p:nvSpPr>
        <p:spPr>
          <a:xfrm>
            <a:off x="1097280" y="3400000"/>
            <a:ext cx="5486400" cy="5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400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Da pergunta jurídica vaga à pergunta investigável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gr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b10"/>
          <p:cNvSpPr txBox="1"/>
          <p:nvPr/>
        </p:nvSpPr>
        <p:spPr>
          <a:xfrm>
            <a:off x="750000" y="500000"/>
            <a:ext cx="5950000" cy="9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4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O que é uma pergunta investigável</a:t>
            </a:r>
          </a:p>
        </p:txBody>
      </p:sp>
      <p:sp>
        <p:nvSpPr>
          <p:cNvPr id="11" name="rect11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50" name="tb50"/>
          <p:cNvSpPr txBox="1"/>
          <p:nvPr/>
        </p:nvSpPr>
        <p:spPr>
          <a:xfrm>
            <a:off x="750000" y="1700000"/>
            <a:ext cx="5950000" cy="245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30000"/>
              </a:lnSpc>
              <a:spcBef>
                <a:spcPts val="600"/>
              </a:spcBef>
              <a:buNone/>
            </a:pPr>
            <a:r>
              <a:rPr lang="pt-BR" sz="15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É uma pergunta que aponta com clareza para um dado mensurável e para um critério de resposta.</a:t>
            </a:r>
          </a:p>
          <a:p>
            <a:pPr lvl="0" marL="0" indent="0" algn="l">
              <a:lnSpc>
                <a:spcPct val="130000"/>
              </a:lnSpc>
              <a:spcBef>
                <a:spcPts val="600"/>
              </a:spcBef>
              <a:buNone/>
            </a:pPr>
            <a:r>
              <a:rPr lang="pt-BR" sz="15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Em vez de pedir uma opinião, pede uma comparação, uma proporção, uma frequência ou uma evolução.</a:t>
            </a:r>
          </a:p>
          <a:p>
            <a:pPr lvl="0" marL="0" indent="0" algn="l">
              <a:lnSpc>
                <a:spcPct val="130000"/>
              </a:lnSpc>
              <a:spcBef>
                <a:spcPts val="600"/>
              </a:spcBef>
              <a:buNone/>
            </a:pPr>
            <a:r>
              <a:rPr lang="pt-BR" sz="15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Sem pergunta investigável, qualquer análise ou IA tende a produzir um número aparentemente preciso, mas sem ancoragem.</a:t>
            </a:r>
          </a:p>
        </p:txBody>
      </p:sp>
      <p:sp>
        <p:nvSpPr>
          <p:cNvPr id="51" name="tb51"/>
          <p:cNvSpPr txBox="1"/>
          <p:nvPr/>
        </p:nvSpPr>
        <p:spPr>
          <a:xfrm>
            <a:off x="750000" y="4350000"/>
            <a:ext cx="5950000" cy="220000"/>
          </a:xfrm>
          <a:prstGeom prst="rect">
            <a:avLst/>
          </a:prstGeom>
          <a:noFill/>
        </p:spPr>
        <p:txBody>
          <a:bodyPr wrap="square" anchor="b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000" b="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Nunes (2019); Katz e Bommarito (2013)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gr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b10"/>
          <p:cNvSpPr txBox="1"/>
          <p:nvPr/>
        </p:nvSpPr>
        <p:spPr>
          <a:xfrm>
            <a:off x="750000" y="500000"/>
            <a:ext cx="5950000" cy="9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4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Critérios de uma boa pergunta</a:t>
            </a:r>
          </a:p>
        </p:txBody>
      </p:sp>
      <p:sp>
        <p:nvSpPr>
          <p:cNvPr id="11" name="rect11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12" name="tb12"/>
          <p:cNvSpPr txBox="1"/>
          <p:nvPr/>
        </p:nvSpPr>
        <p:spPr>
          <a:xfrm>
            <a:off x="750000" y="1330000"/>
            <a:ext cx="5950000" cy="4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400" b="1" i="0">
                <a:solidFill>
                  <a:srgbClr val="E8A317"/>
                </a:solidFill>
                <a:latin typeface="Arial"/>
                <a:ea typeface="Arial"/>
                <a:cs typeface="Arial"/>
              </a:rPr>
              <a:t>Quatro critérios não negociáveis</a:t>
            </a:r>
          </a:p>
        </p:txBody>
      </p:sp>
      <p:sp>
        <p:nvSpPr>
          <p:cNvPr id="50" name="rect50"/>
          <p:cNvSpPr/>
          <p:nvPr/>
        </p:nvSpPr>
        <p:spPr>
          <a:xfrm>
            <a:off x="800000" y="1800000"/>
            <a:ext cx="5850000" cy="2400000"/>
          </a:xfrm>
          <a:prstGeom prst="roundRect">
            <a:avLst>
              <a:gd name="adj" fmla="val 6500"/>
            </a:avLst>
          </a:prstGeom>
          <a:solidFill>
            <a:srgbClr val="F4F4F4"/>
          </a:solidFill>
          <a:ln w="9525">
            <a:solidFill>
              <a:srgbClr val="1B2A4A"/>
            </a:solidFill>
          </a:ln>
        </p:spPr>
        <p:txBody>
          <a:bodyPr wrap="square" anchor="t" lIns="180000" rIns="180000" tIns="120000" bIns="120000"/>
          <a:lstStyle/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lang="pt-BR" sz="1400" b="0" i="0">
                <a:solidFill>
                  <a:srgbClr val="333333"/>
                </a:solidFill>
                <a:latin typeface="Arial"/>
              </a:rPr>
              <a:t>Específica: define matéria, período e jurisdição.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lang="pt-BR" sz="1400" b="0" i="0">
                <a:solidFill>
                  <a:srgbClr val="333333"/>
                </a:solidFill>
                <a:latin typeface="Arial"/>
              </a:rPr>
              <a:t>Verificável: aponta para uma variável que existe ou é coletável.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lang="pt-BR" sz="1400" b="0" i="0">
                <a:solidFill>
                  <a:srgbClr val="333333"/>
                </a:solidFill>
                <a:latin typeface="Arial"/>
              </a:rPr>
              <a:t>Comparável: traz um ponto de referência (média, outro juízo, outro período).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lang="pt-BR" sz="1400" b="0" i="0">
                <a:solidFill>
                  <a:srgbClr val="333333"/>
                </a:solidFill>
                <a:latin typeface="Arial"/>
              </a:rPr>
              <a:t>Útil: a resposta muda alguma decisão concreta de litígio, negociação ou provisão.</a:t>
            </a:r>
          </a:p>
        </p:txBody>
      </p:sp>
      <p:sp>
        <p:nvSpPr>
          <p:cNvPr id="51" name="tb51"/>
          <p:cNvSpPr txBox="1"/>
          <p:nvPr/>
        </p:nvSpPr>
        <p:spPr>
          <a:xfrm>
            <a:off x="750000" y="4350000"/>
            <a:ext cx="5950000" cy="220000"/>
          </a:xfrm>
          <a:prstGeom prst="rect">
            <a:avLst/>
          </a:prstGeom>
          <a:noFill/>
        </p:spPr>
        <p:txBody>
          <a:bodyPr wrap="square" anchor="b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000" b="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Nunes (2019); Katz e Bommarito (2013)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gr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b10"/>
          <p:cNvSpPr txBox="1"/>
          <p:nvPr/>
        </p:nvSpPr>
        <p:spPr>
          <a:xfrm>
            <a:off x="750000" y="500000"/>
            <a:ext cx="5950000" cy="9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4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Antes e depois</a:t>
            </a:r>
          </a:p>
        </p:txBody>
      </p:sp>
      <p:sp>
        <p:nvSpPr>
          <p:cNvPr id="11" name="rect11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50" name="rect50"/>
          <p:cNvSpPr/>
          <p:nvPr/>
        </p:nvSpPr>
        <p:spPr>
          <a:xfrm>
            <a:off x="750000" y="1780000"/>
            <a:ext cx="2870000" cy="480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700" b="1" i="0">
                <a:solidFill>
                  <a:srgbClr val="FFFFFF"/>
                </a:solidFill>
                <a:latin typeface="Arial Black"/>
              </a:rPr>
              <a:t>Pergunta vaga</a:t>
            </a:r>
          </a:p>
        </p:txBody>
      </p:sp>
      <p:sp>
        <p:nvSpPr>
          <p:cNvPr id="51" name="rect51"/>
          <p:cNvSpPr/>
          <p:nvPr/>
        </p:nvSpPr>
        <p:spPr>
          <a:xfrm>
            <a:off x="3830000" y="1780000"/>
            <a:ext cx="2870000" cy="4800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700" b="1" i="0">
                <a:solidFill>
                  <a:srgbClr val="1B2A4A"/>
                </a:solidFill>
                <a:latin typeface="Arial Black"/>
              </a:rPr>
              <a:t>Pergunta investigável</a:t>
            </a:r>
          </a:p>
        </p:txBody>
      </p:sp>
      <p:sp>
        <p:nvSpPr>
          <p:cNvPr id="52" name="tb52"/>
          <p:cNvSpPr txBox="1"/>
          <p:nvPr/>
        </p:nvSpPr>
        <p:spPr>
          <a:xfrm>
            <a:off x="750000" y="2260000"/>
            <a:ext cx="2870000" cy="185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285750" indent="-285750" algn="l">
              <a:lnSpc>
                <a:spcPct val="120000"/>
              </a:lnSpc>
              <a:spcBef>
                <a:spcPts val="400"/>
              </a:spcBef>
              <a:buClr>
                <a:srgbClr val="1B2A4A"/>
              </a:buClr>
              <a:buFont typeface="Arial"/>
              <a:buChar char="•"/>
            </a:pPr>
            <a:r>
              <a:rPr lang="pt-BR" sz="12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Esse juiz é duro?</a:t>
            </a:r>
          </a:p>
          <a:p>
            <a:pPr lvl="0" marL="285750" indent="-285750" algn="l">
              <a:lnSpc>
                <a:spcPct val="120000"/>
              </a:lnSpc>
              <a:spcBef>
                <a:spcPts val="400"/>
              </a:spcBef>
              <a:buClr>
                <a:srgbClr val="1B2A4A"/>
              </a:buClr>
              <a:buFont typeface="Arial"/>
              <a:buChar char="•"/>
            </a:pPr>
            <a:r>
              <a:rPr lang="pt-BR" sz="12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Renovatórias demoram mais?</a:t>
            </a:r>
          </a:p>
          <a:p>
            <a:pPr lvl="0" marL="285750" indent="-285750" algn="l">
              <a:lnSpc>
                <a:spcPct val="120000"/>
              </a:lnSpc>
              <a:spcBef>
                <a:spcPts val="400"/>
              </a:spcBef>
              <a:buClr>
                <a:srgbClr val="1B2A4A"/>
              </a:buClr>
              <a:buFont typeface="Arial"/>
              <a:buChar char="•"/>
            </a:pPr>
            <a:r>
              <a:rPr lang="pt-BR" sz="12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Vale a pena recorrer?</a:t>
            </a:r>
          </a:p>
          <a:p>
            <a:pPr lvl="0" marL="285750" indent="-285750" algn="l">
              <a:lnSpc>
                <a:spcPct val="120000"/>
              </a:lnSpc>
              <a:spcBef>
                <a:spcPts val="400"/>
              </a:spcBef>
              <a:buClr>
                <a:srgbClr val="1B2A4A"/>
              </a:buClr>
              <a:buFont typeface="Arial"/>
              <a:buChar char="•"/>
            </a:pPr>
            <a:r>
              <a:rPr lang="pt-BR" sz="12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Acordos saem por quanto?</a:t>
            </a:r>
          </a:p>
        </p:txBody>
      </p:sp>
      <p:sp>
        <p:nvSpPr>
          <p:cNvPr id="53" name="tb53"/>
          <p:cNvSpPr txBox="1"/>
          <p:nvPr/>
        </p:nvSpPr>
        <p:spPr>
          <a:xfrm>
            <a:off x="3830000" y="2260000"/>
            <a:ext cx="2870000" cy="185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285750" indent="-285750" algn="l">
              <a:lnSpc>
                <a:spcPct val="120000"/>
              </a:lnSpc>
              <a:spcBef>
                <a:spcPts val="400"/>
              </a:spcBef>
              <a:buClr>
                <a:srgbClr val="E8A317"/>
              </a:buClr>
              <a:buFont typeface="Arial"/>
              <a:buChar char="•"/>
            </a:pPr>
            <a:r>
              <a:rPr lang="pt-BR" sz="12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Revisões TJSP 2018-2024: procedência do juízo X vs. média?</a:t>
            </a:r>
          </a:p>
          <a:p>
            <a:pPr lvl="0" marL="285750" indent="-285750" algn="l">
              <a:lnSpc>
                <a:spcPct val="120000"/>
              </a:lnSpc>
              <a:spcBef>
                <a:spcPts val="400"/>
              </a:spcBef>
              <a:buClr>
                <a:srgbClr val="E8A317"/>
              </a:buClr>
              <a:buFont typeface="Arial"/>
              <a:buChar char="•"/>
            </a:pPr>
            <a:r>
              <a:rPr lang="pt-BR" sz="12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Renovatórias: tempo mediano até sentença subiu de 2019 a 2024?</a:t>
            </a:r>
          </a:p>
          <a:p>
            <a:pPr lvl="0" marL="285750" indent="-285750" algn="l">
              <a:lnSpc>
                <a:spcPct val="120000"/>
              </a:lnSpc>
              <a:spcBef>
                <a:spcPts val="400"/>
              </a:spcBef>
              <a:buClr>
                <a:srgbClr val="E8A317"/>
              </a:buClr>
              <a:buFont typeface="Arial"/>
              <a:buChar char="•"/>
            </a:pPr>
            <a:r>
              <a:rPr lang="pt-BR" sz="12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Revisão 2020-2024: proporção de reformas a favor do recorrente?</a:t>
            </a:r>
          </a:p>
          <a:p>
            <a:pPr lvl="0" marL="285750" indent="-285750" algn="l">
              <a:lnSpc>
                <a:spcPct val="120000"/>
              </a:lnSpc>
              <a:spcBef>
                <a:spcPts val="400"/>
              </a:spcBef>
              <a:buClr>
                <a:srgbClr val="E8A317"/>
              </a:buClr>
              <a:buFont typeface="Arial"/>
              <a:buChar char="•"/>
            </a:pPr>
            <a:r>
              <a:rPr lang="pt-BR" sz="12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Acordos 2022-2024: valor acordado vs. valor da causa?</a:t>
            </a:r>
          </a:p>
        </p:txBody>
      </p:sp>
      <p:sp>
        <p:nvSpPr>
          <p:cNvPr id="54" name="tb54"/>
          <p:cNvSpPr txBox="1"/>
          <p:nvPr/>
        </p:nvSpPr>
        <p:spPr>
          <a:xfrm>
            <a:off x="750000" y="4350000"/>
            <a:ext cx="5950000" cy="220000"/>
          </a:xfrm>
          <a:prstGeom prst="rect">
            <a:avLst/>
          </a:prstGeom>
          <a:noFill/>
        </p:spPr>
        <p:txBody>
          <a:bodyPr wrap="square" anchor="b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000" b="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Nunes (2019); ABJ (relatórios)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gr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b10"/>
          <p:cNvSpPr txBox="1"/>
          <p:nvPr/>
        </p:nvSpPr>
        <p:spPr>
          <a:xfrm>
            <a:off x="750000" y="500000"/>
            <a:ext cx="5950000" cy="9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4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O alcance da pergunta certa</a:t>
            </a:r>
          </a:p>
        </p:txBody>
      </p:sp>
      <p:sp>
        <p:nvSpPr>
          <p:cNvPr id="11" name="rect11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50" name="tb50"/>
          <p:cNvSpPr txBox="1"/>
          <p:nvPr/>
        </p:nvSpPr>
        <p:spPr>
          <a:xfrm>
            <a:off x="750000" y="1800000"/>
            <a:ext cx="5800000" cy="1400000"/>
          </a:xfrm>
          <a:prstGeom prst="rect">
            <a:avLst/>
          </a:prstGeom>
          <a:noFill/>
        </p:spPr>
        <p:txBody>
          <a:bodyPr wrap="square" anchor="ctr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7200" b="1" i="0">
                <a:solidFill>
                  <a:srgbClr val="E8A317"/>
                </a:solidFill>
                <a:latin typeface="Arial Black"/>
                <a:ea typeface="Arial Black"/>
                <a:cs typeface="Arial Black"/>
              </a:rPr>
              <a:t>16.110</a:t>
            </a:r>
          </a:p>
        </p:txBody>
      </p:sp>
      <p:sp>
        <p:nvSpPr>
          <p:cNvPr id="51" name="tb51"/>
          <p:cNvSpPr txBox="1"/>
          <p:nvPr/>
        </p:nvSpPr>
        <p:spPr>
          <a:xfrm>
            <a:off x="750000" y="3300000"/>
            <a:ext cx="5950000" cy="9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600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julgados de revisão e renovatória de locação do TJSP, 2010 a 2024 (parte PJ), à disposição do XY&amp;A para responder boas perguntas.</a:t>
            </a:r>
          </a:p>
        </p:txBody>
      </p:sp>
      <p:sp>
        <p:nvSpPr>
          <p:cNvPr id="52" name="tb52"/>
          <p:cNvSpPr txBox="1"/>
          <p:nvPr/>
        </p:nvSpPr>
        <p:spPr>
          <a:xfrm>
            <a:off x="750000" y="4350000"/>
            <a:ext cx="5950000" cy="220000"/>
          </a:xfrm>
          <a:prstGeom prst="rect">
            <a:avLst/>
          </a:prstGeom>
          <a:noFill/>
        </p:spPr>
        <p:txBody>
          <a:bodyPr wrap="square" anchor="b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000" b="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CNJ (2024); TJSP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gr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b10"/>
          <p:cNvSpPr txBox="1"/>
          <p:nvPr/>
        </p:nvSpPr>
        <p:spPr>
          <a:xfrm>
            <a:off x="750000" y="500000"/>
            <a:ext cx="5950000" cy="9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4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Armadilhas ao formular</a:t>
            </a:r>
          </a:p>
        </p:txBody>
      </p:sp>
      <p:sp>
        <p:nvSpPr>
          <p:cNvPr id="11" name="rect11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50" name="rect50"/>
          <p:cNvSpPr/>
          <p:nvPr/>
        </p:nvSpPr>
        <p:spPr>
          <a:xfrm>
            <a:off x="750000" y="1750000"/>
            <a:ext cx="5950000" cy="820000"/>
          </a:xfrm>
          <a:prstGeom prst="roundRect">
            <a:avLst>
              <a:gd name="adj" fmla="val 6500"/>
            </a:avLst>
          </a:prstGeom>
          <a:solidFill>
            <a:srgbClr val="F4F4F4"/>
          </a:solidFill>
          <a:ln w="15000">
            <a:solidFill>
              <a:srgbClr val="E8A317"/>
            </a:solidFill>
          </a:ln>
        </p:spPr>
        <p:txBody>
          <a:bodyPr wrap="square" anchor="t" lIns="180000" rIns="180000" tIns="120000" bIns="120000"/>
          <a:lstStyle/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lang="pt-BR" sz="1400" b="1" i="0">
                <a:solidFill>
                  <a:srgbClr val="1B2A4A"/>
                </a:solidFill>
                <a:latin typeface="Arial Black"/>
              </a:rPr>
              <a:t>⚠  Pergunta de mão dupla disfarçada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lang="pt-BR" sz="1150" b="0" i="0">
                <a:solidFill>
                  <a:srgbClr val="333333"/>
                </a:solidFill>
                <a:latin typeface="Arial"/>
              </a:rPr>
              <a:t>Pedir 'taxa de êxito' sem definir o que conta como êxito (procedência total, parcial, acordo) inviabiliza a contagem.</a:t>
            </a:r>
          </a:p>
        </p:txBody>
      </p:sp>
      <p:sp>
        <p:nvSpPr>
          <p:cNvPr id="53" name="rect53"/>
          <p:cNvSpPr/>
          <p:nvPr/>
        </p:nvSpPr>
        <p:spPr>
          <a:xfrm>
            <a:off x="750000" y="2600000"/>
            <a:ext cx="5950000" cy="820000"/>
          </a:xfrm>
          <a:prstGeom prst="roundRect">
            <a:avLst>
              <a:gd name="adj" fmla="val 6500"/>
            </a:avLst>
          </a:prstGeom>
          <a:solidFill>
            <a:srgbClr val="F4F4F4"/>
          </a:solidFill>
          <a:ln w="15000">
            <a:solidFill>
              <a:srgbClr val="E8A317"/>
            </a:solidFill>
          </a:ln>
        </p:spPr>
        <p:txBody>
          <a:bodyPr wrap="square" anchor="t" lIns="180000" rIns="180000" tIns="120000" bIns="120000"/>
          <a:lstStyle/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lang="pt-BR" sz="1400" b="1" i="0">
                <a:solidFill>
                  <a:srgbClr val="1B2A4A"/>
                </a:solidFill>
                <a:latin typeface="Arial Black"/>
              </a:rPr>
              <a:t>⚠  Comparar sem grupo de controle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lang="pt-BR" sz="1150" b="0" i="0">
                <a:solidFill>
                  <a:srgbClr val="333333"/>
                </a:solidFill>
                <a:latin typeface="Arial"/>
              </a:rPr>
              <a:t>'Esse juiz decide pior?' sem referência: pior comparado a quê? Sempre fixe o ponto de comparação antes de coletar.</a:t>
            </a:r>
          </a:p>
        </p:txBody>
      </p:sp>
      <p:sp>
        <p:nvSpPr>
          <p:cNvPr id="56" name="rect56"/>
          <p:cNvSpPr/>
          <p:nvPr/>
        </p:nvSpPr>
        <p:spPr>
          <a:xfrm>
            <a:off x="750000" y="3450000"/>
            <a:ext cx="5950000" cy="820000"/>
          </a:xfrm>
          <a:prstGeom prst="roundRect">
            <a:avLst>
              <a:gd name="adj" fmla="val 6500"/>
            </a:avLst>
          </a:prstGeom>
          <a:solidFill>
            <a:srgbClr val="F4F4F4"/>
          </a:solidFill>
          <a:ln w="15000">
            <a:solidFill>
              <a:srgbClr val="E8A317"/>
            </a:solidFill>
          </a:ln>
        </p:spPr>
        <p:txBody>
          <a:bodyPr wrap="square" anchor="t" lIns="180000" rIns="180000" tIns="120000" bIns="120000"/>
          <a:lstStyle/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lang="pt-BR" sz="1400" b="1" i="0">
                <a:solidFill>
                  <a:srgbClr val="1B2A4A"/>
                </a:solidFill>
                <a:latin typeface="Arial Black"/>
              </a:rPr>
              <a:t>⚠  Pergunta interessante e impossível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lang="pt-BR" sz="1150" b="0" i="0">
                <a:solidFill>
                  <a:srgbClr val="333333"/>
                </a:solidFill>
                <a:latin typeface="Arial"/>
              </a:rPr>
              <a:t>Variáveis necessárias não estão na base nem em fonte pública. Cheque viabilidade na Etapa 2 antes de prometer resposta.</a:t>
            </a:r>
          </a:p>
        </p:txBody>
      </p:sp>
      <p:sp>
        <p:nvSpPr>
          <p:cNvPr id="80" name="tb80"/>
          <p:cNvSpPr txBox="1"/>
          <p:nvPr/>
        </p:nvSpPr>
        <p:spPr>
          <a:xfrm>
            <a:off x="750000" y="4350000"/>
            <a:ext cx="5950000" cy="220000"/>
          </a:xfrm>
          <a:prstGeom prst="rect">
            <a:avLst/>
          </a:prstGeom>
          <a:noFill/>
        </p:spPr>
        <p:txBody>
          <a:bodyPr wrap="square" anchor="b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000" b="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Huff (2016); Silver (2013)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gr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b10"/>
          <p:cNvSpPr txBox="1"/>
          <p:nvPr/>
        </p:nvSpPr>
        <p:spPr>
          <a:xfrm>
            <a:off x="750000" y="500000"/>
            <a:ext cx="5950000" cy="9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4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Mini-caso XY&amp;A</a:t>
            </a:r>
          </a:p>
        </p:txBody>
      </p:sp>
      <p:sp>
        <p:nvSpPr>
          <p:cNvPr id="11" name="rect11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12" name="tb12"/>
          <p:cNvSpPr txBox="1"/>
          <p:nvPr/>
        </p:nvSpPr>
        <p:spPr>
          <a:xfrm>
            <a:off x="750000" y="1330000"/>
            <a:ext cx="5950000" cy="4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400" b="1" i="0">
                <a:solidFill>
                  <a:srgbClr val="E8A317"/>
                </a:solidFill>
                <a:latin typeface="Arial"/>
                <a:ea typeface="Arial"/>
                <a:cs typeface="Arial"/>
              </a:rPr>
              <a:t>Da intuição à pergunta investigável</a:t>
            </a:r>
          </a:p>
        </p:txBody>
      </p:sp>
      <p:sp>
        <p:nvSpPr>
          <p:cNvPr id="50" name="rect50"/>
          <p:cNvSpPr/>
          <p:nvPr/>
        </p:nvSpPr>
        <p:spPr>
          <a:xfrm>
            <a:off x="800000" y="1800000"/>
            <a:ext cx="5850000" cy="2400000"/>
          </a:xfrm>
          <a:prstGeom prst="roundRect">
            <a:avLst>
              <a:gd name="adj" fmla="val 6500"/>
            </a:avLst>
          </a:prstGeom>
          <a:solidFill>
            <a:srgbClr val="F4F4F4"/>
          </a:solidFill>
          <a:ln w="9525">
            <a:solidFill>
              <a:srgbClr val="1B2A4A"/>
            </a:solidFill>
          </a:ln>
        </p:spPr>
        <p:txBody>
          <a:bodyPr wrap="square" anchor="t" lIns="180000" rIns="180000" tIns="120000" bIns="120000"/>
          <a:lstStyle/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lang="pt-BR" sz="1400" b="0" i="0">
                <a:solidFill>
                  <a:srgbClr val="333333"/>
                </a:solidFill>
                <a:latin typeface="Arial"/>
              </a:rPr>
              <a:t>Intuição do sócio: estamos perdendo mais renovatórias do que antes.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lang="pt-BR" sz="1400" b="0" i="0">
                <a:solidFill>
                  <a:srgbClr val="333333"/>
                </a:solidFill>
                <a:latin typeface="Arial"/>
              </a:rPr>
              <a:t>Pergunta investigável: nas renovatórias do TJSP, 2018 a 2024, com parte PJ, qual a evolução anual da taxa de procedência em favor do locador?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lang="pt-BR" sz="1400" b="0" i="0">
                <a:solidFill>
                  <a:srgbClr val="333333"/>
                </a:solidFill>
                <a:latin typeface="Arial"/>
              </a:rPr>
              <a:t>Variáveis necessárias (já aparecem na Etapa 2): tipo de ação, ano da sentença, parte, desfecho.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gr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b10"/>
          <p:cNvSpPr txBox="1"/>
          <p:nvPr/>
        </p:nvSpPr>
        <p:spPr>
          <a:xfrm>
            <a:off x="750000" y="500000"/>
            <a:ext cx="5950000" cy="9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4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Síntese da Etapa 1</a:t>
            </a:r>
          </a:p>
        </p:txBody>
      </p:sp>
      <p:sp>
        <p:nvSpPr>
          <p:cNvPr id="11" name="rect11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12" name="tb12"/>
          <p:cNvSpPr txBox="1"/>
          <p:nvPr/>
        </p:nvSpPr>
        <p:spPr>
          <a:xfrm>
            <a:off x="750000" y="1330000"/>
            <a:ext cx="5950000" cy="4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400" b="1" i="0">
                <a:solidFill>
                  <a:srgbClr val="E8A317"/>
                </a:solidFill>
                <a:latin typeface="Arial"/>
                <a:ea typeface="Arial"/>
                <a:cs typeface="Arial"/>
              </a:rPr>
              <a:t>Checklist da boa pergunta</a:t>
            </a:r>
          </a:p>
        </p:txBody>
      </p:sp>
      <p:sp>
        <p:nvSpPr>
          <p:cNvPr id="50" name="rect50"/>
          <p:cNvSpPr/>
          <p:nvPr/>
        </p:nvSpPr>
        <p:spPr>
          <a:xfrm>
            <a:off x="800000" y="1800000"/>
            <a:ext cx="5850000" cy="2400000"/>
          </a:xfrm>
          <a:prstGeom prst="roundRect">
            <a:avLst>
              <a:gd name="adj" fmla="val 6500"/>
            </a:avLst>
          </a:prstGeom>
          <a:solidFill>
            <a:srgbClr val="F4F4F4"/>
          </a:solidFill>
          <a:ln w="9525">
            <a:solidFill>
              <a:srgbClr val="1B2A4A"/>
            </a:solidFill>
          </a:ln>
        </p:spPr>
        <p:txBody>
          <a:bodyPr wrap="square" anchor="t" lIns="180000" rIns="180000" tIns="120000" bIns="120000"/>
          <a:lstStyle/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lang="pt-BR" sz="1400" b="0" i="0">
                <a:solidFill>
                  <a:srgbClr val="333333"/>
                </a:solidFill>
                <a:latin typeface="Arial"/>
              </a:rPr>
              <a:t>Especifiquei matéria, jurisdição e período?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lang="pt-BR" sz="1400" b="0" i="0">
                <a:solidFill>
                  <a:srgbClr val="333333"/>
                </a:solidFill>
                <a:latin typeface="Arial"/>
              </a:rPr>
              <a:t>Defini a variável central da resposta (taxa, mediana, evolução)?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lang="pt-BR" sz="1400" b="0" i="0">
                <a:solidFill>
                  <a:srgbClr val="333333"/>
                </a:solidFill>
                <a:latin typeface="Arial"/>
              </a:rPr>
              <a:t>Tenho um ponto de comparação (média, outra vara, outro ano)?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lang="pt-BR" sz="1400" b="0" i="0">
                <a:solidFill>
                  <a:srgbClr val="333333"/>
                </a:solidFill>
                <a:latin typeface="Arial"/>
              </a:rPr>
              <a:t>Sei qual decisão concreta vai mudar com a resposta?</a:t>
            </a:r>
          </a:p>
        </p:txBody>
      </p:sp>
      <p:sp>
        <p:nvSpPr>
          <p:cNvPr id="51" name="tb51"/>
          <p:cNvSpPr txBox="1"/>
          <p:nvPr/>
        </p:nvSpPr>
        <p:spPr>
          <a:xfrm>
            <a:off x="750000" y="4350000"/>
            <a:ext cx="5950000" cy="220000"/>
          </a:xfrm>
          <a:prstGeom prst="rect">
            <a:avLst/>
          </a:prstGeom>
          <a:noFill/>
        </p:spPr>
        <p:txBody>
          <a:bodyPr wrap="square" anchor="b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000" b="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Nunes (2019)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gr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b20"/>
          <p:cNvSpPr txBox="1"/>
          <p:nvPr/>
        </p:nvSpPr>
        <p:spPr>
          <a:xfrm>
            <a:off x="1097275" y="900000"/>
            <a:ext cx="2400000" cy="11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9600" b="1" i="0">
                <a:solidFill>
                  <a:srgbClr val="E8A317"/>
                </a:solidFill>
                <a:latin typeface="Arial Black"/>
                <a:ea typeface="Arial Black"/>
                <a:cs typeface="Arial Black"/>
              </a:rPr>
              <a:t>04</a:t>
            </a:r>
          </a:p>
        </p:txBody>
      </p:sp>
      <p:sp>
        <p:nvSpPr>
          <p:cNvPr id="21" name="tb21"/>
          <p:cNvSpPr txBox="1"/>
          <p:nvPr/>
        </p:nvSpPr>
        <p:spPr>
          <a:xfrm>
            <a:off x="1097275" y="2100000"/>
            <a:ext cx="6500000" cy="11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36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Etapa 2: mapeamento</a:t>
            </a:r>
          </a:p>
        </p:txBody>
      </p:sp>
      <p:sp>
        <p:nvSpPr>
          <p:cNvPr id="22" name="rect22"/>
          <p:cNvSpPr/>
          <p:nvPr/>
        </p:nvSpPr>
        <p:spPr>
          <a:xfrm>
            <a:off x="1097280" y="3250000"/>
            <a:ext cx="1500000" cy="54864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23" name="tb23"/>
          <p:cNvSpPr txBox="1"/>
          <p:nvPr/>
        </p:nvSpPr>
        <p:spPr>
          <a:xfrm>
            <a:off x="1097280" y="3400000"/>
            <a:ext cx="5486400" cy="5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400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Que variáveis responderiam à pergunta?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gr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b10"/>
          <p:cNvSpPr txBox="1"/>
          <p:nvPr/>
        </p:nvSpPr>
        <p:spPr>
          <a:xfrm>
            <a:off x="750000" y="500000"/>
            <a:ext cx="5950000" cy="9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4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O que significa mapear</a:t>
            </a:r>
          </a:p>
        </p:txBody>
      </p:sp>
      <p:sp>
        <p:nvSpPr>
          <p:cNvPr id="11" name="rect11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50" name="tb50"/>
          <p:cNvSpPr txBox="1"/>
          <p:nvPr/>
        </p:nvSpPr>
        <p:spPr>
          <a:xfrm>
            <a:off x="750000" y="1700000"/>
            <a:ext cx="5950000" cy="245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30000"/>
              </a:lnSpc>
              <a:spcBef>
                <a:spcPts val="600"/>
              </a:spcBef>
              <a:buNone/>
            </a:pPr>
            <a:r>
              <a:rPr lang="pt-BR" sz="15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Mapear é traduzir a pergunta em variáveis concretas: cada palavra-chave da pergunta vira uma coluna da futura tabela.</a:t>
            </a:r>
          </a:p>
          <a:p>
            <a:pPr lvl="0" marL="0" indent="0" algn="l">
              <a:lnSpc>
                <a:spcPct val="130000"/>
              </a:lnSpc>
              <a:spcBef>
                <a:spcPts val="600"/>
              </a:spcBef>
              <a:buNone/>
            </a:pPr>
            <a:r>
              <a:rPr lang="pt-BR" sz="15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Variáveis vêm de duas perguntas espelhadas: o que precisa estar na linha (cada processo, cada sentença) e o que precisa estar na coluna (cada atributo).</a:t>
            </a:r>
          </a:p>
          <a:p>
            <a:pPr lvl="0" marL="0" indent="0" algn="l">
              <a:lnSpc>
                <a:spcPct val="130000"/>
              </a:lnSpc>
              <a:spcBef>
                <a:spcPts val="600"/>
              </a:spcBef>
              <a:buNone/>
            </a:pPr>
            <a:r>
              <a:rPr lang="pt-BR" sz="15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Sem mapeamento, a coleta vira pesca: se traz tudo, complica; se traz pouco, falta para responder.</a:t>
            </a:r>
          </a:p>
        </p:txBody>
      </p:sp>
      <p:sp>
        <p:nvSpPr>
          <p:cNvPr id="51" name="tb51"/>
          <p:cNvSpPr txBox="1"/>
          <p:nvPr/>
        </p:nvSpPr>
        <p:spPr>
          <a:xfrm>
            <a:off x="750000" y="4350000"/>
            <a:ext cx="5950000" cy="220000"/>
          </a:xfrm>
          <a:prstGeom prst="rect">
            <a:avLst/>
          </a:prstGeom>
          <a:noFill/>
        </p:spPr>
        <p:txBody>
          <a:bodyPr wrap="square" anchor="b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000" b="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Nunes (2019); Wheelan (2016)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gr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b10"/>
          <p:cNvSpPr txBox="1"/>
          <p:nvPr/>
        </p:nvSpPr>
        <p:spPr>
          <a:xfrm>
            <a:off x="750000" y="500000"/>
            <a:ext cx="5950000" cy="9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4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Tipos de variável (revisita da Aula 1)</a:t>
            </a:r>
          </a:p>
        </p:txBody>
      </p:sp>
      <p:sp>
        <p:nvSpPr>
          <p:cNvPr id="11" name="rect11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50" name="rect50"/>
          <p:cNvSpPr/>
          <p:nvPr/>
        </p:nvSpPr>
        <p:spPr>
          <a:xfrm>
            <a:off x="750000" y="1780000"/>
            <a:ext cx="2870000" cy="480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700" b="1" i="0">
                <a:solidFill>
                  <a:srgbClr val="FFFFFF"/>
                </a:solidFill>
                <a:latin typeface="Arial Black"/>
              </a:rPr>
              <a:t>Categóricas</a:t>
            </a:r>
          </a:p>
        </p:txBody>
      </p:sp>
      <p:sp>
        <p:nvSpPr>
          <p:cNvPr id="51" name="rect51"/>
          <p:cNvSpPr/>
          <p:nvPr/>
        </p:nvSpPr>
        <p:spPr>
          <a:xfrm>
            <a:off x="3830000" y="1780000"/>
            <a:ext cx="2870000" cy="4800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700" b="1" i="0">
                <a:solidFill>
                  <a:srgbClr val="1B2A4A"/>
                </a:solidFill>
                <a:latin typeface="Arial Black"/>
              </a:rPr>
              <a:t>Numéricas e temporais</a:t>
            </a:r>
          </a:p>
        </p:txBody>
      </p:sp>
      <p:sp>
        <p:nvSpPr>
          <p:cNvPr id="52" name="tb52"/>
          <p:cNvSpPr txBox="1"/>
          <p:nvPr/>
        </p:nvSpPr>
        <p:spPr>
          <a:xfrm>
            <a:off x="750000" y="2260000"/>
            <a:ext cx="2870000" cy="185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285750" indent="-285750" algn="l">
              <a:lnSpc>
                <a:spcPct val="120000"/>
              </a:lnSpc>
              <a:spcBef>
                <a:spcPts val="400"/>
              </a:spcBef>
              <a:buClr>
                <a:srgbClr val="1B2A4A"/>
              </a:buClr>
              <a:buFont typeface="Arial"/>
              <a:buChar char="•"/>
            </a:pPr>
            <a:r>
              <a:rPr lang="pt-BR" sz="12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Tipo de ação: revisão ou renovatória.</a:t>
            </a:r>
          </a:p>
          <a:p>
            <a:pPr lvl="0" marL="285750" indent="-285750" algn="l">
              <a:lnSpc>
                <a:spcPct val="120000"/>
              </a:lnSpc>
              <a:spcBef>
                <a:spcPts val="400"/>
              </a:spcBef>
              <a:buClr>
                <a:srgbClr val="1B2A4A"/>
              </a:buClr>
              <a:buFont typeface="Arial"/>
              <a:buChar char="•"/>
            </a:pPr>
            <a:r>
              <a:rPr lang="pt-BR" sz="12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Comarca, vara, classe processual.</a:t>
            </a:r>
          </a:p>
          <a:p>
            <a:pPr lvl="0" marL="285750" indent="-285750" algn="l">
              <a:lnSpc>
                <a:spcPct val="120000"/>
              </a:lnSpc>
              <a:spcBef>
                <a:spcPts val="400"/>
              </a:spcBef>
              <a:buClr>
                <a:srgbClr val="1B2A4A"/>
              </a:buClr>
              <a:buFont typeface="Arial"/>
              <a:buChar char="•"/>
            </a:pPr>
            <a:r>
              <a:rPr lang="pt-BR" sz="12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Desfecho: procedência, improcedência, acordo, extinção.</a:t>
            </a:r>
          </a:p>
          <a:p>
            <a:pPr lvl="0" marL="285750" indent="-285750" algn="l">
              <a:lnSpc>
                <a:spcPct val="120000"/>
              </a:lnSpc>
              <a:spcBef>
                <a:spcPts val="400"/>
              </a:spcBef>
              <a:buClr>
                <a:srgbClr val="1B2A4A"/>
              </a:buClr>
              <a:buFont typeface="Arial"/>
              <a:buChar char="•"/>
            </a:pPr>
            <a:r>
              <a:rPr lang="pt-BR" sz="12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Parte: pessoa jurídica ou física.</a:t>
            </a:r>
          </a:p>
        </p:txBody>
      </p:sp>
      <p:sp>
        <p:nvSpPr>
          <p:cNvPr id="53" name="tb53"/>
          <p:cNvSpPr txBox="1"/>
          <p:nvPr/>
        </p:nvSpPr>
        <p:spPr>
          <a:xfrm>
            <a:off x="3830000" y="2260000"/>
            <a:ext cx="2870000" cy="185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285750" indent="-285750" algn="l">
              <a:lnSpc>
                <a:spcPct val="120000"/>
              </a:lnSpc>
              <a:spcBef>
                <a:spcPts val="400"/>
              </a:spcBef>
              <a:buClr>
                <a:srgbClr val="E8A317"/>
              </a:buClr>
              <a:buFont typeface="Arial"/>
              <a:buChar char="•"/>
            </a:pPr>
            <a:r>
              <a:rPr lang="pt-BR" sz="12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Valor da causa, valor de condenação, valor acordado.</a:t>
            </a:r>
          </a:p>
          <a:p>
            <a:pPr lvl="0" marL="285750" indent="-285750" algn="l">
              <a:lnSpc>
                <a:spcPct val="120000"/>
              </a:lnSpc>
              <a:spcBef>
                <a:spcPts val="400"/>
              </a:spcBef>
              <a:buClr>
                <a:srgbClr val="E8A317"/>
              </a:buClr>
              <a:buFont typeface="Arial"/>
              <a:buChar char="•"/>
            </a:pPr>
            <a:r>
              <a:rPr lang="pt-BR" sz="12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Data de distribuição, data da sentença, data de baixa.</a:t>
            </a:r>
          </a:p>
          <a:p>
            <a:pPr lvl="0" marL="285750" indent="-285750" algn="l">
              <a:lnSpc>
                <a:spcPct val="120000"/>
              </a:lnSpc>
              <a:spcBef>
                <a:spcPts val="400"/>
              </a:spcBef>
              <a:buClr>
                <a:srgbClr val="E8A317"/>
              </a:buClr>
              <a:buFont typeface="Arial"/>
              <a:buChar char="•"/>
            </a:pPr>
            <a:r>
              <a:rPr lang="pt-BR" sz="12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Tempo de tramitação, em dias.</a:t>
            </a:r>
          </a:p>
          <a:p>
            <a:pPr lvl="0" marL="285750" indent="-285750" algn="l">
              <a:lnSpc>
                <a:spcPct val="120000"/>
              </a:lnSpc>
              <a:spcBef>
                <a:spcPts val="400"/>
              </a:spcBef>
              <a:buClr>
                <a:srgbClr val="E8A317"/>
              </a:buClr>
              <a:buFont typeface="Arial"/>
              <a:buChar char="•"/>
            </a:pPr>
            <a:r>
              <a:rPr lang="pt-BR" sz="12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Quantidade de recursos, partes, audiências.</a:t>
            </a:r>
          </a:p>
        </p:txBody>
      </p:sp>
      <p:sp>
        <p:nvSpPr>
          <p:cNvPr id="54" name="tb54"/>
          <p:cNvSpPr txBox="1"/>
          <p:nvPr/>
        </p:nvSpPr>
        <p:spPr>
          <a:xfrm>
            <a:off x="750000" y="4350000"/>
            <a:ext cx="5950000" cy="220000"/>
          </a:xfrm>
          <a:prstGeom prst="rect">
            <a:avLst/>
          </a:prstGeom>
          <a:noFill/>
        </p:spPr>
        <p:txBody>
          <a:bodyPr wrap="square" anchor="b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000" b="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Wheelan (2016)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gr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b10"/>
          <p:cNvSpPr txBox="1"/>
          <p:nvPr/>
        </p:nvSpPr>
        <p:spPr>
          <a:xfrm>
            <a:off x="750000" y="500000"/>
            <a:ext cx="5950000" cy="9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4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Variáveis disponíveis na base TJSP</a:t>
            </a:r>
          </a:p>
        </p:txBody>
      </p:sp>
      <p:sp>
        <p:nvSpPr>
          <p:cNvPr id="11" name="rect11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50" name="rect50"/>
          <p:cNvSpPr/>
          <p:nvPr/>
        </p:nvSpPr>
        <p:spPr>
          <a:xfrm>
            <a:off x="750000" y="1780000"/>
            <a:ext cx="1700000" cy="380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300" b="1" i="0">
                <a:solidFill>
                  <a:srgbClr val="FFFFFF"/>
                </a:solidFill>
                <a:latin typeface="Arial Black"/>
              </a:rPr>
              <a:t>Variável</a:t>
            </a:r>
          </a:p>
        </p:txBody>
      </p:sp>
      <p:sp>
        <p:nvSpPr>
          <p:cNvPr id="51" name="rect51"/>
          <p:cNvSpPr/>
          <p:nvPr/>
        </p:nvSpPr>
        <p:spPr>
          <a:xfrm>
            <a:off x="2450000" y="1780000"/>
            <a:ext cx="1300000" cy="380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300" b="1" i="0">
                <a:solidFill>
                  <a:srgbClr val="FFFFFF"/>
                </a:solidFill>
                <a:latin typeface="Arial Black"/>
              </a:rPr>
              <a:t>Tipo</a:t>
            </a:r>
          </a:p>
        </p:txBody>
      </p:sp>
      <p:sp>
        <p:nvSpPr>
          <p:cNvPr id="52" name="rect52"/>
          <p:cNvSpPr/>
          <p:nvPr/>
        </p:nvSpPr>
        <p:spPr>
          <a:xfrm>
            <a:off x="3750000" y="1780000"/>
            <a:ext cx="2950000" cy="380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300" b="1" i="0">
                <a:solidFill>
                  <a:srgbClr val="FFFFFF"/>
                </a:solidFill>
                <a:latin typeface="Arial Black"/>
              </a:rPr>
              <a:t>O que ela permite responder</a:t>
            </a:r>
          </a:p>
        </p:txBody>
      </p:sp>
      <p:sp>
        <p:nvSpPr>
          <p:cNvPr id="53" name="rect53"/>
          <p:cNvSpPr/>
          <p:nvPr/>
        </p:nvSpPr>
        <p:spPr>
          <a:xfrm>
            <a:off x="750000" y="2160000"/>
            <a:ext cx="1700000" cy="320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200" b="0" i="0">
                <a:solidFill>
                  <a:srgbClr val="333333"/>
                </a:solidFill>
                <a:latin typeface="Arial"/>
              </a:rPr>
              <a:t>Tipo de ação</a:t>
            </a:r>
          </a:p>
        </p:txBody>
      </p:sp>
      <p:sp>
        <p:nvSpPr>
          <p:cNvPr id="54" name="rect54"/>
          <p:cNvSpPr/>
          <p:nvPr/>
        </p:nvSpPr>
        <p:spPr>
          <a:xfrm>
            <a:off x="2450000" y="2160000"/>
            <a:ext cx="1300000" cy="320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200" b="0" i="0">
                <a:solidFill>
                  <a:srgbClr val="333333"/>
                </a:solidFill>
                <a:latin typeface="Arial"/>
              </a:rPr>
              <a:t>Categórica</a:t>
            </a:r>
          </a:p>
        </p:txBody>
      </p:sp>
      <p:sp>
        <p:nvSpPr>
          <p:cNvPr id="55" name="rect55"/>
          <p:cNvSpPr/>
          <p:nvPr/>
        </p:nvSpPr>
        <p:spPr>
          <a:xfrm>
            <a:off x="3750000" y="2160000"/>
            <a:ext cx="2950000" cy="320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200" b="0" i="0">
                <a:solidFill>
                  <a:srgbClr val="333333"/>
                </a:solidFill>
                <a:latin typeface="Arial"/>
              </a:rPr>
              <a:t>Comparar revisão x renovatória</a:t>
            </a:r>
          </a:p>
        </p:txBody>
      </p:sp>
      <p:sp>
        <p:nvSpPr>
          <p:cNvPr id="56" name="rect56"/>
          <p:cNvSpPr/>
          <p:nvPr/>
        </p:nvSpPr>
        <p:spPr>
          <a:xfrm>
            <a:off x="750000" y="2480000"/>
            <a:ext cx="1700000" cy="3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200" b="0" i="0">
                <a:solidFill>
                  <a:srgbClr val="333333"/>
                </a:solidFill>
                <a:latin typeface="Arial"/>
              </a:rPr>
              <a:t>Comarca / vara</a:t>
            </a:r>
          </a:p>
        </p:txBody>
      </p:sp>
      <p:sp>
        <p:nvSpPr>
          <p:cNvPr id="57" name="rect57"/>
          <p:cNvSpPr/>
          <p:nvPr/>
        </p:nvSpPr>
        <p:spPr>
          <a:xfrm>
            <a:off x="2450000" y="2480000"/>
            <a:ext cx="1300000" cy="3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200" b="0" i="0">
                <a:solidFill>
                  <a:srgbClr val="333333"/>
                </a:solidFill>
                <a:latin typeface="Arial"/>
              </a:rPr>
              <a:t>Categórica</a:t>
            </a:r>
          </a:p>
        </p:txBody>
      </p:sp>
      <p:sp>
        <p:nvSpPr>
          <p:cNvPr id="58" name="rect58"/>
          <p:cNvSpPr/>
          <p:nvPr/>
        </p:nvSpPr>
        <p:spPr>
          <a:xfrm>
            <a:off x="3750000" y="2480000"/>
            <a:ext cx="2950000" cy="3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200" b="0" i="0">
                <a:solidFill>
                  <a:srgbClr val="333333"/>
                </a:solidFill>
                <a:latin typeface="Arial"/>
              </a:rPr>
              <a:t>Concentração geográfica e por juízo</a:t>
            </a:r>
          </a:p>
        </p:txBody>
      </p:sp>
      <p:sp>
        <p:nvSpPr>
          <p:cNvPr id="59" name="rect59"/>
          <p:cNvSpPr/>
          <p:nvPr/>
        </p:nvSpPr>
        <p:spPr>
          <a:xfrm>
            <a:off x="750000" y="2800000"/>
            <a:ext cx="1700000" cy="320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200" b="0" i="0">
                <a:solidFill>
                  <a:srgbClr val="333333"/>
                </a:solidFill>
                <a:latin typeface="Arial"/>
              </a:rPr>
              <a:t>Data de distribuição</a:t>
            </a:r>
          </a:p>
        </p:txBody>
      </p:sp>
      <p:sp>
        <p:nvSpPr>
          <p:cNvPr id="60" name="rect60"/>
          <p:cNvSpPr/>
          <p:nvPr/>
        </p:nvSpPr>
        <p:spPr>
          <a:xfrm>
            <a:off x="2450000" y="2800000"/>
            <a:ext cx="1300000" cy="320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200" b="0" i="0">
                <a:solidFill>
                  <a:srgbClr val="333333"/>
                </a:solidFill>
                <a:latin typeface="Arial"/>
              </a:rPr>
              <a:t>Temporal</a:t>
            </a:r>
          </a:p>
        </p:txBody>
      </p:sp>
      <p:sp>
        <p:nvSpPr>
          <p:cNvPr id="61" name="rect61"/>
          <p:cNvSpPr/>
          <p:nvPr/>
        </p:nvSpPr>
        <p:spPr>
          <a:xfrm>
            <a:off x="3750000" y="2800000"/>
            <a:ext cx="2950000" cy="320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200" b="0" i="0">
                <a:solidFill>
                  <a:srgbClr val="333333"/>
                </a:solidFill>
                <a:latin typeface="Arial"/>
              </a:rPr>
              <a:t>Volume e sazonalidade ao longo do tempo</a:t>
            </a:r>
          </a:p>
        </p:txBody>
      </p:sp>
      <p:sp>
        <p:nvSpPr>
          <p:cNvPr id="62" name="rect62"/>
          <p:cNvSpPr/>
          <p:nvPr/>
        </p:nvSpPr>
        <p:spPr>
          <a:xfrm>
            <a:off x="750000" y="3120000"/>
            <a:ext cx="1700000" cy="3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200" b="0" i="0">
                <a:solidFill>
                  <a:srgbClr val="333333"/>
                </a:solidFill>
                <a:latin typeface="Arial"/>
              </a:rPr>
              <a:t>Data da sentença</a:t>
            </a:r>
          </a:p>
        </p:txBody>
      </p:sp>
      <p:sp>
        <p:nvSpPr>
          <p:cNvPr id="63" name="rect63"/>
          <p:cNvSpPr/>
          <p:nvPr/>
        </p:nvSpPr>
        <p:spPr>
          <a:xfrm>
            <a:off x="2450000" y="3120000"/>
            <a:ext cx="1300000" cy="3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200" b="0" i="0">
                <a:solidFill>
                  <a:srgbClr val="333333"/>
                </a:solidFill>
                <a:latin typeface="Arial"/>
              </a:rPr>
              <a:t>Temporal</a:t>
            </a:r>
          </a:p>
        </p:txBody>
      </p:sp>
      <p:sp>
        <p:nvSpPr>
          <p:cNvPr id="64" name="rect64"/>
          <p:cNvSpPr/>
          <p:nvPr/>
        </p:nvSpPr>
        <p:spPr>
          <a:xfrm>
            <a:off x="3750000" y="3120000"/>
            <a:ext cx="2950000" cy="3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200" b="0" i="0">
                <a:solidFill>
                  <a:srgbClr val="333333"/>
                </a:solidFill>
                <a:latin typeface="Arial"/>
              </a:rPr>
              <a:t>Tempo de tramitação</a:t>
            </a:r>
          </a:p>
        </p:txBody>
      </p:sp>
      <p:sp>
        <p:nvSpPr>
          <p:cNvPr id="65" name="rect65"/>
          <p:cNvSpPr/>
          <p:nvPr/>
        </p:nvSpPr>
        <p:spPr>
          <a:xfrm>
            <a:off x="750000" y="3440000"/>
            <a:ext cx="1700000" cy="320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200" b="0" i="0">
                <a:solidFill>
                  <a:srgbClr val="333333"/>
                </a:solidFill>
                <a:latin typeface="Arial"/>
              </a:rPr>
              <a:t>Desfecho</a:t>
            </a:r>
          </a:p>
        </p:txBody>
      </p:sp>
      <p:sp>
        <p:nvSpPr>
          <p:cNvPr id="66" name="rect66"/>
          <p:cNvSpPr/>
          <p:nvPr/>
        </p:nvSpPr>
        <p:spPr>
          <a:xfrm>
            <a:off x="2450000" y="3440000"/>
            <a:ext cx="1300000" cy="320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200" b="0" i="0">
                <a:solidFill>
                  <a:srgbClr val="333333"/>
                </a:solidFill>
                <a:latin typeface="Arial"/>
              </a:rPr>
              <a:t>Categórica</a:t>
            </a:r>
          </a:p>
        </p:txBody>
      </p:sp>
      <p:sp>
        <p:nvSpPr>
          <p:cNvPr id="67" name="rect67"/>
          <p:cNvSpPr/>
          <p:nvPr/>
        </p:nvSpPr>
        <p:spPr>
          <a:xfrm>
            <a:off x="3750000" y="3440000"/>
            <a:ext cx="2950000" cy="320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200" b="0" i="0">
                <a:solidFill>
                  <a:srgbClr val="333333"/>
                </a:solidFill>
                <a:latin typeface="Arial"/>
              </a:rPr>
              <a:t>Taxa de êxito por recorte</a:t>
            </a:r>
          </a:p>
        </p:txBody>
      </p:sp>
      <p:sp>
        <p:nvSpPr>
          <p:cNvPr id="68" name="rect68"/>
          <p:cNvSpPr/>
          <p:nvPr/>
        </p:nvSpPr>
        <p:spPr>
          <a:xfrm>
            <a:off x="750000" y="3760000"/>
            <a:ext cx="1700000" cy="3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200" b="0" i="0">
                <a:solidFill>
                  <a:srgbClr val="333333"/>
                </a:solidFill>
                <a:latin typeface="Arial"/>
              </a:rPr>
              <a:t>Valor da causa</a:t>
            </a:r>
          </a:p>
        </p:txBody>
      </p:sp>
      <p:sp>
        <p:nvSpPr>
          <p:cNvPr id="69" name="rect69"/>
          <p:cNvSpPr/>
          <p:nvPr/>
        </p:nvSpPr>
        <p:spPr>
          <a:xfrm>
            <a:off x="2450000" y="3760000"/>
            <a:ext cx="1300000" cy="3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200" b="0" i="0">
                <a:solidFill>
                  <a:srgbClr val="333333"/>
                </a:solidFill>
                <a:latin typeface="Arial"/>
              </a:rPr>
              <a:t>Numérica</a:t>
            </a:r>
          </a:p>
        </p:txBody>
      </p:sp>
      <p:sp>
        <p:nvSpPr>
          <p:cNvPr id="70" name="rect70"/>
          <p:cNvSpPr/>
          <p:nvPr/>
        </p:nvSpPr>
        <p:spPr>
          <a:xfrm>
            <a:off x="3750000" y="3760000"/>
            <a:ext cx="2950000" cy="3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200" b="0" i="0">
                <a:solidFill>
                  <a:srgbClr val="333333"/>
                </a:solidFill>
                <a:latin typeface="Arial"/>
              </a:rPr>
              <a:t>Distribuição financeira da carteira</a:t>
            </a:r>
          </a:p>
        </p:txBody>
      </p:sp>
      <p:sp>
        <p:nvSpPr>
          <p:cNvPr id="71" name="tb71"/>
          <p:cNvSpPr txBox="1"/>
          <p:nvPr/>
        </p:nvSpPr>
        <p:spPr>
          <a:xfrm>
            <a:off x="750000" y="4350000"/>
            <a:ext cx="5950000" cy="220000"/>
          </a:xfrm>
          <a:prstGeom prst="rect">
            <a:avLst/>
          </a:prstGeom>
          <a:noFill/>
        </p:spPr>
        <p:txBody>
          <a:bodyPr wrap="square" anchor="b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000" b="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CNJ / DataJud (2024); TJSP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gr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b10"/>
          <p:cNvSpPr txBox="1"/>
          <p:nvPr/>
        </p:nvSpPr>
        <p:spPr>
          <a:xfrm>
            <a:off x="750000" y="500000"/>
            <a:ext cx="5950000" cy="9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4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De pergunta a variáveis</a:t>
            </a:r>
          </a:p>
        </p:txBody>
      </p:sp>
      <p:sp>
        <p:nvSpPr>
          <p:cNvPr id="11" name="rect11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12" name="tb12"/>
          <p:cNvSpPr txBox="1"/>
          <p:nvPr/>
        </p:nvSpPr>
        <p:spPr>
          <a:xfrm>
            <a:off x="750000" y="1330000"/>
            <a:ext cx="5950000" cy="4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400" b="1" i="0">
                <a:solidFill>
                  <a:srgbClr val="E8A317"/>
                </a:solidFill>
                <a:latin typeface="Arial"/>
                <a:ea typeface="Arial"/>
                <a:cs typeface="Arial"/>
              </a:rPr>
              <a:t>Exemplo prático</a:t>
            </a:r>
          </a:p>
        </p:txBody>
      </p:sp>
      <p:sp>
        <p:nvSpPr>
          <p:cNvPr id="50" name="rect50"/>
          <p:cNvSpPr/>
          <p:nvPr/>
        </p:nvSpPr>
        <p:spPr>
          <a:xfrm>
            <a:off x="800000" y="1800000"/>
            <a:ext cx="5850000" cy="2400000"/>
          </a:xfrm>
          <a:prstGeom prst="roundRect">
            <a:avLst>
              <a:gd name="adj" fmla="val 6500"/>
            </a:avLst>
          </a:prstGeom>
          <a:solidFill>
            <a:srgbClr val="F4F4F4"/>
          </a:solidFill>
          <a:ln w="9525">
            <a:solidFill>
              <a:srgbClr val="1B2A4A"/>
            </a:solidFill>
          </a:ln>
        </p:spPr>
        <p:txBody>
          <a:bodyPr wrap="square" anchor="t" lIns="180000" rIns="180000" tIns="120000" bIns="120000"/>
          <a:lstStyle/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lang="pt-BR" sz="1400" b="0" i="0">
                <a:solidFill>
                  <a:srgbClr val="333333"/>
                </a:solidFill>
                <a:latin typeface="Arial"/>
              </a:rPr>
              <a:t>Pergunta: o tempo mediano até a sentença em renovatórias do TJSP cresceu de 2019 a 2024?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lang="pt-BR" sz="1400" b="0" i="0">
                <a:solidFill>
                  <a:srgbClr val="333333"/>
                </a:solidFill>
                <a:latin typeface="Arial"/>
              </a:rPr>
              <a:t>Variáveis necessárias: tipo de ação (renovatória), data de distribuição, data de sentença, ano da sentença.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lang="pt-BR" sz="1400" b="0" i="0">
                <a:solidFill>
                  <a:srgbClr val="333333"/>
                </a:solidFill>
                <a:latin typeface="Arial"/>
              </a:rPr>
              <a:t>Operação derivada: tempo de tramitação = data de sentença − data de distribuição. Mediana por ano da sentença.</a:t>
            </a:r>
          </a:p>
        </p:txBody>
      </p:sp>
      <p:sp>
        <p:nvSpPr>
          <p:cNvPr id="51" name="tb51"/>
          <p:cNvSpPr txBox="1"/>
          <p:nvPr/>
        </p:nvSpPr>
        <p:spPr>
          <a:xfrm>
            <a:off x="750000" y="4350000"/>
            <a:ext cx="5950000" cy="220000"/>
          </a:xfrm>
          <a:prstGeom prst="rect">
            <a:avLst/>
          </a:prstGeom>
          <a:noFill/>
        </p:spPr>
        <p:txBody>
          <a:bodyPr wrap="square" anchor="b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000" b="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CNJ (2024); Wheelan (2016)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gr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b10"/>
          <p:cNvSpPr txBox="1"/>
          <p:nvPr/>
        </p:nvSpPr>
        <p:spPr>
          <a:xfrm>
            <a:off x="750000" y="500000"/>
            <a:ext cx="5950000" cy="9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4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Três exemplos de mapeamento</a:t>
            </a:r>
          </a:p>
        </p:txBody>
      </p:sp>
      <p:sp>
        <p:nvSpPr>
          <p:cNvPr id="11" name="rect11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12" name="tb12"/>
          <p:cNvSpPr txBox="1"/>
          <p:nvPr/>
        </p:nvSpPr>
        <p:spPr>
          <a:xfrm>
            <a:off x="750000" y="1330000"/>
            <a:ext cx="5950000" cy="4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400" b="1" i="0">
                <a:solidFill>
                  <a:srgbClr val="E8A317"/>
                </a:solidFill>
                <a:latin typeface="Arial"/>
                <a:ea typeface="Arial"/>
                <a:cs typeface="Arial"/>
              </a:rPr>
              <a:t>Da pergunta às variáveis necessárias</a:t>
            </a:r>
          </a:p>
        </p:txBody>
      </p:sp>
      <p:sp>
        <p:nvSpPr>
          <p:cNvPr id="50" name="tb50"/>
          <p:cNvSpPr txBox="1"/>
          <p:nvPr/>
        </p:nvSpPr>
        <p:spPr>
          <a:xfrm>
            <a:off x="750000" y="1780000"/>
            <a:ext cx="5950000" cy="27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20000"/>
              </a:lnSpc>
              <a:spcBef>
                <a:spcPts val="600"/>
              </a:spcBef>
              <a:buNone/>
            </a:pPr>
            <a:r>
              <a:rPr lang="pt-BR" sz="1300" b="1" i="0">
                <a:solidFill>
                  <a:srgbClr val="E8A317"/>
                </a:solidFill>
                <a:latin typeface="Arial Black"/>
                <a:ea typeface="Arial Black"/>
                <a:cs typeface="Arial Black"/>
              </a:rPr>
              <a:t> 1.  </a:t>
            </a:r>
            <a:r>
              <a:rPr lang="pt-BR" sz="13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Existe diferença entre acordos e sentenças no valor envolvido? → tipo de ação, desfecho, valor da causa, valor de condenação ou acordado.</a:t>
            </a:r>
          </a:p>
          <a:p>
            <a:pPr lvl="0" marL="0" indent="0" algn="l">
              <a:lnSpc>
                <a:spcPct val="120000"/>
              </a:lnSpc>
              <a:spcBef>
                <a:spcPts val="600"/>
              </a:spcBef>
              <a:buNone/>
            </a:pPr>
            <a:r>
              <a:rPr lang="pt-BR" sz="1300" b="1" i="0">
                <a:solidFill>
                  <a:srgbClr val="E8A317"/>
                </a:solidFill>
                <a:latin typeface="Arial Black"/>
                <a:ea typeface="Arial Black"/>
                <a:cs typeface="Arial Black"/>
              </a:rPr>
              <a:t> 2.  </a:t>
            </a:r>
            <a:r>
              <a:rPr lang="pt-BR" sz="13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Há concentração de ações em poucas varas? → comarca, vara, ano de distribuição.</a:t>
            </a:r>
          </a:p>
          <a:p>
            <a:pPr lvl="0" marL="0" indent="0" algn="l">
              <a:lnSpc>
                <a:spcPct val="120000"/>
              </a:lnSpc>
              <a:spcBef>
                <a:spcPts val="600"/>
              </a:spcBef>
              <a:buNone/>
            </a:pPr>
            <a:r>
              <a:rPr lang="pt-BR" sz="1300" b="1" i="0">
                <a:solidFill>
                  <a:srgbClr val="E8A317"/>
                </a:solidFill>
                <a:latin typeface="Arial Black"/>
                <a:ea typeface="Arial Black"/>
                <a:cs typeface="Arial Black"/>
              </a:rPr>
              <a:t> 3.  </a:t>
            </a:r>
            <a:r>
              <a:rPr lang="pt-BR" sz="13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A taxa de procedência mudou após 2020? → tipo de ação, ano da sentença, desfecho.</a:t>
            </a:r>
          </a:p>
        </p:txBody>
      </p:sp>
      <p:sp>
        <p:nvSpPr>
          <p:cNvPr id="51" name="tb51"/>
          <p:cNvSpPr txBox="1"/>
          <p:nvPr/>
        </p:nvSpPr>
        <p:spPr>
          <a:xfrm>
            <a:off x="750000" y="4350000"/>
            <a:ext cx="5950000" cy="220000"/>
          </a:xfrm>
          <a:prstGeom prst="rect">
            <a:avLst/>
          </a:prstGeom>
          <a:noFill/>
        </p:spPr>
        <p:txBody>
          <a:bodyPr wrap="square" anchor="b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000" b="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Nunes (2019); ABJ (relatórios)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gr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b10"/>
          <p:cNvSpPr txBox="1"/>
          <p:nvPr/>
        </p:nvSpPr>
        <p:spPr>
          <a:xfrm>
            <a:off x="750000" y="500000"/>
            <a:ext cx="5950000" cy="9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4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Exercício dirigido em sala</a:t>
            </a:r>
          </a:p>
        </p:txBody>
      </p:sp>
      <p:sp>
        <p:nvSpPr>
          <p:cNvPr id="11" name="rect11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12" name="tb12"/>
          <p:cNvSpPr txBox="1"/>
          <p:nvPr/>
        </p:nvSpPr>
        <p:spPr>
          <a:xfrm>
            <a:off x="750000" y="1330000"/>
            <a:ext cx="5950000" cy="4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400" b="1" i="0">
                <a:solidFill>
                  <a:srgbClr val="E8A317"/>
                </a:solidFill>
                <a:latin typeface="Arial"/>
                <a:ea typeface="Arial"/>
                <a:cs typeface="Arial"/>
              </a:rPr>
              <a:t>10 minutos · em duplas</a:t>
            </a:r>
          </a:p>
        </p:txBody>
      </p:sp>
      <p:sp>
        <p:nvSpPr>
          <p:cNvPr id="50" name="rect50"/>
          <p:cNvSpPr/>
          <p:nvPr/>
        </p:nvSpPr>
        <p:spPr>
          <a:xfrm>
            <a:off x="800000" y="1800000"/>
            <a:ext cx="5850000" cy="2400000"/>
          </a:xfrm>
          <a:prstGeom prst="roundRect">
            <a:avLst>
              <a:gd name="adj" fmla="val 6500"/>
            </a:avLst>
          </a:prstGeom>
          <a:solidFill>
            <a:srgbClr val="F4F4F4"/>
          </a:solidFill>
          <a:ln w="9525">
            <a:solidFill>
              <a:srgbClr val="1B2A4A"/>
            </a:solidFill>
          </a:ln>
        </p:spPr>
        <p:txBody>
          <a:bodyPr wrap="square" anchor="t" lIns="180000" rIns="180000" tIns="120000" bIns="120000"/>
          <a:lstStyle/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lang="pt-BR" sz="1400" b="0" i="0">
                <a:solidFill>
                  <a:srgbClr val="333333"/>
                </a:solidFill>
                <a:latin typeface="Arial"/>
              </a:rPr>
              <a:t>Escolha uma das 4 perguntas investigáveis do slide 'Antes e depois' (slide 22).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lang="pt-BR" sz="1400" b="0" i="0">
                <a:solidFill>
                  <a:srgbClr val="333333"/>
                </a:solidFill>
                <a:latin typeface="Arial"/>
              </a:rPr>
              <a:t>Liste em uma folha as variáveis necessárias para respondê-la, separando categóricas, numéricas e temporais.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lang="pt-BR" sz="1400" b="0" i="0">
                <a:solidFill>
                  <a:srgbClr val="333333"/>
                </a:solidFill>
                <a:latin typeface="Arial"/>
              </a:rPr>
              <a:t>Indique se cada variável existe na base do XY&amp;A, se viria de fonte pública (DataJud, CNJ) ou se precisaria ser construída.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gr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b10"/>
          <p:cNvSpPr txBox="1"/>
          <p:nvPr/>
        </p:nvSpPr>
        <p:spPr>
          <a:xfrm>
            <a:off x="750000" y="500000"/>
            <a:ext cx="5950000" cy="9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4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Tudo começa com uma TABELA</a:t>
            </a:r>
          </a:p>
        </p:txBody>
      </p:sp>
      <p:sp>
        <p:nvSpPr>
          <p:cNvPr id="11" name="rect11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12" name="tb12"/>
          <p:cNvSpPr txBox="1"/>
          <p:nvPr/>
        </p:nvSpPr>
        <p:spPr>
          <a:xfrm>
            <a:off x="750000" y="1330000"/>
            <a:ext cx="5950000" cy="4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400" b="1" i="0">
                <a:solidFill>
                  <a:srgbClr val="E8A317"/>
                </a:solidFill>
                <a:latin typeface="Arial"/>
                <a:ea typeface="Arial"/>
                <a:cs typeface="Arial"/>
              </a:rPr>
              <a:t>Insight da Etapa 2</a:t>
            </a:r>
          </a:p>
        </p:txBody>
      </p:sp>
      <p:sp>
        <p:nvSpPr>
          <p:cNvPr id="50" name="tb50"/>
          <p:cNvSpPr txBox="1"/>
          <p:nvPr/>
        </p:nvSpPr>
        <p:spPr>
          <a:xfrm>
            <a:off x="750000" y="1730000"/>
            <a:ext cx="5950000" cy="242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30000"/>
              </a:lnSpc>
              <a:spcBef>
                <a:spcPts val="600"/>
              </a:spcBef>
              <a:buNone/>
            </a:pPr>
            <a:r>
              <a:rPr lang="pt-BR" sz="15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Para iniciar a análise, basta uma tabela: 1 linha por unidade de observação (em geral, um processo) e 1 coluna por variável.</a:t>
            </a:r>
          </a:p>
          <a:p>
            <a:pPr lvl="0" marL="0" indent="0" algn="l">
              <a:lnSpc>
                <a:spcPct val="130000"/>
              </a:lnSpc>
              <a:spcBef>
                <a:spcPts val="600"/>
              </a:spcBef>
              <a:buNone/>
            </a:pPr>
            <a:r>
              <a:rPr lang="pt-BR" sz="15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Linhas comparáveis e colunas com valores no mesmo formato. Datas como datas, valores como números, categorias como categorias.</a:t>
            </a:r>
          </a:p>
          <a:p>
            <a:pPr lvl="0" marL="0" indent="0" algn="l">
              <a:lnSpc>
                <a:spcPct val="130000"/>
              </a:lnSpc>
              <a:spcBef>
                <a:spcPts val="600"/>
              </a:spcBef>
              <a:buNone/>
            </a:pPr>
            <a:r>
              <a:rPr lang="pt-BR" sz="15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Toda análise descritiva da Aula 3, e todos os modelos da Aula 4, partem dessa mesma forma: linhas e colunas saneadas.</a:t>
            </a:r>
          </a:p>
        </p:txBody>
      </p:sp>
      <p:sp>
        <p:nvSpPr>
          <p:cNvPr id="51" name="tb51"/>
          <p:cNvSpPr txBox="1"/>
          <p:nvPr/>
        </p:nvSpPr>
        <p:spPr>
          <a:xfrm>
            <a:off x="750000" y="4350000"/>
            <a:ext cx="5950000" cy="220000"/>
          </a:xfrm>
          <a:prstGeom prst="rect">
            <a:avLst/>
          </a:prstGeom>
          <a:noFill/>
        </p:spPr>
        <p:txBody>
          <a:bodyPr wrap="square" anchor="b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000" b="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Wheelan (2016); Nunes (2019)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gr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b10"/>
          <p:cNvSpPr txBox="1"/>
          <p:nvPr/>
        </p:nvSpPr>
        <p:spPr>
          <a:xfrm>
            <a:off x="750000" y="500000"/>
            <a:ext cx="5950000" cy="9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4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Tabela analítica como petição inicial</a:t>
            </a:r>
          </a:p>
        </p:txBody>
      </p:sp>
      <p:sp>
        <p:nvSpPr>
          <p:cNvPr id="11" name="rect11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12" name="tb12"/>
          <p:cNvSpPr txBox="1"/>
          <p:nvPr/>
        </p:nvSpPr>
        <p:spPr>
          <a:xfrm>
            <a:off x="750000" y="1330000"/>
            <a:ext cx="5950000" cy="4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400" b="1" i="0">
                <a:solidFill>
                  <a:srgbClr val="E8A317"/>
                </a:solidFill>
                <a:latin typeface="Arial"/>
                <a:ea typeface="Arial"/>
                <a:cs typeface="Arial"/>
              </a:rPr>
              <a:t>Analogia jurídica</a:t>
            </a:r>
          </a:p>
        </p:txBody>
      </p:sp>
      <p:sp>
        <p:nvSpPr>
          <p:cNvPr id="50" name="tb50"/>
          <p:cNvSpPr txBox="1"/>
          <p:nvPr/>
        </p:nvSpPr>
        <p:spPr>
          <a:xfrm>
            <a:off x="750000" y="1730000"/>
            <a:ext cx="5950000" cy="242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30000"/>
              </a:lnSpc>
              <a:spcBef>
                <a:spcPts val="600"/>
              </a:spcBef>
              <a:buNone/>
            </a:pPr>
            <a:r>
              <a:rPr lang="pt-BR" sz="15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A petição inicial define o que está em juízo. Tudo o que não estiver nela, em regra, não pode ser decidido.</a:t>
            </a:r>
          </a:p>
          <a:p>
            <a:pPr lvl="0" marL="0" indent="0" algn="l">
              <a:lnSpc>
                <a:spcPct val="130000"/>
              </a:lnSpc>
              <a:spcBef>
                <a:spcPts val="600"/>
              </a:spcBef>
              <a:buNone/>
            </a:pPr>
            <a:r>
              <a:rPr lang="pt-BR" sz="15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A tabela analítica define o que pode ser respondido. Tudo o que não estiver nela, em regra, não pode ser analisado.</a:t>
            </a:r>
          </a:p>
          <a:p>
            <a:pPr lvl="0" marL="0" indent="0" algn="l">
              <a:lnSpc>
                <a:spcPct val="130000"/>
              </a:lnSpc>
              <a:spcBef>
                <a:spcPts val="600"/>
              </a:spcBef>
              <a:buNone/>
            </a:pPr>
            <a:r>
              <a:rPr lang="pt-BR" sz="15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Por isso, mapear bem na Etapa 2 é desenhar a competência da análise, antes de qualquer coleta.</a:t>
            </a:r>
          </a:p>
        </p:txBody>
      </p:sp>
      <p:sp>
        <p:nvSpPr>
          <p:cNvPr id="51" name="tb51"/>
          <p:cNvSpPr txBox="1"/>
          <p:nvPr/>
        </p:nvSpPr>
        <p:spPr>
          <a:xfrm>
            <a:off x="750000" y="4350000"/>
            <a:ext cx="5950000" cy="220000"/>
          </a:xfrm>
          <a:prstGeom prst="rect">
            <a:avLst/>
          </a:prstGeom>
          <a:noFill/>
        </p:spPr>
        <p:txBody>
          <a:bodyPr wrap="square" anchor="b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000" b="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Nunes (2019)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gr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b10"/>
          <p:cNvSpPr txBox="1"/>
          <p:nvPr/>
        </p:nvSpPr>
        <p:spPr>
          <a:xfrm>
            <a:off x="750000" y="500000"/>
            <a:ext cx="5950000" cy="9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4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Síntese do Bloco</a:t>
            </a:r>
          </a:p>
        </p:txBody>
      </p:sp>
      <p:sp>
        <p:nvSpPr>
          <p:cNvPr id="11" name="rect11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12" name="tb12"/>
          <p:cNvSpPr txBox="1"/>
          <p:nvPr/>
        </p:nvSpPr>
        <p:spPr>
          <a:xfrm>
            <a:off x="750000" y="1330000"/>
            <a:ext cx="5950000" cy="4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400" b="1" i="0">
                <a:solidFill>
                  <a:srgbClr val="E8A317"/>
                </a:solidFill>
                <a:latin typeface="Arial"/>
                <a:ea typeface="Arial"/>
                <a:cs typeface="Arial"/>
              </a:rPr>
              <a:t>Cinco pontos para levar para casa</a:t>
            </a:r>
          </a:p>
        </p:txBody>
      </p:sp>
      <p:sp>
        <p:nvSpPr>
          <p:cNvPr id="50" name="rect50"/>
          <p:cNvSpPr/>
          <p:nvPr/>
        </p:nvSpPr>
        <p:spPr>
          <a:xfrm>
            <a:off x="750000" y="1750000"/>
            <a:ext cx="500000" cy="5000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ctr"/>
            <a:r>
              <a:rPr lang="pt-BR" sz="2000" b="1" i="0">
                <a:solidFill>
                  <a:srgbClr val="FFFFFF"/>
                </a:solidFill>
                <a:latin typeface="Arial Black"/>
              </a:rPr>
              <a:t>1</a:t>
            </a:r>
          </a:p>
        </p:txBody>
      </p:sp>
      <p:sp>
        <p:nvSpPr>
          <p:cNvPr id="51" name="tb51"/>
          <p:cNvSpPr txBox="1"/>
          <p:nvPr/>
        </p:nvSpPr>
        <p:spPr>
          <a:xfrm>
            <a:off x="1350000" y="1810000"/>
            <a:ext cx="5300000" cy="45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2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Toda análise jurimétrica começa por uma pergunta investigável e termina em uma decisão concreta.</a:t>
            </a:r>
          </a:p>
        </p:txBody>
      </p:sp>
      <p:sp>
        <p:nvSpPr>
          <p:cNvPr id="52" name="rect52"/>
          <p:cNvSpPr/>
          <p:nvPr/>
        </p:nvSpPr>
        <p:spPr>
          <a:xfrm>
            <a:off x="750000" y="2320000"/>
            <a:ext cx="500000" cy="5000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ctr"/>
            <a:r>
              <a:rPr lang="pt-BR" sz="2000" b="1" i="0">
                <a:solidFill>
                  <a:srgbClr val="FFFFFF"/>
                </a:solidFill>
                <a:latin typeface="Arial Black"/>
              </a:rPr>
              <a:t>2</a:t>
            </a:r>
          </a:p>
        </p:txBody>
      </p:sp>
      <p:sp>
        <p:nvSpPr>
          <p:cNvPr id="53" name="tb53"/>
          <p:cNvSpPr txBox="1"/>
          <p:nvPr/>
        </p:nvSpPr>
        <p:spPr>
          <a:xfrm>
            <a:off x="1350000" y="2380000"/>
            <a:ext cx="5300000" cy="45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2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O ciclo de 6 etapas é o método reproduzível, rastreável e defensável que sustenta cada análise.</a:t>
            </a:r>
          </a:p>
        </p:txBody>
      </p:sp>
      <p:sp>
        <p:nvSpPr>
          <p:cNvPr id="54" name="rect54"/>
          <p:cNvSpPr/>
          <p:nvPr/>
        </p:nvSpPr>
        <p:spPr>
          <a:xfrm>
            <a:off x="750000" y="2890000"/>
            <a:ext cx="500000" cy="5000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ctr"/>
            <a:r>
              <a:rPr lang="pt-BR" sz="2000" b="1" i="0">
                <a:solidFill>
                  <a:srgbClr val="FFFFFF"/>
                </a:solidFill>
                <a:latin typeface="Arial Black"/>
              </a:rPr>
              <a:t>3</a:t>
            </a:r>
          </a:p>
        </p:txBody>
      </p:sp>
      <p:sp>
        <p:nvSpPr>
          <p:cNvPr id="55" name="tb55"/>
          <p:cNvSpPr txBox="1"/>
          <p:nvPr/>
        </p:nvSpPr>
        <p:spPr>
          <a:xfrm>
            <a:off x="1350000" y="2950000"/>
            <a:ext cx="5300000" cy="45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2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Etapa 1: pergunta específica, verificável, comparável e útil.</a:t>
            </a:r>
          </a:p>
        </p:txBody>
      </p:sp>
      <p:sp>
        <p:nvSpPr>
          <p:cNvPr id="56" name="rect56"/>
          <p:cNvSpPr/>
          <p:nvPr/>
        </p:nvSpPr>
        <p:spPr>
          <a:xfrm>
            <a:off x="750000" y="3460000"/>
            <a:ext cx="500000" cy="5000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ctr"/>
            <a:r>
              <a:rPr lang="pt-BR" sz="2000" b="1" i="0">
                <a:solidFill>
                  <a:srgbClr val="FFFFFF"/>
                </a:solidFill>
                <a:latin typeface="Arial Black"/>
              </a:rPr>
              <a:t>4</a:t>
            </a:r>
          </a:p>
        </p:txBody>
      </p:sp>
      <p:sp>
        <p:nvSpPr>
          <p:cNvPr id="57" name="tb57"/>
          <p:cNvSpPr txBox="1"/>
          <p:nvPr/>
        </p:nvSpPr>
        <p:spPr>
          <a:xfrm>
            <a:off x="1350000" y="3520000"/>
            <a:ext cx="5300000" cy="45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2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Etapa 2: tabela com 1 linha por processo e 1 coluna por variável, saneada e completa.</a:t>
            </a:r>
          </a:p>
        </p:txBody>
      </p:sp>
      <p:sp>
        <p:nvSpPr>
          <p:cNvPr id="58" name="rect58"/>
          <p:cNvSpPr/>
          <p:nvPr/>
        </p:nvSpPr>
        <p:spPr>
          <a:xfrm>
            <a:off x="750000" y="4030000"/>
            <a:ext cx="500000" cy="5000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ctr"/>
            <a:r>
              <a:rPr lang="pt-BR" sz="2000" b="1" i="0">
                <a:solidFill>
                  <a:srgbClr val="FFFFFF"/>
                </a:solidFill>
                <a:latin typeface="Arial Black"/>
              </a:rPr>
              <a:t>5</a:t>
            </a:r>
          </a:p>
        </p:txBody>
      </p:sp>
      <p:sp>
        <p:nvSpPr>
          <p:cNvPr id="59" name="tb59"/>
          <p:cNvSpPr txBox="1"/>
          <p:nvPr/>
        </p:nvSpPr>
        <p:spPr>
          <a:xfrm>
            <a:off x="1350000" y="4090000"/>
            <a:ext cx="5300000" cy="45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2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Sem Etapa 1 e 2 bem feitas, análise vira opinião com cara de número.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gr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b10"/>
          <p:cNvSpPr txBox="1"/>
          <p:nvPr/>
        </p:nvSpPr>
        <p:spPr>
          <a:xfrm>
            <a:off x="750000" y="500000"/>
            <a:ext cx="5950000" cy="9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4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Ponte para o Bloco 2</a:t>
            </a:r>
          </a:p>
        </p:txBody>
      </p:sp>
      <p:sp>
        <p:nvSpPr>
          <p:cNvPr id="11" name="rect11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12" name="tb12"/>
          <p:cNvSpPr txBox="1"/>
          <p:nvPr/>
        </p:nvSpPr>
        <p:spPr>
          <a:xfrm>
            <a:off x="750000" y="1330000"/>
            <a:ext cx="5950000" cy="4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400" b="1" i="0">
                <a:solidFill>
                  <a:srgbClr val="E8A317"/>
                </a:solidFill>
                <a:latin typeface="Arial"/>
                <a:ea typeface="Arial"/>
                <a:cs typeface="Arial"/>
              </a:rPr>
              <a:t>O que vem a seguir, depois do intervalo</a:t>
            </a:r>
          </a:p>
        </p:txBody>
      </p:sp>
      <p:sp>
        <p:nvSpPr>
          <p:cNvPr id="50" name="tb50"/>
          <p:cNvSpPr txBox="1"/>
          <p:nvPr/>
        </p:nvSpPr>
        <p:spPr>
          <a:xfrm>
            <a:off x="750000" y="1585100"/>
            <a:ext cx="1500000" cy="594900"/>
          </a:xfrm>
          <a:prstGeom prst="rect">
            <a:avLst/>
          </a:prstGeom>
          <a:noFill/>
        </p:spPr>
        <p:txBody>
          <a:bodyPr wrap="square" anchor="ctr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6000" b="1" i="0">
                <a:solidFill>
                  <a:srgbClr val="E8A317"/>
                </a:solidFill>
                <a:latin typeface="Arial Black"/>
                <a:ea typeface="Arial Black"/>
                <a:cs typeface="Arial Black"/>
              </a:rPr>
              <a:t>➜</a:t>
            </a:r>
          </a:p>
        </p:txBody>
      </p:sp>
      <p:sp>
        <p:nvSpPr>
          <p:cNvPr id="51" name="tb51"/>
          <p:cNvSpPr txBox="1"/>
          <p:nvPr/>
        </p:nvSpPr>
        <p:spPr>
          <a:xfrm>
            <a:off x="2200000" y="1780000"/>
            <a:ext cx="4500000" cy="4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0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Da Etapa 2 à coleta</a:t>
            </a:r>
          </a:p>
        </p:txBody>
      </p:sp>
      <p:sp>
        <p:nvSpPr>
          <p:cNvPr id="52" name="tb52"/>
          <p:cNvSpPr txBox="1"/>
          <p:nvPr/>
        </p:nvSpPr>
        <p:spPr>
          <a:xfrm>
            <a:off x="2200000" y="2100000"/>
            <a:ext cx="4500000" cy="3999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250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No próximo bloco entramos na Etapa 3: como obter os dados em fontes públicas e internas.</a:t>
            </a:r>
          </a:p>
        </p:txBody>
      </p:sp>
      <p:sp>
        <p:nvSpPr>
          <p:cNvPr id="53" name="el53"/>
          <p:cNvSpPr/>
          <p:nvPr/>
        </p:nvSpPr>
        <p:spPr>
          <a:xfrm>
            <a:off x="790000" y="2650000"/>
            <a:ext cx="197700" cy="180000"/>
          </a:xfrm>
          <a:prstGeom prst="ellipse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36000" rIns="36000" tIns="36000" bIns="36000"/>
          <a:lstStyle/>
          <a:p>
            <a:endParaRPr lang="pt-BR"/>
          </a:p>
        </p:txBody>
      </p:sp>
      <p:sp>
        <p:nvSpPr>
          <p:cNvPr id="54" name="tb54"/>
          <p:cNvSpPr txBox="1"/>
          <p:nvPr/>
        </p:nvSpPr>
        <p:spPr>
          <a:xfrm>
            <a:off x="1075695" y="2600000"/>
            <a:ext cx="2637300" cy="3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250" b="0" i="0">
                <a:solidFill>
                  <a:srgbClr val="1B2A4A"/>
                </a:solidFill>
                <a:latin typeface="Arial"/>
                <a:ea typeface="Arial"/>
                <a:cs typeface="Arial"/>
              </a:rPr>
              <a:t>DataJud, CNJ e tribunais</a:t>
            </a:r>
          </a:p>
        </p:txBody>
      </p:sp>
      <p:sp>
        <p:nvSpPr>
          <p:cNvPr id="55" name="tb55"/>
          <p:cNvSpPr txBox="1"/>
          <p:nvPr/>
        </p:nvSpPr>
        <p:spPr>
          <a:xfrm>
            <a:off x="3822762" y="2600000"/>
            <a:ext cx="3406500" cy="3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1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Fontes públicas e como ler os campos dos microdados.</a:t>
            </a:r>
          </a:p>
        </p:txBody>
      </p:sp>
      <p:sp>
        <p:nvSpPr>
          <p:cNvPr id="56" name="el56"/>
          <p:cNvSpPr/>
          <p:nvPr/>
        </p:nvSpPr>
        <p:spPr>
          <a:xfrm>
            <a:off x="790000" y="3080000"/>
            <a:ext cx="197700" cy="180000"/>
          </a:xfrm>
          <a:prstGeom prst="ellipse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36000" rIns="36000" tIns="36000" bIns="36000"/>
          <a:lstStyle/>
          <a:p>
            <a:endParaRPr lang="pt-BR"/>
          </a:p>
        </p:txBody>
      </p:sp>
      <p:sp>
        <p:nvSpPr>
          <p:cNvPr id="57" name="tb57"/>
          <p:cNvSpPr txBox="1"/>
          <p:nvPr/>
        </p:nvSpPr>
        <p:spPr>
          <a:xfrm>
            <a:off x="1075695" y="3030000"/>
            <a:ext cx="2637300" cy="3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250" b="0" i="0">
                <a:solidFill>
                  <a:srgbClr val="1B2A4A"/>
                </a:solidFill>
                <a:latin typeface="Arial"/>
                <a:ea typeface="Arial"/>
                <a:cs typeface="Arial"/>
              </a:rPr>
              <a:t>Coleta interna e scraping</a:t>
            </a:r>
          </a:p>
        </p:txBody>
      </p:sp>
      <p:sp>
        <p:nvSpPr>
          <p:cNvPr id="58" name="tb58"/>
          <p:cNvSpPr txBox="1"/>
          <p:nvPr/>
        </p:nvSpPr>
        <p:spPr>
          <a:xfrm>
            <a:off x="3822762" y="3030000"/>
            <a:ext cx="3406500" cy="3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1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Quando construir, quando comprar e quando raspar.</a:t>
            </a:r>
          </a:p>
        </p:txBody>
      </p:sp>
      <p:sp>
        <p:nvSpPr>
          <p:cNvPr id="59" name="el59"/>
          <p:cNvSpPr/>
          <p:nvPr/>
        </p:nvSpPr>
        <p:spPr>
          <a:xfrm>
            <a:off x="790000" y="3510000"/>
            <a:ext cx="197700" cy="180000"/>
          </a:xfrm>
          <a:prstGeom prst="ellipse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36000" rIns="36000" tIns="36000" bIns="36000"/>
          <a:lstStyle/>
          <a:p>
            <a:endParaRPr lang="pt-BR"/>
          </a:p>
        </p:txBody>
      </p:sp>
      <p:sp>
        <p:nvSpPr>
          <p:cNvPr id="60" name="tb60"/>
          <p:cNvSpPr txBox="1"/>
          <p:nvPr/>
        </p:nvSpPr>
        <p:spPr>
          <a:xfrm>
            <a:off x="1075695" y="3460000"/>
            <a:ext cx="2637300" cy="3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250" b="0" i="0">
                <a:solidFill>
                  <a:srgbClr val="1B2A4A"/>
                </a:solidFill>
                <a:latin typeface="Arial"/>
                <a:ea typeface="Arial"/>
                <a:cs typeface="Arial"/>
              </a:rPr>
              <a:t>LGPD e vieses de amostragem</a:t>
            </a:r>
          </a:p>
        </p:txBody>
      </p:sp>
      <p:sp>
        <p:nvSpPr>
          <p:cNvPr id="61" name="tb61"/>
          <p:cNvSpPr txBox="1"/>
          <p:nvPr/>
        </p:nvSpPr>
        <p:spPr>
          <a:xfrm>
            <a:off x="3822762" y="3460000"/>
            <a:ext cx="3406500" cy="3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1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Cuidados antes de prometer resposta.</a:t>
            </a:r>
          </a:p>
        </p:txBody>
      </p:sp>
      <p:sp>
        <p:nvSpPr>
          <p:cNvPr id="62" name="el62"/>
          <p:cNvSpPr/>
          <p:nvPr/>
        </p:nvSpPr>
        <p:spPr>
          <a:xfrm>
            <a:off x="790000" y="3940000"/>
            <a:ext cx="197700" cy="180000"/>
          </a:xfrm>
          <a:prstGeom prst="ellipse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36000" rIns="36000" tIns="36000" bIns="36000"/>
          <a:lstStyle/>
          <a:p>
            <a:endParaRPr lang="pt-BR"/>
          </a:p>
        </p:txBody>
      </p:sp>
      <p:sp>
        <p:nvSpPr>
          <p:cNvPr id="63" name="tb63"/>
          <p:cNvSpPr txBox="1"/>
          <p:nvPr/>
        </p:nvSpPr>
        <p:spPr>
          <a:xfrm>
            <a:off x="1075695" y="3890000"/>
            <a:ext cx="2637300" cy="3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250" b="0" i="0">
                <a:solidFill>
                  <a:srgbClr val="1B2A4A"/>
                </a:solidFill>
                <a:latin typeface="Arial"/>
                <a:ea typeface="Arial"/>
                <a:cs typeface="Arial"/>
              </a:rPr>
              <a:t>Atividade Prática 2</a:t>
            </a:r>
          </a:p>
        </p:txBody>
      </p:sp>
      <p:sp>
        <p:nvSpPr>
          <p:cNvPr id="64" name="tb64"/>
          <p:cNvSpPr txBox="1"/>
          <p:nvPr/>
        </p:nvSpPr>
        <p:spPr>
          <a:xfrm>
            <a:off x="3822762" y="3890000"/>
            <a:ext cx="3406500" cy="3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1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3 questões sobre a base do XY&amp;A, entrega até a Aula 3.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gr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b10"/>
          <p:cNvSpPr txBox="1"/>
          <p:nvPr/>
        </p:nvSpPr>
        <p:spPr>
          <a:xfrm>
            <a:off x="750000" y="500000"/>
            <a:ext cx="5950000" cy="9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4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Referências do Bloco</a:t>
            </a:r>
          </a:p>
        </p:txBody>
      </p:sp>
      <p:sp>
        <p:nvSpPr>
          <p:cNvPr id="11" name="rect11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12" name="tb12"/>
          <p:cNvSpPr txBox="1"/>
          <p:nvPr/>
        </p:nvSpPr>
        <p:spPr>
          <a:xfrm>
            <a:off x="750000" y="1330000"/>
            <a:ext cx="5950000" cy="4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400" b="1" i="0">
                <a:solidFill>
                  <a:srgbClr val="E8A317"/>
                </a:solidFill>
                <a:latin typeface="Arial"/>
                <a:ea typeface="Arial"/>
                <a:cs typeface="Arial"/>
              </a:rPr>
              <a:t>Fontes citadas ao longo do conteúdo</a:t>
            </a:r>
          </a:p>
        </p:txBody>
      </p:sp>
      <p:sp>
        <p:nvSpPr>
          <p:cNvPr id="50" name="tb50"/>
          <p:cNvSpPr txBox="1"/>
          <p:nvPr/>
        </p:nvSpPr>
        <p:spPr>
          <a:xfrm>
            <a:off x="750000" y="1780000"/>
            <a:ext cx="7025100" cy="235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15000"/>
              </a:lnSpc>
              <a:spcBef>
                <a:spcPts val="250"/>
              </a:spcBef>
              <a:buNone/>
            </a:pPr>
            <a:r>
              <a:rPr lang="pt-BR" sz="10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NUNES, Marcelo Guedes. Jurimetria: como a estatística pode reinventar o Direito. 2. ed. São Paulo: Revista dos Tribunais, 2019.</a:t>
            </a:r>
          </a:p>
          <a:p>
            <a:pPr lvl="0" marL="0" indent="0" algn="l">
              <a:lnSpc>
                <a:spcPct val="115000"/>
              </a:lnSpc>
              <a:spcBef>
                <a:spcPts val="250"/>
              </a:spcBef>
              <a:buNone/>
            </a:pPr>
            <a:r>
              <a:rPr lang="pt-BR" sz="10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WHEELAN, Charles. Estatística: o que é, para que serve, como funciona. Rio de Janeiro: Zahar, 2016.</a:t>
            </a:r>
          </a:p>
          <a:p>
            <a:pPr lvl="0" marL="0" indent="0" algn="l">
              <a:lnSpc>
                <a:spcPct val="115000"/>
              </a:lnSpc>
              <a:spcBef>
                <a:spcPts val="250"/>
              </a:spcBef>
              <a:buNone/>
            </a:pPr>
            <a:r>
              <a:rPr lang="pt-BR" sz="10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HUFF, Darrell. Como mentir com estatística. Rio de Janeiro: Intrínseca, 2016.</a:t>
            </a:r>
          </a:p>
          <a:p>
            <a:pPr lvl="0" marL="0" indent="0" algn="l">
              <a:lnSpc>
                <a:spcPct val="115000"/>
              </a:lnSpc>
              <a:spcBef>
                <a:spcPts val="250"/>
              </a:spcBef>
              <a:buNone/>
            </a:pPr>
            <a:r>
              <a:rPr lang="pt-BR" sz="10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SILVER, Nate. O sinal e o ruído. Rio de Janeiro: Intrínseca, 2013.</a:t>
            </a:r>
          </a:p>
          <a:p>
            <a:pPr lvl="0" marL="0" indent="0" algn="l">
              <a:lnSpc>
                <a:spcPct val="115000"/>
              </a:lnSpc>
              <a:spcBef>
                <a:spcPts val="250"/>
              </a:spcBef>
              <a:buNone/>
            </a:pPr>
            <a:r>
              <a:rPr lang="pt-BR" sz="10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KATZ, Daniel Martin; BOMMARITO, Michael J. Quantitative Legal Prediction. Emory Law Journal, v. 62, 2013.</a:t>
            </a:r>
          </a:p>
          <a:p>
            <a:pPr lvl="0" marL="0" indent="0" algn="l">
              <a:lnSpc>
                <a:spcPct val="115000"/>
              </a:lnSpc>
              <a:spcBef>
                <a:spcPts val="250"/>
              </a:spcBef>
              <a:buNone/>
            </a:pPr>
            <a:r>
              <a:rPr lang="pt-BR" sz="10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CONSELHO NACIONAL DE JUSTIÇA (CNJ). Justiça em Números e painéis do DataJud, 2024.</a:t>
            </a:r>
          </a:p>
          <a:p>
            <a:pPr lvl="0" marL="0" indent="0" algn="l">
              <a:lnSpc>
                <a:spcPct val="115000"/>
              </a:lnSpc>
              <a:spcBef>
                <a:spcPts val="250"/>
              </a:spcBef>
              <a:buNone/>
            </a:pPr>
            <a:r>
              <a:rPr lang="pt-BR" sz="10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ASSOCIAÇÃO BRASILEIRA DE JURIMETRIA (ABJ). Relatórios e publicações em abj.org.br.</a:t>
            </a:r>
          </a:p>
          <a:p>
            <a:pPr lvl="0" marL="0" indent="0" algn="l">
              <a:lnSpc>
                <a:spcPct val="115000"/>
              </a:lnSpc>
              <a:spcBef>
                <a:spcPts val="250"/>
              </a:spcBef>
              <a:buNone/>
            </a:pPr>
            <a:r>
              <a:rPr lang="pt-BR" sz="10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SUSSKIND, Richard. Tomorrow's Lawyers. 3rd ed. Oxford University Press, 2023.</a:t>
            </a:r>
          </a:p>
          <a:p>
            <a:pPr lvl="0" marL="0" indent="0" algn="l">
              <a:lnSpc>
                <a:spcPct val="115000"/>
              </a:lnSpc>
              <a:spcBef>
                <a:spcPts val="250"/>
              </a:spcBef>
              <a:buNone/>
            </a:pPr>
            <a:r>
              <a:rPr lang="pt-BR" sz="10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JAMES, Gareth et al. An Introduction to Statistical Learning. 2nd ed. Springer, 2021.</a:t>
            </a:r>
          </a:p>
        </p:txBody>
      </p:sp>
      <p:sp>
        <p:nvSpPr>
          <p:cNvPr id="51" name="tb51"/>
          <p:cNvSpPr txBox="1"/>
          <p:nvPr/>
        </p:nvSpPr>
        <p:spPr>
          <a:xfrm>
            <a:off x="750000" y="4250000"/>
            <a:ext cx="5950000" cy="3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000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Leituras complementares estarão indicadas ao longo dos próximos blocos.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gr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b30"/>
          <p:cNvSpPr txBox="1"/>
          <p:nvPr/>
        </p:nvSpPr>
        <p:spPr>
          <a:xfrm>
            <a:off x="822950" y="914400"/>
            <a:ext cx="5486400" cy="7314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36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Fim do Bloco 1</a:t>
            </a:r>
          </a:p>
        </p:txBody>
      </p:sp>
      <p:sp>
        <p:nvSpPr>
          <p:cNvPr id="31" name="rect31"/>
          <p:cNvSpPr/>
          <p:nvPr/>
        </p:nvSpPr>
        <p:spPr>
          <a:xfrm>
            <a:off x="822950" y="1691640"/>
            <a:ext cx="18288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32" name="tb32"/>
          <p:cNvSpPr txBox="1"/>
          <p:nvPr/>
        </p:nvSpPr>
        <p:spPr>
          <a:xfrm>
            <a:off x="822950" y="2391995"/>
            <a:ext cx="5486400" cy="4572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000" b="0" i="0">
                <a:solidFill>
                  <a:srgbClr val="E8A317"/>
                </a:solidFill>
                <a:latin typeface="Arial"/>
                <a:ea typeface="Arial"/>
                <a:cs typeface="Arial"/>
              </a:rPr>
              <a:t>Intervalo de 15 minutos</a:t>
            </a:r>
          </a:p>
        </p:txBody>
      </p:sp>
      <p:sp>
        <p:nvSpPr>
          <p:cNvPr id="33" name="tb33"/>
          <p:cNvSpPr txBox="1"/>
          <p:nvPr/>
        </p:nvSpPr>
        <p:spPr>
          <a:xfrm>
            <a:off x="822945" y="2849200"/>
            <a:ext cx="5486400" cy="36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300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No Bloco 2: Etapa 3 (coletar), LGPD, vieses e a Atividade Prática 2.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2026-02-14T20:12:37Z</dcterms:created>
  <dc:creator>Bruno Daleffi</dc:creator>
</cp:coreProperties>
</file>