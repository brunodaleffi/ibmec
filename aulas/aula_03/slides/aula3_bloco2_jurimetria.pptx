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</p:sldIdLst>
  <p:sldSz cy="5143500" cx="9144000"/>
  <p:notesSz cx="5143500" cy="9144000"/>
  <p:embeddedFontLst>
    <p:embeddedFont>
      <p:font typeface="Arial Black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747775"/>
          </p15:clr>
        </p15:guide>
      </p15:sldGuideLst>
    </p:ext>
    <p:ext uri="GoogleSlidesCustomDataVersion2">
      <go:slidesCustomData xmlns:go="http://customooxmlschemas.google.com/" r:id="rId9" roundtripDataSignature="AMtx7mhh5oWEV931oxANsAAKpH6PvK4/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rialBlack-regular.fntdata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1097275" y="914400"/>
            <a:ext cx="6790500" cy="18288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2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JURIMETRIA E ANÁLISE DE DADOS PARA DECISÕES ESTRATÉGICAS</a:t>
            </a:r>
          </a:p>
        </p:txBody>
      </p:sp>
      <p:sp>
        <p:nvSpPr>
          <p:cNvPr id="11" name="rect11"/>
          <p:cNvSpPr/>
          <p:nvPr/>
        </p:nvSpPr>
        <p:spPr>
          <a:xfrm>
            <a:off x="1097280" y="2788920"/>
            <a:ext cx="18288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1097280" y="2926080"/>
            <a:ext cx="5486400" cy="4572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0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Aula 3 · Bloco 2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1097280" y="333756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Ciclo da Ciência de Dados Aplicado ao Direito (Parte 2)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1097280" y="3700000"/>
            <a:ext cx="54864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Da TABELA ao insight: distribuições, visualização e leitura crítica de gráficos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Agenda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vamos percorrer nas próximas 1h50min</a:t>
            </a:r>
          </a:p>
        </p:txBody>
      </p:sp>
      <p:sp>
        <p:nvSpPr>
          <p:cNvPr id="50" name="el50"/>
          <p:cNvSpPr/>
          <p:nvPr/>
        </p:nvSpPr>
        <p:spPr>
          <a:xfrm>
            <a:off x="781363" y="17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301363" y="17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Distribuições: Normal, Poisson, Weibull</a:t>
            </a:r>
          </a:p>
        </p:txBody>
      </p:sp>
      <p:sp>
        <p:nvSpPr>
          <p:cNvPr id="52" name="el52"/>
          <p:cNvSpPr/>
          <p:nvPr/>
        </p:nvSpPr>
        <p:spPr>
          <a:xfrm>
            <a:off x="4204761" y="17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2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4724761" y="17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Etapa 6: qual gráfico para qual pergunta</a:t>
            </a:r>
          </a:p>
        </p:txBody>
      </p:sp>
      <p:sp>
        <p:nvSpPr>
          <p:cNvPr id="54" name="el54"/>
          <p:cNvSpPr/>
          <p:nvPr/>
        </p:nvSpPr>
        <p:spPr>
          <a:xfrm>
            <a:off x="781363" y="23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3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1301363" y="23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Boas práticas de visualização</a:t>
            </a:r>
          </a:p>
        </p:txBody>
      </p:sp>
      <p:sp>
        <p:nvSpPr>
          <p:cNvPr id="56" name="el56"/>
          <p:cNvSpPr/>
          <p:nvPr/>
        </p:nvSpPr>
        <p:spPr>
          <a:xfrm>
            <a:off x="4204761" y="23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4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4724761" y="23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Demonstração em XY&amp;A</a:t>
            </a:r>
          </a:p>
        </p:txBody>
      </p:sp>
      <p:sp>
        <p:nvSpPr>
          <p:cNvPr id="58" name="el58"/>
          <p:cNvSpPr/>
          <p:nvPr/>
        </p:nvSpPr>
        <p:spPr>
          <a:xfrm>
            <a:off x="781363" y="29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5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301363" y="29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Leitura crítica de gráficos</a:t>
            </a:r>
          </a:p>
        </p:txBody>
      </p:sp>
      <p:sp>
        <p:nvSpPr>
          <p:cNvPr id="60" name="el60"/>
          <p:cNvSpPr/>
          <p:nvPr/>
        </p:nvSpPr>
        <p:spPr>
          <a:xfrm>
            <a:off x="4204761" y="29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6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4724761" y="29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Exercícios dirigidos</a:t>
            </a:r>
          </a:p>
        </p:txBody>
      </p:sp>
      <p:sp>
        <p:nvSpPr>
          <p:cNvPr id="62" name="el62"/>
          <p:cNvSpPr/>
          <p:nvPr/>
        </p:nvSpPr>
        <p:spPr>
          <a:xfrm>
            <a:off x="781363" y="35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7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1301363" y="35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Atividade Prática 3</a:t>
            </a:r>
          </a:p>
        </p:txBody>
      </p:sp>
      <p:sp>
        <p:nvSpPr>
          <p:cNvPr id="64" name="el64"/>
          <p:cNvSpPr/>
          <p:nvPr/>
        </p:nvSpPr>
        <p:spPr>
          <a:xfrm>
            <a:off x="4204761" y="35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8</a:t>
            </a:r>
          </a:p>
        </p:txBody>
      </p:sp>
      <p:sp>
        <p:nvSpPr>
          <p:cNvPr id="65" name="tb65"/>
          <p:cNvSpPr txBox="1"/>
          <p:nvPr/>
        </p:nvSpPr>
        <p:spPr>
          <a:xfrm>
            <a:off x="4724761" y="35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Ponte para Aula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Objetivos de Aprendizagem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Ao final deste bloco, você será capaz de</a:t>
            </a:r>
          </a:p>
        </p:txBody>
      </p:sp>
      <p:sp>
        <p:nvSpPr>
          <p:cNvPr id="50" name="el50"/>
          <p:cNvSpPr/>
          <p:nvPr/>
        </p:nvSpPr>
        <p:spPr>
          <a:xfrm>
            <a:off x="790000" y="178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1" name="tb51"/>
          <p:cNvSpPr txBox="1"/>
          <p:nvPr/>
        </p:nvSpPr>
        <p:spPr>
          <a:xfrm>
            <a:off x="1060000" y="175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Reconhecer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2900000" y="175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 distribuições Normal, Poisson e Weibull em variáveis jurídicas típicas</a:t>
            </a:r>
          </a:p>
        </p:txBody>
      </p:sp>
      <p:sp>
        <p:nvSpPr>
          <p:cNvPr id="53" name="el53"/>
          <p:cNvSpPr/>
          <p:nvPr/>
        </p:nvSpPr>
        <p:spPr>
          <a:xfrm>
            <a:off x="790000" y="230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4" name="tb54"/>
          <p:cNvSpPr txBox="1"/>
          <p:nvPr/>
        </p:nvSpPr>
        <p:spPr>
          <a:xfrm>
            <a:off x="1060000" y="227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Escolher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2900000" y="227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 tipo de gráfico adequado para cada pergunta jurimétrica</a:t>
            </a:r>
          </a:p>
        </p:txBody>
      </p:sp>
      <p:sp>
        <p:nvSpPr>
          <p:cNvPr id="56" name="el56"/>
          <p:cNvSpPr/>
          <p:nvPr/>
        </p:nvSpPr>
        <p:spPr>
          <a:xfrm>
            <a:off x="790000" y="282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7" name="tb57"/>
          <p:cNvSpPr txBox="1"/>
          <p:nvPr/>
        </p:nvSpPr>
        <p:spPr>
          <a:xfrm>
            <a:off x="1060000" y="279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Aplicar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2900000" y="279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boas práticas de visualização aos gráficos da base XY&amp;A</a:t>
            </a:r>
          </a:p>
        </p:txBody>
      </p:sp>
      <p:sp>
        <p:nvSpPr>
          <p:cNvPr id="59" name="el59"/>
          <p:cNvSpPr/>
          <p:nvPr/>
        </p:nvSpPr>
        <p:spPr>
          <a:xfrm>
            <a:off x="790000" y="334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0" name="tb60"/>
          <p:cNvSpPr txBox="1"/>
          <p:nvPr/>
        </p:nvSpPr>
        <p:spPr>
          <a:xfrm>
            <a:off x="1060000" y="331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Identificar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2900000" y="331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armadilhas em gráficos (eixos truncados, escalas log, correlações espúrias)</a:t>
            </a:r>
          </a:p>
        </p:txBody>
      </p:sp>
      <p:sp>
        <p:nvSpPr>
          <p:cNvPr id="62" name="el62"/>
          <p:cNvSpPr/>
          <p:nvPr/>
        </p:nvSpPr>
        <p:spPr>
          <a:xfrm>
            <a:off x="790000" y="386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3" name="tb63"/>
          <p:cNvSpPr txBox="1"/>
          <p:nvPr/>
        </p:nvSpPr>
        <p:spPr>
          <a:xfrm>
            <a:off x="1060000" y="383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Produzir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2900000" y="383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uma análise exploratória simples ligada a uma decisão concreta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Voltando do intervalo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Onde paramos no Bloco 1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5950000" cy="34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 Bloco 1 tratamos a base (Etapa 4) e fizemos a primeira leitura descritiva (Etapa 5).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200000"/>
            <a:ext cx="5950000" cy="20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Agora completamos o ciclo: Etapa 6, apresentar resultados em gráficos defensáveis.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Antes, 3 distribuições que aparecem no Direito: valor, volume e tempo.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Fechamos com leitura crítica de gráficos e a Atividade Prática 3.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Nunes (2019)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Distribuições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Normal, Poisson e Weibull com analogias jurídicas (valor, volume, tempo)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que é uma distribuição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Distribuição é a forma como os valores de uma variável se espalham: onde se concentram, onde são raros, qual a cara do histórico.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Reconhecer a distribuição ajuda a escolher a medida certa (média ou mediana), o gráfico certo (histograma, boxplot) e a interpretação jurídica certa.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 Direito, três famílias bastam para a maior parte das análises descritivas: Normal, Poisson e Weibull.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James et al. (2021)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Três distribuições, três perguntas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Cada distribuição responde a um tipo de pergunta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3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Normal: valores contínuos e simétricos em torno de uma média. Pergunta típica: qual o valor típico de uma condenação?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Poisson: contagem de eventos em um período. Pergunta típica: quantos processos novos chegam por mês a uma vara?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Weibull: tempo até um evento (sentencia, acordo, baixa). Pergunta típica: em quanto tempo um processo sai daqui?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James et al. (2021)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Normal: o valor típico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Quando a Normal cabe e quando engana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5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Distribuição simétrica em torno da média. A maioria dos valores fica perto do centro; extremos são raros.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variantes jurídicas, modela bem indicadores que somam muitos efeitos pequenos: notas de avaliação, índices, scores de risco.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Cuidado: valor da causa raramente é Normal (é assimétrico, com cauda longa à direita). Não force a Normal onde ela não cabe.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Poisson: contagem em um período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Modela volume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5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Distribuição discreta de contagem: 0, 1, 2, 3 eventos em uma janela de tempo ou espaço.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jurimetria, modela bem a chegada de processos novos a uma vara, despachos por dia, audiências por semana.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Pergunta típica: dada a média histórica de 12 distribuições por dia em uma vara, qual a chance de um pico de 25 amanhã?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James et al. (2021)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Weibull: tempo até um evento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Modela tempo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5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Distribuição positiva e assimétrica para tempo até a ocorrência de um evento (sentencia, acordo, baixa).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Lida bem com assimetria à direita: muitos processos rápidos, alguns muito longos. É a base da análise de sobrevivência que voltaremos a ver na Aula 4.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Pergunta típica: dado o histórico do XY&amp;A, em quanto tempo metade das renovatórias sai? Em quanto tempo 75% saem?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James et al. (2021); Nunes (2019)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Normal, Poisson, Weibull lado a lado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17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Distribuição</a:t>
            </a:r>
          </a:p>
        </p:txBody>
      </p:sp>
      <p:sp>
        <p:nvSpPr>
          <p:cNvPr id="51" name="rect51"/>
          <p:cNvSpPr/>
          <p:nvPr/>
        </p:nvSpPr>
        <p:spPr>
          <a:xfrm>
            <a:off x="2450000" y="1780000"/>
            <a:ext cx="2025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Tipo</a:t>
            </a:r>
          </a:p>
        </p:txBody>
      </p:sp>
      <p:sp>
        <p:nvSpPr>
          <p:cNvPr id="52" name="rect52"/>
          <p:cNvSpPr/>
          <p:nvPr/>
        </p:nvSpPr>
        <p:spPr>
          <a:xfrm>
            <a:off x="4475000" y="1780000"/>
            <a:ext cx="3225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Variável jurídica típica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16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Normal</a:t>
            </a:r>
          </a:p>
        </p:txBody>
      </p:sp>
      <p:sp>
        <p:nvSpPr>
          <p:cNvPr id="54" name="rect54"/>
          <p:cNvSpPr/>
          <p:nvPr/>
        </p:nvSpPr>
        <p:spPr>
          <a:xfrm>
            <a:off x="2450000" y="2160000"/>
            <a:ext cx="2025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Contínua, simétrica</a:t>
            </a:r>
          </a:p>
        </p:txBody>
      </p:sp>
      <p:sp>
        <p:nvSpPr>
          <p:cNvPr id="55" name="rect55"/>
          <p:cNvSpPr/>
          <p:nvPr/>
        </p:nvSpPr>
        <p:spPr>
          <a:xfrm>
            <a:off x="4475000" y="2160000"/>
            <a:ext cx="3225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Índices, scores, notas.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480000"/>
            <a:ext cx="1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Poisson</a:t>
            </a:r>
          </a:p>
        </p:txBody>
      </p:sp>
      <p:sp>
        <p:nvSpPr>
          <p:cNvPr id="57" name="rect57"/>
          <p:cNvSpPr/>
          <p:nvPr/>
        </p:nvSpPr>
        <p:spPr>
          <a:xfrm>
            <a:off x="2450000" y="2480000"/>
            <a:ext cx="2025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Discreta, contagem</a:t>
            </a:r>
          </a:p>
        </p:txBody>
      </p:sp>
      <p:sp>
        <p:nvSpPr>
          <p:cNvPr id="58" name="rect58"/>
          <p:cNvSpPr/>
          <p:nvPr/>
        </p:nvSpPr>
        <p:spPr>
          <a:xfrm>
            <a:off x="4475000" y="2480000"/>
            <a:ext cx="3225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Processos novos por dia/mês.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280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Weibull</a:t>
            </a:r>
          </a:p>
        </p:txBody>
      </p:sp>
      <p:sp>
        <p:nvSpPr>
          <p:cNvPr id="60" name="rect60"/>
          <p:cNvSpPr/>
          <p:nvPr/>
        </p:nvSpPr>
        <p:spPr>
          <a:xfrm>
            <a:off x="2450000" y="2800000"/>
            <a:ext cx="2025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Contínua, assimétrica</a:t>
            </a:r>
          </a:p>
        </p:txBody>
      </p:sp>
      <p:sp>
        <p:nvSpPr>
          <p:cNvPr id="61" name="rect61"/>
          <p:cNvSpPr/>
          <p:nvPr/>
        </p:nvSpPr>
        <p:spPr>
          <a:xfrm>
            <a:off x="4475000" y="2800000"/>
            <a:ext cx="3225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Tempo até sentença, acordo ou baixa.</a:t>
            </a:r>
          </a:p>
        </p:txBody>
      </p:sp>
      <p:sp>
        <p:nvSpPr>
          <p:cNvPr id="62" name="tb6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James et al. (2021)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Forma típica do tempo de tramitação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800000"/>
            <a:ext cx="5800000" cy="14000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~92%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33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das renovatórias do XY&amp;A se ajustam razoavelmente a uma Weibull. A média não serve, mas a forma da curva permite estimar prazos com mais defesa.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James et al. (2021); CNJ (2024)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 6: apresentação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Qual gráfico responde a qual pergunta jurimétrica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gráfico responde a uma pergunta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Etapa 6 não é "escolher um gráfico bonito". É escolher o gráfico que responde, da forma mais direta possível, à pergunta investigável da Etapa 1.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Antes de abrir o Excel, escreva a pergunta em uma linha. Sem pergunta clara, qualquer gráfico parece interessante.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Cada tipo de gráfico responde bem a um tipo de pergunta. Usar o gráfico errado força o leitor a fazer um trabalho que você deveria ter feito por ele.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Tufte (2001)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Que gráfico para qual pergunta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19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Pergunta</a:t>
            </a:r>
          </a:p>
        </p:txBody>
      </p:sp>
      <p:sp>
        <p:nvSpPr>
          <p:cNvPr id="51" name="rect51"/>
          <p:cNvSpPr/>
          <p:nvPr/>
        </p:nvSpPr>
        <p:spPr>
          <a:xfrm>
            <a:off x="2650000" y="1780000"/>
            <a:ext cx="15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Gráfico</a:t>
            </a:r>
          </a:p>
        </p:txBody>
      </p:sp>
      <p:sp>
        <p:nvSpPr>
          <p:cNvPr id="52" name="rect52"/>
          <p:cNvSpPr/>
          <p:nvPr/>
        </p:nvSpPr>
        <p:spPr>
          <a:xfrm>
            <a:off x="4150000" y="1780000"/>
            <a:ext cx="255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Exemplo XY&amp;A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160000"/>
            <a:ext cx="19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Comparar grupos</a:t>
            </a:r>
          </a:p>
        </p:txBody>
      </p:sp>
      <p:sp>
        <p:nvSpPr>
          <p:cNvPr id="54" name="rect54"/>
          <p:cNvSpPr/>
          <p:nvPr/>
        </p:nvSpPr>
        <p:spPr>
          <a:xfrm>
            <a:off x="2650000" y="2160000"/>
            <a:ext cx="15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Barras</a:t>
            </a:r>
          </a:p>
        </p:txBody>
      </p:sp>
      <p:sp>
        <p:nvSpPr>
          <p:cNvPr id="55" name="rect55"/>
          <p:cNvSpPr/>
          <p:nvPr/>
        </p:nvSpPr>
        <p:spPr>
          <a:xfrm>
            <a:off x="4150000" y="2160000"/>
            <a:ext cx="25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Procedencia por vara.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480000"/>
            <a:ext cx="19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Evolução no tempo</a:t>
            </a:r>
          </a:p>
        </p:txBody>
      </p:sp>
      <p:sp>
        <p:nvSpPr>
          <p:cNvPr id="57" name="rect57"/>
          <p:cNvSpPr/>
          <p:nvPr/>
        </p:nvSpPr>
        <p:spPr>
          <a:xfrm>
            <a:off x="2650000" y="2480000"/>
            <a:ext cx="15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Linhas</a:t>
            </a:r>
          </a:p>
        </p:txBody>
      </p:sp>
      <p:sp>
        <p:nvSpPr>
          <p:cNvPr id="58" name="rect58"/>
          <p:cNvSpPr/>
          <p:nvPr/>
        </p:nvSpPr>
        <p:spPr>
          <a:xfrm>
            <a:off x="4150000" y="2480000"/>
            <a:ext cx="25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Volume de ações por ano.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2800000"/>
            <a:ext cx="19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Forma da distribuição</a:t>
            </a:r>
          </a:p>
        </p:txBody>
      </p:sp>
      <p:sp>
        <p:nvSpPr>
          <p:cNvPr id="60" name="rect60"/>
          <p:cNvSpPr/>
          <p:nvPr/>
        </p:nvSpPr>
        <p:spPr>
          <a:xfrm>
            <a:off x="2650000" y="2800000"/>
            <a:ext cx="15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Histograma</a:t>
            </a:r>
          </a:p>
        </p:txBody>
      </p:sp>
      <p:sp>
        <p:nvSpPr>
          <p:cNvPr id="61" name="rect61"/>
          <p:cNvSpPr/>
          <p:nvPr/>
        </p:nvSpPr>
        <p:spPr>
          <a:xfrm>
            <a:off x="4150000" y="2800000"/>
            <a:ext cx="25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Valor da causa em renovatórias.</a:t>
            </a:r>
          </a:p>
        </p:txBody>
      </p:sp>
      <p:sp>
        <p:nvSpPr>
          <p:cNvPr id="62" name="rect62"/>
          <p:cNvSpPr/>
          <p:nvPr/>
        </p:nvSpPr>
        <p:spPr>
          <a:xfrm>
            <a:off x="750000" y="3120000"/>
            <a:ext cx="19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Dispersão e outliers</a:t>
            </a:r>
          </a:p>
        </p:txBody>
      </p:sp>
      <p:sp>
        <p:nvSpPr>
          <p:cNvPr id="63" name="rect63"/>
          <p:cNvSpPr/>
          <p:nvPr/>
        </p:nvSpPr>
        <p:spPr>
          <a:xfrm>
            <a:off x="2650000" y="3120000"/>
            <a:ext cx="15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Boxplot</a:t>
            </a:r>
          </a:p>
        </p:txBody>
      </p:sp>
      <p:sp>
        <p:nvSpPr>
          <p:cNvPr id="64" name="rect64"/>
          <p:cNvSpPr/>
          <p:nvPr/>
        </p:nvSpPr>
        <p:spPr>
          <a:xfrm>
            <a:off x="4150000" y="3120000"/>
            <a:ext cx="25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Tempo de tramitação por comarca.</a:t>
            </a:r>
          </a:p>
        </p:txBody>
      </p:sp>
      <p:sp>
        <p:nvSpPr>
          <p:cNvPr id="65" name="rect65"/>
          <p:cNvSpPr/>
          <p:nvPr/>
        </p:nvSpPr>
        <p:spPr>
          <a:xfrm>
            <a:off x="750000" y="3440000"/>
            <a:ext cx="19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Relação entre 2 variáveis</a:t>
            </a:r>
          </a:p>
        </p:txBody>
      </p:sp>
      <p:sp>
        <p:nvSpPr>
          <p:cNvPr id="66" name="rect66"/>
          <p:cNvSpPr/>
          <p:nvPr/>
        </p:nvSpPr>
        <p:spPr>
          <a:xfrm>
            <a:off x="2650000" y="3440000"/>
            <a:ext cx="15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Dispersão</a:t>
            </a:r>
          </a:p>
        </p:txBody>
      </p:sp>
      <p:sp>
        <p:nvSpPr>
          <p:cNvPr id="67" name="rect67"/>
          <p:cNvSpPr/>
          <p:nvPr/>
        </p:nvSpPr>
        <p:spPr>
          <a:xfrm>
            <a:off x="4150000" y="3440000"/>
            <a:ext cx="25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Valor da causa vs. tempo até sentença.</a:t>
            </a:r>
          </a:p>
        </p:txBody>
      </p:sp>
      <p:sp>
        <p:nvSpPr>
          <p:cNvPr id="68" name="tb68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Barras: para comparar grupos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Use barras quando a pergunta é "qual grupo tem mais X?". O olho compara comprimentos com facilidade.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Ordene as barras por valor (do maior para o menor), não por ordem alfabética do nome do grupo.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jurimetria: taxa de procedência por vara, número de processos por comarca, valor médio por tipo de ação.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Tufte (2001); Wheelan (2016)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Linhas: para evolução no tempo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Linhas conectam pontos ao longo de uma escala temporal. São a forma natural de mostrar tendência.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Evite mais de 4 a 5 linhas no mesmo gráfico: vira espaguete e ninguém enxerga padrão.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XY&amp;A: volume mensal de novas ações de revisão e renovatória, proporção de acordos por trimestre.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Tufte (2001)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Histograma: para a forma da distribuição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Histograma mostra como os valores se distribuem em faixas. Revela assimetria, múltiplas modas e caudas pesadas.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Escolha a largura do bin com cuidado: muito fina vira ruído, muito grossa esconde estrutura.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XY&amp;A: histograma do valor da causa revela cauda longa e justifica usar mediana, não média.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Boxplot: para dispersão e outliers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Boxplot resume a distribuição em 5 números: mínimo, P25, mediana, P75, máximo. Outliers aparecem como pontos isolados.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Permite comparar dispersões entre grupos sem precisar mostrar a base inteira.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XY&amp;A: boxplot do tempo de tramitação por vara mostra qual juízo decide rápido e qual decide errado.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James et al. (2021)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Dispersão: para relação entre variáveis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Cada ponto é um processo; cada eixo, uma variável. Revela relações lineares, não-lineares e agólomerações.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Cuidado com correlação: associação não é causalidade. Ver leitura crítica adiante.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XY&amp;A: valor da causa vs. tempo até sentença; tempo de tramitação vs. desfecho; relações para suspeitar de padrões.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Silver (2013)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Boas práticas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que comunica e o que distrai em um gráfico jurídico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Cinco princípios da boa visualização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80000"/>
            <a:ext cx="5950000" cy="2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1.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Uma pergunta por gráfico. Título do gráfico é a resposta em uma frase.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2.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Eixos rotulados, com unidade e período explícitos.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3.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Sem 3D, sem efeitos de sombra, sem fatias decorativas.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4.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Cor com semântica: navy = base, amarelo = destaque, cinza = comparativo.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5.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Citar a fonte da base (CNJ, TJSP, XY&amp;A) no rodapé do gráfico.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Tufte (2001); Wheelan (2016)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que comunica e o que distrai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28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Comunica</a:t>
            </a:r>
          </a:p>
        </p:txBody>
      </p:sp>
      <p:sp>
        <p:nvSpPr>
          <p:cNvPr id="51" name="rect51"/>
          <p:cNvSpPr/>
          <p:nvPr/>
        </p:nvSpPr>
        <p:spPr>
          <a:xfrm>
            <a:off x="3830000" y="1780000"/>
            <a:ext cx="28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1B2A4A"/>
                </a:solidFill>
                <a:latin typeface="Arial Black"/>
              </a:rPr>
              <a:t>Distrai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Título claro respondendo à pergunta.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Eixos com unidade e período.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Cor com semântica fixa.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Anotações destacando o achado.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383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Efeitos 3D, sombras, gradientes.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Legendas redundantes ou ausentes.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Excesso de cores sem função.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Linhas de grade densas demais.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Tufte (2001)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XY&amp;A: o mesmo dado, dois gráficos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Como reescrever um gráfico para o cliente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4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300" b="0" i="0">
                <a:solidFill>
                  <a:srgbClr val="333333"/>
                </a:solidFill>
                <a:latin typeface="Arial"/>
              </a:rPr>
              <a:t>Gráfico ruim: pizza 3D com 12 fatias coloridas, sem título claro, ordenadas alfabeticamente. O cliente não sabe o que ler primeiro.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300" b="0" i="0">
                <a:solidFill>
                  <a:srgbClr val="333333"/>
                </a:solidFill>
                <a:latin typeface="Arial"/>
              </a:rPr>
              <a:t>Gráfico bom: barras horizontais ordenadas pelo valor, título "As 5 comarcas com maior tempo de tramitação (XY&amp;A, 2018-2024)", anotação destacando o outlier.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300" b="0" i="0">
                <a:solidFill>
                  <a:srgbClr val="333333"/>
                </a:solidFill>
                <a:latin typeface="Arial"/>
              </a:rPr>
              <a:t>Mesmos dados, leituras opostas: o segundo já sugere a decisão ("reposicionar a equipe nessas 5 comarcas"). O primeiro empurra a decisão para o cliente.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Tufte (2001); Wheelan (2016)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Demonstração em XY&amp;A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Quatro perguntas, quatro gráficos sobre a base de locação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Pergunta 1: volume por ano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Gráfico de linhas (volume por ano, 2010–2024)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2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Eixo X: ano de distribuição (2010-2024). Eixo Y: contagem de novas ações.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Achado: queda de ~28% em 2020 e recuperação em 2022, com pico em 2023 (alta nos contratos comerciais).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Decisão derivada: dimensionar a equipe para o pico de 2023 ou ajustar para a média histórica? O gráfico mostra que o pico não se sustentou.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Pergunta 2: que vara decide mais rápido?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Boxplot do tempo de tramitação por vara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2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Eixo X: 5 varas com mais ações do XY&amp;A. Eixo Y: tempo (dias) entre distribuição e sentença.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Achado: a Vara C parece rápida na média, mas a mediana mostra o contrário. Tem alguns extintos sem mérito puxando a média.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Decisão derivada: ajustar provisão e estratégia de prazo pela mediana, não pela média.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Pergunta 3: qual a cara do valor da causa?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Histograma do valor da causa (renovatórias)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2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Eixo X: faixa de valor (em R$ mil). Eixo Y: contagem de processos por faixa.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Achado: distribuição fortemente assimétrica à direita. 80% dos casos abaixo de R$ 250 mil; cauda longa até R$ 18 milhões.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Decisão derivada: comunicar valor típico ao cliente pela mediana e P75, não pela média. Provisionar por faixa.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Huff (2016)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Pergunta 4: desfecho por tipo de ação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Barras agrupadas: desfecho por tipo de ação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2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Eixo X: tipo de ação (revisional vs. renovatória). Cada grupo: barras coloridas para procedente, parcial, improcedente, extinto.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Achado: renovatórias têm ~12 pontos percentuais a mais de procedência integral; revisionais têm mais extintos sem mérito.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Decisão derivada: estratégia de tese diferenciada, com revisão exigindo preparação probatória mais sólida desde a inicial.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05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Leitura crítica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Como não ser enganado por gráficos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Eixos truncados: o clássico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Quando o eixo Y começa em valor diferente de zero, diferenças pequenas parecem enormes.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barras, isso é quase sempre um problema. Em linhas (série temporal), pode ser legítimo, mas exige rotular o corte.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discusses jurídicas, eixo truncado vira "prova" política de explosão ou queda. Sempre confira de onde o eixo começa.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Tufte (2001)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Escala log: amiga ou inimiga?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Escala log comprime ordens de grandeza. Útil quando os valores variam de R$ mil a R$ milhões no mesmo gráfico.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Risco: para o leigo, escala log esconde o tamanho real da diferença. "Sobe pouco no gráfico" pode ser "multiplica por 10 na realidade".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Regra: escala log só com rótulo explícito ("Eixo Y: log10") e nota explicando o que cada passo significa.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Silver (2013)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Correlações espúrias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Correlação não é causalidade. Duas séries podem subir juntas por acaso, por uma causa comum ou pela mesma tendência temporal.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jurimetria, é fácil correlacionar tempo de tramitação com qualquer indicador macroeconômico se ambos crescerem com o tempo. Quase sempre é espurio.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Antes de afirmar causalidade, pergunte: existe um caminho concreto que liga A a B? Existe uma terceira variável que explica os dois?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Silver (2013); Huff (2016)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As 4 armadilhas em gráficos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00000"/>
            <a:ext cx="5950000" cy="58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Eixo Y truncado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Diferença pequena vira montanha. Pergunte de onde o eixo começa.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310000"/>
            <a:ext cx="5950000" cy="58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Escala log sem aviso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Sobe pouco no papel, mas multiplica por 10 na realidade.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920000"/>
            <a:ext cx="5950000" cy="58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Cherry-picking de período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2019-2021 conta uma história; 2010-2024, outra. Peça a série toda.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3530000"/>
            <a:ext cx="5950000" cy="58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Correlação como causalidade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Duas curvas crescendo juntas não provam causa. Peça o mecanismo.</a:t>
            </a:r>
          </a:p>
        </p:txBody>
      </p:sp>
      <p:sp>
        <p:nvSpPr>
          <p:cNvPr id="80" name="tb80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Silver (2013)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Exercício 1: pergunta e gráfico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Vamos pensar juntos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4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Lembre: 1 pergunta clara + 1 gráfico que entrega a resposta + 1 decisão concreta apoiada pelo achado.</a:t>
            </a:r>
          </a:p>
        </p:txBody>
      </p:sp>
      <p:sp>
        <p:nvSpPr>
          <p:cNvPr id="51" name="rect51"/>
          <p:cNvSpPr/>
          <p:nvPr/>
        </p:nvSpPr>
        <p:spPr>
          <a:xfrm>
            <a:off x="750000" y="2200000"/>
            <a:ext cx="5950000" cy="1700000"/>
          </a:xfrm>
          <a:prstGeom prst="roundRect">
            <a:avLst>
              <a:gd name="adj" fmla="val 6500"/>
            </a:avLst>
          </a:prstGeom>
          <a:solidFill>
            <a:srgbClr val="FCE5CD"/>
          </a:solidFill>
          <a:ln w="127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200" b="1" i="0">
                <a:solidFill>
                  <a:srgbClr val="E8A317"/>
                </a:solidFill>
                <a:latin typeface="Arial Black"/>
              </a:rPr>
              <a:t>Pergunta dirigida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500" b="1" i="0">
                <a:solidFill>
                  <a:srgbClr val="1B2A4A"/>
                </a:solidFill>
                <a:latin typeface="Arial Black"/>
              </a:rPr>
              <a:t>Você precisa apresentar 1 achado da base XY&amp;A para um cliente locador em 1 minuto. Qual pergunta você responde e qual gráfico você usa?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080000"/>
            <a:ext cx="5950000" cy="2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→ Caminho de resposta no próximo slide.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Exercício 1: resposta dirigida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Caminho de resposta comentado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5950000" cy="56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300" b="1" i="0">
                <a:solidFill>
                  <a:srgbClr val="1B2A4A"/>
                </a:solidFill>
                <a:latin typeface="Arial Black"/>
              </a:rPr>
              <a:t>Que pergunta + gráfico você apresenta ao cliente em 1 minuto?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400000"/>
            <a:ext cx="595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Pergunta: qual a faixa típica de valor de uma renovatória do XY&amp;A e onde o caso do cliente cai dentro dela?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Gráfico: histograma do valor da causa, com linha vertical destacando o caso específico do cliente.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Achado: 80% das renovatórias ficam abaixo de R$ 250 mil; o caso do cliente está no P90.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Decisão apoiada: provisão e estratégia de acordo calibradas para um caso fora do padrão, não no "caso médio".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Nunes (2019)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Exercício 2: análise para advogados imobiliários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Vamos pensar juntos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4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Pense em 1 indicador, 1 gráfico e 1 leitura jurídica.</a:t>
            </a:r>
          </a:p>
        </p:txBody>
      </p:sp>
      <p:sp>
        <p:nvSpPr>
          <p:cNvPr id="51" name="rect51"/>
          <p:cNvSpPr/>
          <p:nvPr/>
        </p:nvSpPr>
        <p:spPr>
          <a:xfrm>
            <a:off x="750000" y="2200000"/>
            <a:ext cx="5950000" cy="1700000"/>
          </a:xfrm>
          <a:prstGeom prst="roundRect">
            <a:avLst>
              <a:gd name="adj" fmla="val 6500"/>
            </a:avLst>
          </a:prstGeom>
          <a:solidFill>
            <a:srgbClr val="FCE5CD"/>
          </a:solidFill>
          <a:ln w="127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200" b="1" i="0">
                <a:solidFill>
                  <a:srgbClr val="E8A317"/>
                </a:solidFill>
                <a:latin typeface="Arial Black"/>
              </a:rPr>
              <a:t>Pergunta dirigida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500" b="1" i="0">
                <a:solidFill>
                  <a:srgbClr val="1B2A4A"/>
                </a:solidFill>
                <a:latin typeface="Arial Black"/>
              </a:rPr>
              <a:t>Que análise descritiva sobre a base de locação seria mais útil para um advogado imobiliário que estima viabilidade de ação?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080000"/>
            <a:ext cx="5950000" cy="2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→ Caminho de resposta no próximo slide.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Susskind (2023)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Exercício 2: resposta dirigida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Caminho de resposta comentado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5950000" cy="56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300" b="1" i="0">
                <a:solidFill>
                  <a:srgbClr val="1B2A4A"/>
                </a:solidFill>
                <a:latin typeface="Arial Black"/>
              </a:rPr>
              <a:t>Qual análise descritiva mais útil para o advogado imobiliário?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400000"/>
            <a:ext cx="595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Indicador: taxa de procedência integral em renovatórias por comarca, considerando apenas casos PJ.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Gráfico: barras horizontais ordenadas, com cor destacando comarcas onde o XY&amp;A atua.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Leitura jurídica: comarcas com taxa baixa demandam mais preparação probatória; taxa alta sugere viabilidade direta.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Apoia decisão: priorizar ações nas comarcas favoráveis e calibrar honorários e prazos nas demais.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Susskind (2023); Nunes (2019)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Síntese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Cinco pontos para levar para casa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5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350000" y="181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Três distribuições bastam para a maior parte da jurimetria descritiva: Normal (valor), Poisson (volume), Weibull (tempo).</a:t>
            </a:r>
          </a:p>
        </p:txBody>
      </p:sp>
      <p:sp>
        <p:nvSpPr>
          <p:cNvPr id="52" name="rect52"/>
          <p:cNvSpPr/>
          <p:nvPr/>
        </p:nvSpPr>
        <p:spPr>
          <a:xfrm>
            <a:off x="750000" y="232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1350000" y="238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 gráfico responde a uma pergunta: barras comparam, linhas mostram tendência, histograma revela forma, boxplot mostra dispersão.</a:t>
            </a:r>
          </a:p>
        </p:txBody>
      </p:sp>
      <p:sp>
        <p:nvSpPr>
          <p:cNvPr id="54" name="rect54"/>
          <p:cNvSpPr/>
          <p:nvPr/>
        </p:nvSpPr>
        <p:spPr>
          <a:xfrm>
            <a:off x="750000" y="289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1350000" y="295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Boas práticas: 1 pergunta por gráfico, eixos rotulados, sem 3D, cor com semântica, fonte citada no rodapé.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346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1350000" y="352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Leitura crítica: cuidado com eixos truncados, escala log sem aviso, recortes de período e correlações espúrias.</a:t>
            </a:r>
          </a:p>
        </p:txBody>
      </p:sp>
      <p:sp>
        <p:nvSpPr>
          <p:cNvPr id="58" name="rect58"/>
          <p:cNvSpPr/>
          <p:nvPr/>
        </p:nvSpPr>
        <p:spPr>
          <a:xfrm>
            <a:off x="750000" y="403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350000" y="409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 ciclo da Aula 2 e 3 fecha aqui em modo raiz: na Aula 5 ele volta com IA generativa em cada etapa.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Atividade Prática 3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Entrega junto com o trabalho final (Aula 6)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00000"/>
            <a:ext cx="6847800" cy="72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700" b="1" i="0">
                <a:solidFill>
                  <a:srgbClr val="E8A317"/>
                </a:solidFill>
                <a:latin typeface="Arial Black"/>
              </a:rPr>
              <a:t>Aplique as Etapas 4 a 6 a uma pergunta sobre a base XY&amp;A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520000"/>
            <a:ext cx="68478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Você deverá responder, individualmente, em casa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880000"/>
            <a:ext cx="7020000" cy="1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Pergunta 1.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Escolha 1 pergunta investigável sobre a base XY&amp;A (revisão ou renovatória) e descreva, em até 5 linhas, o tratamento mínimo necessário (Etapa 4) para respondê-la.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Pergunta 2.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Indique a medida descritiva (Etapa 5) e o tipo de gráfico (Etapa 6) que você usaria, com 1 justificativa em uma frase para cada escolha.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Pergunta 3.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Escreva 1 frase de título do gráfico que já entregue a resposta ao cliente e nomeie 1 decisão concreta que muda com o achado.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400000"/>
            <a:ext cx="7020000" cy="2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Peso: 4 atividades = 3,0 pts (média aritmética simples).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Ponte para a próxima aula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vem na semana que vem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585100"/>
            <a:ext cx="1500000" cy="594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0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➜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2200000" y="1780000"/>
            <a:ext cx="450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Da descrição à inferência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2200000" y="2100000"/>
            <a:ext cx="4500000" cy="3999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Aula 4: testes de hipótese e 4 modelos preditivos</a:t>
            </a:r>
          </a:p>
        </p:txBody>
      </p:sp>
      <p:sp>
        <p:nvSpPr>
          <p:cNvPr id="53" name="el53"/>
          <p:cNvSpPr/>
          <p:nvPr/>
        </p:nvSpPr>
        <p:spPr>
          <a:xfrm>
            <a:off x="790000" y="265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4" name="tb54"/>
          <p:cNvSpPr txBox="1"/>
          <p:nvPr/>
        </p:nvSpPr>
        <p:spPr>
          <a:xfrm>
            <a:off x="1075695" y="260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Inferência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3822762" y="260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p-valor e intervalo de confiança com analogia jurídica.</a:t>
            </a:r>
          </a:p>
        </p:txBody>
      </p:sp>
      <p:sp>
        <p:nvSpPr>
          <p:cNvPr id="56" name="el56"/>
          <p:cNvSpPr/>
          <p:nvPr/>
        </p:nvSpPr>
        <p:spPr>
          <a:xfrm>
            <a:off x="790000" y="308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7" name="tb57"/>
          <p:cNvSpPr txBox="1"/>
          <p:nvPr/>
        </p:nvSpPr>
        <p:spPr>
          <a:xfrm>
            <a:off x="1075695" y="303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Desfecho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3822762" y="303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regressão logística para taxa de procedência.</a:t>
            </a:r>
          </a:p>
        </p:txBody>
      </p:sp>
      <p:sp>
        <p:nvSpPr>
          <p:cNvPr id="59" name="el59"/>
          <p:cNvSpPr/>
          <p:nvPr/>
        </p:nvSpPr>
        <p:spPr>
          <a:xfrm>
            <a:off x="790000" y="351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0" name="tb60"/>
          <p:cNvSpPr txBox="1"/>
          <p:nvPr/>
        </p:nvSpPr>
        <p:spPr>
          <a:xfrm>
            <a:off x="1075695" y="346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Tempo e valor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3822762" y="346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sobrevivência (Weibull volta) e estimativas de valor.</a:t>
            </a:r>
          </a:p>
        </p:txBody>
      </p:sp>
      <p:sp>
        <p:nvSpPr>
          <p:cNvPr id="62" name="el62"/>
          <p:cNvSpPr/>
          <p:nvPr/>
        </p:nvSpPr>
        <p:spPr>
          <a:xfrm>
            <a:off x="790000" y="394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3" name="tb63"/>
          <p:cNvSpPr txBox="1"/>
          <p:nvPr/>
        </p:nvSpPr>
        <p:spPr>
          <a:xfrm>
            <a:off x="1075695" y="389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Acordo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3822762" y="389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propensão de acordo e faixa aceitável.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Referências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Fontes citadas ao longo do conteúdo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80000"/>
            <a:ext cx="7025100" cy="23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TUFTE, E. R. The Visual Display of Quantitative Information. 2. ed. Cheshire: Graphics Press, 2001.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WHEELAN, C. Estatística: o que é, para que serve, como funciona. Rio de Janeiro: Zahar, 2016.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HUFF, D. Como mentir com estatística. Rio de Janeiro: Intrínseca, 2016. (Original: How to Lie with Statistics, 1954.)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SILVER, N. O sinal e o ruído: por que tantas previsões falham e outras não. Rio de Janeiro: Intrínseca, 2013.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JAMES, G.; WITTEN, D.; HASTIE, T.; TIBSHIRANI, R. An Introduction to Statistical Learning. 2. ed. New York: Springer, 2021.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NUNES, M. Jurimetria: como a estatística pode reinventar o Direito. 2. ed. São Paulo: Revista dos Tribunais, 2019.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CONSELHO NACIONAL DE JUSTIÇA. Justiça em Números 2024. Brasília: CNJ, 2024.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SUSSKIND, R. Tomorrow's Lawyers: An Introduction to Your Future. 3. ed. Oxford: Oxford University Press, 2023.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250000"/>
            <a:ext cx="595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Leituras complementares estarão indicadas ao longo dos próximos blocos.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822950" y="914400"/>
            <a:ext cx="5486400" cy="7026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Fim da Aula 3</a:t>
            </a:r>
          </a:p>
        </p:txBody>
      </p:sp>
      <p:sp>
        <p:nvSpPr>
          <p:cNvPr id="31" name="rect31"/>
          <p:cNvSpPr/>
          <p:nvPr/>
        </p:nvSpPr>
        <p:spPr>
          <a:xfrm>
            <a:off x="822950" y="1661173"/>
            <a:ext cx="1828800" cy="528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32" name="tb32"/>
          <p:cNvSpPr txBox="1"/>
          <p:nvPr/>
        </p:nvSpPr>
        <p:spPr>
          <a:xfrm>
            <a:off x="822950" y="1836884"/>
            <a:ext cx="5486400" cy="3513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b="0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Lembrete: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822950" y="2188307"/>
            <a:ext cx="6915900" cy="3513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Atividade 3: responda em casa e entregue junto com o trabalho final (Aula 6).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822950" y="2697950"/>
            <a:ext cx="6915900" cy="3513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Próxima aula: Inferência, 4 modelos preditivos e estratégia de acordo.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2026-02-14T20:12:37Z</dcterms:created>
  <dc:creator>Bruno Daleffi</dc:creator>
</cp:coreProperties>
</file>