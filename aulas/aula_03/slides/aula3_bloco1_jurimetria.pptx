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</p:sldIdLst>
  <p:sldSz cy="5143500" cx="9144000"/>
  <p:notesSz cx="5143500" cy="9144000"/>
  <p:embeddedFontLst>
    <p:embeddedFont>
      <p:font typeface="Arial Black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0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5oWEV931oxANsAAKpH6PvK4/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0"/>
      </p:guideLst>
    </p:cSldViewPr>
  </p:slide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ArialBlack-regular.fntdata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1097275" y="914400"/>
            <a:ext cx="6790500" cy="18288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2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JURIMETRIA E ANÁLISE DE DADOS PARA DECISÕES ESTRATÉGICAS</a:t>
            </a:r>
          </a:p>
        </p:txBody>
      </p:sp>
      <p:sp>
        <p:nvSpPr>
          <p:cNvPr id="11" name="rect11"/>
          <p:cNvSpPr/>
          <p:nvPr/>
        </p:nvSpPr>
        <p:spPr>
          <a:xfrm>
            <a:off x="1097280" y="2788920"/>
            <a:ext cx="18288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1097280" y="2926080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Aula 3 · Bloco 1</a:t>
            </a:r>
          </a:p>
        </p:txBody>
      </p:sp>
      <p:sp>
        <p:nvSpPr>
          <p:cNvPr id="13" name="tb13"/>
          <p:cNvSpPr txBox="1"/>
          <p:nvPr/>
        </p:nvSpPr>
        <p:spPr>
          <a:xfrm>
            <a:off x="1097280" y="333756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Ciclo da Ciência de Dados Aplicado ao Direito (Parte 2)</a:t>
            </a:r>
          </a:p>
        </p:txBody>
      </p:sp>
      <p:sp>
        <p:nvSpPr>
          <p:cNvPr id="14" name="tb14"/>
          <p:cNvSpPr txBox="1"/>
          <p:nvPr/>
        </p:nvSpPr>
        <p:spPr>
          <a:xfrm>
            <a:off x="1097280" y="3700000"/>
            <a:ext cx="54864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Da base ao insight: tratar e estruturar (Etapa 4) e analisar com estatística descritiva (Etapa 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Agenda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vamos percorrer nas próximas 1h50min</a:t>
            </a:r>
          </a:p>
        </p:txBody>
      </p:sp>
      <p:sp>
        <p:nvSpPr>
          <p:cNvPr id="50" name="el50"/>
          <p:cNvSpPr/>
          <p:nvPr/>
        </p:nvSpPr>
        <p:spPr>
          <a:xfrm>
            <a:off x="781363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01363" y="17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4: tratar e estruturar a base</a:t>
            </a:r>
          </a:p>
        </p:txBody>
      </p:sp>
      <p:sp>
        <p:nvSpPr>
          <p:cNvPr id="52" name="el52"/>
          <p:cNvSpPr/>
          <p:nvPr/>
        </p:nvSpPr>
        <p:spPr>
          <a:xfrm>
            <a:off x="4204761" y="17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4724761" y="17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Excel como ferramenta de tratamento</a:t>
            </a:r>
          </a:p>
        </p:txBody>
      </p:sp>
      <p:sp>
        <p:nvSpPr>
          <p:cNvPr id="54" name="el54"/>
          <p:cNvSpPr/>
          <p:nvPr/>
        </p:nvSpPr>
        <p:spPr>
          <a:xfrm>
            <a:off x="781363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01363" y="23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Tratamento na prática (XY&amp;A)</a:t>
            </a:r>
          </a:p>
        </p:txBody>
      </p:sp>
      <p:sp>
        <p:nvSpPr>
          <p:cNvPr id="56" name="el56"/>
          <p:cNvSpPr/>
          <p:nvPr/>
        </p:nvSpPr>
        <p:spPr>
          <a:xfrm>
            <a:off x="4204761" y="23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4724761" y="23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Armadilhas no tratamento de dados</a:t>
            </a:r>
          </a:p>
        </p:txBody>
      </p:sp>
      <p:sp>
        <p:nvSpPr>
          <p:cNvPr id="58" name="el58"/>
          <p:cNvSpPr/>
          <p:nvPr/>
        </p:nvSpPr>
        <p:spPr>
          <a:xfrm>
            <a:off x="781363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01363" y="29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Etapa 5: análise descritiva</a:t>
            </a:r>
          </a:p>
        </p:txBody>
      </p:sp>
      <p:sp>
        <p:nvSpPr>
          <p:cNvPr id="60" name="el60"/>
          <p:cNvSpPr/>
          <p:nvPr/>
        </p:nvSpPr>
        <p:spPr>
          <a:xfrm>
            <a:off x="4204761" y="29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6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4724761" y="29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Posição: média, mediana, moda, percentis</a:t>
            </a:r>
          </a:p>
        </p:txBody>
      </p:sp>
      <p:sp>
        <p:nvSpPr>
          <p:cNvPr id="62" name="el62"/>
          <p:cNvSpPr/>
          <p:nvPr/>
        </p:nvSpPr>
        <p:spPr>
          <a:xfrm>
            <a:off x="781363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7</a:t>
            </a:r>
          </a:p>
        </p:txBody>
      </p:sp>
      <p:sp>
        <p:nvSpPr>
          <p:cNvPr id="63" name="tb63"/>
          <p:cNvSpPr txBox="1"/>
          <p:nvPr/>
        </p:nvSpPr>
        <p:spPr>
          <a:xfrm>
            <a:off x="1301363" y="35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Dispersão: amplitude, desvio, quartis</a:t>
            </a:r>
          </a:p>
        </p:txBody>
      </p:sp>
      <p:sp>
        <p:nvSpPr>
          <p:cNvPr id="64" name="el64"/>
          <p:cNvSpPr/>
          <p:nvPr/>
        </p:nvSpPr>
        <p:spPr>
          <a:xfrm>
            <a:off x="4204761" y="3500000"/>
            <a:ext cx="420000" cy="420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pPr algn="ctr"/>
            <a:r>
              <a:rPr lang="pt-BR" sz="1600" b="1">
                <a:solidFill>
                  <a:srgbClr val="E8A317"/>
                </a:solidFill>
                <a:latin typeface="Arial Black"/>
              </a:rPr>
              <a:t>8</a:t>
            </a:r>
          </a:p>
        </p:txBody>
      </p:sp>
      <p:sp>
        <p:nvSpPr>
          <p:cNvPr id="65" name="tb65"/>
          <p:cNvSpPr txBox="1"/>
          <p:nvPr/>
        </p:nvSpPr>
        <p:spPr>
          <a:xfrm>
            <a:off x="4724761" y="3560000"/>
            <a:ext cx="2400000" cy="399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0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Quando a média engana e a mediana ajuda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Objetivos de Aprendizagem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Ao final deste bloco, você será capaz de</a:t>
            </a:r>
          </a:p>
        </p:txBody>
      </p:sp>
      <p:sp>
        <p:nvSpPr>
          <p:cNvPr id="50" name="el50"/>
          <p:cNvSpPr/>
          <p:nvPr/>
        </p:nvSpPr>
        <p:spPr>
          <a:xfrm>
            <a:off x="790000" y="178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1" name="tb51"/>
          <p:cNvSpPr txBox="1"/>
          <p:nvPr/>
        </p:nvSpPr>
        <p:spPr>
          <a:xfrm>
            <a:off x="1060000" y="175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Compreender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900000" y="175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que envolve tratar e estruturar uma base de dados jurídica analítica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30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60000" y="227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Identificar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2900000" y="227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as principais armadilhas do tratamento de dados em planilhas Excel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282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60000" y="279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Aplicar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2900000" y="279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padronização de datas, valores e classificações sobre a base XY&amp;A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34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60000" y="331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Distinguir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2900000" y="331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medidas de posição e de dispersão e os contextos em que cada uma serve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860000"/>
            <a:ext cx="160000" cy="16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60000" y="3830000"/>
            <a:ext cx="180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5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Decidir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2900000" y="3830000"/>
            <a:ext cx="3500000" cy="5001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a média engana e quando a mediana é a leitura correta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Onde estamos no ciclo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Da base aos achados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34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Na Aula 2 percorremos as Etapas 1, 2 e 3: pergunta investigável, mapeamento de variáveis e coleta da base.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200000"/>
            <a:ext cx="5950000" cy="20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Hoje seguimos para as Etapas 4 e 5: tratar a base que coletamos e descrever os primeiros achados com estatística descritiva.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cenário continua sendo o XY&amp;A e a base de 16.110 julgados de revisão e renovatória de locação do TJSP entre 2010 e 2024.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Bloco 2 fechamos com Etapa 6 (apresentação dos resultados) e a leitura crítica de gráficos.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Wheelan (2016)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01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4: tratar a base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De dados crus a uma tabela analítica defensável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 que é tratar e estruturar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Tratar é transformar dados crus, heterogêneos e cheios de ruído em uma tabela única, padronizada e auditável.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Estruturar é definir, dentro dessa tabela, as variáveis certas para responder à pergunta investigável definida na Etapa 1.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 essa etapa, qualquer análise herda os erros, as duplicatas e as inconsistências da fonte. O tratamento é a fundação do resto do ciclo.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Wheelan (2016)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Tempo gasto em tratamento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800000"/>
            <a:ext cx="5800000" cy="140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60–80%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33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do tempo de um projeto de análise é consumido na coleta e no tratamento da base, não na análise propriamente dita.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Nunes (2019)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As 4 dimensões do tratamento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precisa estar pronto antes de analisar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3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Limpeza: remover linhas vazias, processos duplicados, registros incompletos ou fora do recorte.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Padronização: deixar datas, valores monetários e textos em formatos uniformes (ISO 8601, ponto decimal, caixa única).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Criação de variáveis: derivar campos que respondem à pergunta (tempo de tramitação em dias, faixa de valor, ano de distribuição).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Validação: conferir que totais, distribuições e amostras batem com a fonte e com a expectativa do operador.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Dados crus × tabela analítica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Dados crus (como chegam)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Tabela analítica (depois do tratamento)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Linhas heterogêneas, vindas de fontes diferentes.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Datas em formatos misturados, valores como texto.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Categorias livres, com sinônimos e erros de digitação.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Não dá para somar, agrupar ou comparar com confiança.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Cada linha é um processo, cada coluna é uma variável.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Datas em ISO 8601, valores em número, categorias fechadas.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Variáveis derivadas (tempo, faixa, ano) já calculadas.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Pronta para descrever, agrupar, comparar e visualizar.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CNJ (2024)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XY&amp;A: planilha bruta vs. base analítica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muda entre o sistema do escritório e a base analítica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2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Sistema interno do XY&amp;A: cada linha pode ser um andamento, com datas em formatos misturados e valores como texto livre.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Base analítica: cada linha vira um processo, com data de distribuição e de sentença em ISO, valor da causa em número e desfecho categórico.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Toda transformação é registrada em uma planilha-irmã de Documentação, para que outro advogado consiga reproduzir.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02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Excel como ferramenta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Filtros, fórmulas e tabelas dinâmicas para tratar uma base jurídica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Por que Excel no Direito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Três razões práticas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4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Universal: roda em qualquer escritório e em qualquer máquina, com curva de aprendizado baixa para quem já trabalha com planilha.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Suficiente: para uma base de 16 mil linhas como a do XY&amp;A, Excel cobre coleta manual, padronização, agregações e gráficos sem precisar de Python ou R.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Auditável: a sequência de fórmulas, filtros e abas é visível e revisável, ao contrário de scripts que escondem a lógica do tratamento.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Wheelan (2016)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Os três instrumentos no Excel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Filtros e classificações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Fórmulas e tabelas dinâmicas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Recortar a base por matéria, vara, período e desfecho.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Encontrar inconsistências e linhas-órfãs.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Inspecionar uma amostra antes de aplicar uma transformação.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Útil quando a pergunta exige um subconjunto.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Fórmulas (SE, PROCV, ARRUMAR, TEXTO) padronizam datas, valores e textos.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Tabelas dinâmicas resumem milhares de linhas em painéis.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Substituem dezenas de cálculos manuais.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Útil para agregar e comparar grupos.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Pipeline de tratamento em 5 passos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4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#</a:t>
            </a:r>
          </a:p>
        </p:txBody>
      </p:sp>
      <p:sp>
        <p:nvSpPr>
          <p:cNvPr id="51" name="rect51"/>
          <p:cNvSpPr/>
          <p:nvPr/>
        </p:nvSpPr>
        <p:spPr>
          <a:xfrm>
            <a:off x="1150000" y="1780000"/>
            <a:ext cx="24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Passo</a:t>
            </a:r>
          </a:p>
        </p:txBody>
      </p:sp>
      <p:sp>
        <p:nvSpPr>
          <p:cNvPr id="52" name="rect52"/>
          <p:cNvSpPr/>
          <p:nvPr/>
        </p:nvSpPr>
        <p:spPr>
          <a:xfrm>
            <a:off x="3550000" y="1780000"/>
            <a:ext cx="31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Resultado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1</a:t>
            </a:r>
          </a:p>
        </p:txBody>
      </p:sp>
      <p:sp>
        <p:nvSpPr>
          <p:cNvPr id="54" name="rect54"/>
          <p:cNvSpPr/>
          <p:nvPr/>
        </p:nvSpPr>
        <p:spPr>
          <a:xfrm>
            <a:off x="1150000" y="2160000"/>
            <a:ext cx="2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Importar e identificar a unidade da linha</a:t>
            </a:r>
          </a:p>
        </p:txBody>
      </p:sp>
      <p:sp>
        <p:nvSpPr>
          <p:cNvPr id="55" name="rect55"/>
          <p:cNvSpPr/>
          <p:nvPr/>
        </p:nvSpPr>
        <p:spPr>
          <a:xfrm>
            <a:off x="3550000" y="2160000"/>
            <a:ext cx="31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Sei se cada linha é processo, andamento ou parte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2</a:t>
            </a:r>
          </a:p>
        </p:txBody>
      </p:sp>
      <p:sp>
        <p:nvSpPr>
          <p:cNvPr id="57" name="rect57"/>
          <p:cNvSpPr/>
          <p:nvPr/>
        </p:nvSpPr>
        <p:spPr>
          <a:xfrm>
            <a:off x="1150000" y="2480000"/>
            <a:ext cx="2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Padronizar datas (ISO 8601)</a:t>
            </a:r>
          </a:p>
        </p:txBody>
      </p:sp>
      <p:sp>
        <p:nvSpPr>
          <p:cNvPr id="58" name="rect58"/>
          <p:cNvSpPr/>
          <p:nvPr/>
        </p:nvSpPr>
        <p:spPr>
          <a:xfrm>
            <a:off x="3550000" y="2480000"/>
            <a:ext cx="31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Sei calcular tempo entre eventos com confiança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3</a:t>
            </a:r>
          </a:p>
        </p:txBody>
      </p:sp>
      <p:sp>
        <p:nvSpPr>
          <p:cNvPr id="60" name="rect60"/>
          <p:cNvSpPr/>
          <p:nvPr/>
        </p:nvSpPr>
        <p:spPr>
          <a:xfrm>
            <a:off x="1150000" y="2800000"/>
            <a:ext cx="2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Padronizar valores monetários</a:t>
            </a:r>
          </a:p>
        </p:txBody>
      </p:sp>
      <p:sp>
        <p:nvSpPr>
          <p:cNvPr id="61" name="rect61"/>
          <p:cNvSpPr/>
          <p:nvPr/>
        </p:nvSpPr>
        <p:spPr>
          <a:xfrm>
            <a:off x="3550000" y="2800000"/>
            <a:ext cx="31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Posso somar, calcular média e mediana sem erro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63" name="rect63"/>
          <p:cNvSpPr/>
          <p:nvPr/>
        </p:nvSpPr>
        <p:spPr>
          <a:xfrm>
            <a:off x="1150000" y="3120000"/>
            <a:ext cx="24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Categorizar texto livre (vara, desfecho, tipo)</a:t>
            </a:r>
          </a:p>
        </p:txBody>
      </p:sp>
      <p:sp>
        <p:nvSpPr>
          <p:cNvPr id="64" name="rect64"/>
          <p:cNvSpPr/>
          <p:nvPr/>
        </p:nvSpPr>
        <p:spPr>
          <a:xfrm>
            <a:off x="3550000" y="3120000"/>
            <a:ext cx="31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Posso agrupar e comparar grupos</a:t>
            </a:r>
          </a:p>
        </p:txBody>
      </p:sp>
      <p:sp>
        <p:nvSpPr>
          <p:cNvPr id="65" name="rect65"/>
          <p:cNvSpPr/>
          <p:nvPr/>
        </p:nvSpPr>
        <p:spPr>
          <a:xfrm>
            <a:off x="750000" y="3440000"/>
            <a:ext cx="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5</a:t>
            </a:r>
          </a:p>
        </p:txBody>
      </p:sp>
      <p:sp>
        <p:nvSpPr>
          <p:cNvPr id="66" name="rect66"/>
          <p:cNvSpPr/>
          <p:nvPr/>
        </p:nvSpPr>
        <p:spPr>
          <a:xfrm>
            <a:off x="1150000" y="3440000"/>
            <a:ext cx="24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Criar variáveis derivadas (tempo, faixa, ano)</a:t>
            </a:r>
          </a:p>
        </p:txBody>
      </p:sp>
      <p:sp>
        <p:nvSpPr>
          <p:cNvPr id="67" name="rect67"/>
          <p:cNvSpPr/>
          <p:nvPr/>
        </p:nvSpPr>
        <p:spPr>
          <a:xfrm>
            <a:off x="3550000" y="3440000"/>
            <a:ext cx="31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Tenho colunas prontas para a Etapa 5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Antes e depois do tratamento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7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Campo</a:t>
            </a:r>
          </a:p>
        </p:txBody>
      </p:sp>
      <p:sp>
        <p:nvSpPr>
          <p:cNvPr id="51" name="rect51"/>
          <p:cNvSpPr/>
          <p:nvPr/>
        </p:nvSpPr>
        <p:spPr>
          <a:xfrm>
            <a:off x="2450000" y="1780000"/>
            <a:ext cx="2125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Antes (cru)</a:t>
            </a:r>
          </a:p>
        </p:txBody>
      </p:sp>
      <p:sp>
        <p:nvSpPr>
          <p:cNvPr id="52" name="rect52"/>
          <p:cNvSpPr/>
          <p:nvPr/>
        </p:nvSpPr>
        <p:spPr>
          <a:xfrm>
            <a:off x="4575000" y="1780000"/>
            <a:ext cx="2125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Depois (analítico)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Distribuição</a:t>
            </a:r>
          </a:p>
        </p:txBody>
      </p:sp>
      <p:sp>
        <p:nvSpPr>
          <p:cNvPr id="54" name="rect54"/>
          <p:cNvSpPr/>
          <p:nvPr/>
        </p:nvSpPr>
        <p:spPr>
          <a:xfrm>
            <a:off x="2450000" y="2160000"/>
            <a:ext cx="21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01/03/2018</a:t>
            </a:r>
          </a:p>
        </p:txBody>
      </p:sp>
      <p:sp>
        <p:nvSpPr>
          <p:cNvPr id="55" name="rect55"/>
          <p:cNvSpPr/>
          <p:nvPr/>
        </p:nvSpPr>
        <p:spPr>
          <a:xfrm>
            <a:off x="4575000" y="2160000"/>
            <a:ext cx="21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2018-03-01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Valor da causa</a:t>
            </a:r>
          </a:p>
        </p:txBody>
      </p:sp>
      <p:sp>
        <p:nvSpPr>
          <p:cNvPr id="57" name="rect57"/>
          <p:cNvSpPr/>
          <p:nvPr/>
        </p:nvSpPr>
        <p:spPr>
          <a:xfrm>
            <a:off x="2450000" y="2480000"/>
            <a:ext cx="2125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R$ 1.234,56</a:t>
            </a:r>
          </a:p>
        </p:txBody>
      </p:sp>
      <p:sp>
        <p:nvSpPr>
          <p:cNvPr id="58" name="rect58"/>
          <p:cNvSpPr/>
          <p:nvPr/>
        </p:nvSpPr>
        <p:spPr>
          <a:xfrm>
            <a:off x="4575000" y="2480000"/>
            <a:ext cx="2125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1234.56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Vara</a:t>
            </a:r>
          </a:p>
        </p:txBody>
      </p:sp>
      <p:sp>
        <p:nvSpPr>
          <p:cNvPr id="60" name="rect60"/>
          <p:cNvSpPr/>
          <p:nvPr/>
        </p:nvSpPr>
        <p:spPr>
          <a:xfrm>
            <a:off x="2450000" y="2800000"/>
            <a:ext cx="21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1ª vara cíveL  Sp</a:t>
            </a:r>
          </a:p>
        </p:txBody>
      </p:sp>
      <p:sp>
        <p:nvSpPr>
          <p:cNvPr id="61" name="rect61"/>
          <p:cNvSpPr/>
          <p:nvPr/>
        </p:nvSpPr>
        <p:spPr>
          <a:xfrm>
            <a:off x="4575000" y="2800000"/>
            <a:ext cx="21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VARA_CIVEL_01_SP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17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Desfecho</a:t>
            </a:r>
          </a:p>
        </p:txBody>
      </p:sp>
      <p:sp>
        <p:nvSpPr>
          <p:cNvPr id="63" name="rect63"/>
          <p:cNvSpPr/>
          <p:nvPr/>
        </p:nvSpPr>
        <p:spPr>
          <a:xfrm>
            <a:off x="2450000" y="3120000"/>
            <a:ext cx="2125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Procedente em parte</a:t>
            </a:r>
          </a:p>
        </p:txBody>
      </p:sp>
      <p:sp>
        <p:nvSpPr>
          <p:cNvPr id="64" name="rect64"/>
          <p:cNvSpPr/>
          <p:nvPr/>
        </p:nvSpPr>
        <p:spPr>
          <a:xfrm>
            <a:off x="4575000" y="3120000"/>
            <a:ext cx="2125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PARCIAL</a:t>
            </a:r>
          </a:p>
        </p:txBody>
      </p:sp>
      <p:sp>
        <p:nvSpPr>
          <p:cNvPr id="65" name="rect65"/>
          <p:cNvSpPr/>
          <p:nvPr/>
        </p:nvSpPr>
        <p:spPr>
          <a:xfrm>
            <a:off x="750000" y="3440000"/>
            <a:ext cx="17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Tipo de ação</a:t>
            </a:r>
          </a:p>
        </p:txBody>
      </p:sp>
      <p:sp>
        <p:nvSpPr>
          <p:cNvPr id="66" name="rect66"/>
          <p:cNvSpPr/>
          <p:nvPr/>
        </p:nvSpPr>
        <p:spPr>
          <a:xfrm>
            <a:off x="2450000" y="3440000"/>
            <a:ext cx="21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renovatoria</a:t>
            </a:r>
          </a:p>
        </p:txBody>
      </p:sp>
      <p:sp>
        <p:nvSpPr>
          <p:cNvPr id="67" name="rect67"/>
          <p:cNvSpPr/>
          <p:nvPr/>
        </p:nvSpPr>
        <p:spPr>
          <a:xfrm>
            <a:off x="4575000" y="3440000"/>
            <a:ext cx="2125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RENOVATORIA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03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Tratamento na prática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Aplicando os 5 passos sobre a base XY&amp;A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Tratando datas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Bases jurídicas brasileiras misturam DD/MM/YYYY, DD-MM-YY e até MM/DD/YYYY (importadas de sistemas em inglês).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Padronizamos tudo em ISO 8601 (YYYY-MM-DD) para que ordenação e cálculos de tempo entre eventos funcionem sem ambiguidade.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 Excel, TEXTO combinada com DATA.VALOR resolve a maior parte. As linhas sobrantes vão para uma aba de Exceções e revisão manual.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Tratando valores monetários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Valores como R$ 1.234,56 chegam como texto. Para somar, calcular média ou mediana, precisam virar número.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combinação de SUBSTITUIR (tira R$ e ponto de milhar) e VALOR (converte a vírgula em número) padroniza a coluna em poucos passos.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Sempre que houver arredondamento, registre a regra (truncar, arredondar para cima/baixo) na aba de Documentação da base.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Tratando texto inconsistente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700000"/>
            <a:ext cx="5950000" cy="2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Textos livres como vara e comarca chegam com variações: caixa misturada, espaços extras, acentuação diferente, abreviações.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ARRUMAR remove espaços extras; MAIÚSCULA e MINÚSCULA padronizam a caixa; SUBSTITUIR limpa acentos quando preciso.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Para variações reais de grafia (1ª Vara Cível vs. 1a Vara Civel, por exemplo), use uma planilha-dicionário com mapeamento canônico.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Categorias fechadas: desfecho e tipo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Do texto livre ao categórico controlado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3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0" i="0">
                <a:solidFill>
                  <a:srgbClr val="333333"/>
                </a:solidFill>
                <a:latin typeface="Arial"/>
              </a:rPr>
              <a:t>Desfecho: 4 categorias derivadas do dispositivo (PROCEDENTE, PARCIAL_PROCEDENTE, IMPROCEDENTE, EXTINTO_SEM_MERITO).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0" i="0">
                <a:solidFill>
                  <a:srgbClr val="333333"/>
                </a:solidFill>
                <a:latin typeface="Arial"/>
              </a:rPr>
              <a:t>Tipo de ação: REVISIONAL e RENOVATORIA, pois o desfecho costuma ter dinâmica diferente nos dois ritos.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0" i="0">
                <a:solidFill>
                  <a:srgbClr val="333333"/>
                </a:solidFill>
                <a:latin typeface="Arial"/>
              </a:rPr>
              <a:t>Quem fez a classificação, quando e com que critério vai junto na aba de Documentação. Sem isso, a categoria perde defesa em juízo.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dirigido: padronizar 'vara'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Vamos pensar juntos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4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coluna chega com 412 valores únicos, com variações como: '1a vara civel sp', '1ª Vara CÍVEL SP', 'Vara Cível 1 SP', 'sao paulo, 1ª vara cível' etc.</a:t>
            </a:r>
          </a:p>
        </p:txBody>
      </p:sp>
      <p:sp>
        <p:nvSpPr>
          <p:cNvPr id="51" name="rect51"/>
          <p:cNvSpPr/>
          <p:nvPr/>
        </p:nvSpPr>
        <p:spPr>
          <a:xfrm>
            <a:off x="750000" y="2200000"/>
            <a:ext cx="5950000" cy="1700000"/>
          </a:xfrm>
          <a:prstGeom prst="roundRect">
            <a:avLst>
              <a:gd name="adj" fmla="val 6500"/>
            </a:avLst>
          </a:prstGeom>
          <a:solidFill>
            <a:srgbClr val="FCE5CD"/>
          </a:solidFill>
          <a:ln w="127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200" b="1" i="0">
                <a:solidFill>
                  <a:srgbClr val="E8A317"/>
                </a:solidFill>
                <a:latin typeface="Arial Black"/>
              </a:rPr>
              <a:t>Pergunta dirigida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500" b="1" i="0">
                <a:solidFill>
                  <a:srgbClr val="1B2A4A"/>
                </a:solidFill>
                <a:latin typeface="Arial Black"/>
              </a:rPr>
              <a:t>Como você padronizaria a coluna 'vara' do XY&amp;A para que ela permita agrupar processos e comparar juízos?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080000"/>
            <a:ext cx="5950000" cy="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→ Caminho de resposta no próximo slide.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Padronizar 'vara': resposta dirigida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comentado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5950000" cy="5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1" i="0">
                <a:solidFill>
                  <a:srgbClr val="1B2A4A"/>
                </a:solidFill>
                <a:latin typeface="Arial Black"/>
              </a:rPr>
              <a:t>Como padronizar a coluna 'vara' para agrupar e comparar juízos?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400000"/>
            <a:ext cx="595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Normalizar: ARRUMAR + MAIÚSCULA + remoção de acentos uniformizam caixa e ortografia.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Decompor: separar número da vara, foro (cível, criminal) e comarca em colunas distintas.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Dicionário: planilha de_para com as variações observadas; aplicar PROCV para mapear no canônico.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Validar: se 412 valores únicos viraram ~60, a comparação entre juízos é mais confiável.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Wheelan (2016)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04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Armadilhas do tratamento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Erros comuns que viram problemas grandes na análise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As 4 armadilhas mais comuns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0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Datas reinterpretadas pelo Excel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03/05/2018 lido como 5 de março quebra todo cálculo de tempo.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31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Vírgulas e pontos misturados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R$ 1.234,56 vira 1234.56 ou 1234560,00. Erro de mil vezes silencioso.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92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Duplicatas que parecem únicas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Processos iguais com espaço, acento ou caixa diferentes inflam a base.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3530000"/>
            <a:ext cx="5950000" cy="58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150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1" i="0">
                <a:solidFill>
                  <a:srgbClr val="1B2A4A"/>
                </a:solidFill>
                <a:latin typeface="Arial Black"/>
              </a:rPr>
              <a:t>⚠  Padronização que perde nuance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150" b="0" i="0">
                <a:solidFill>
                  <a:srgbClr val="333333"/>
                </a:solidFill>
                <a:latin typeface="Arial"/>
              </a:rPr>
              <a:t>Colapsar 412 varas em 5 grupos esconde o juízo com o achado relevante.</a:t>
            </a:r>
          </a:p>
        </p:txBody>
      </p:sp>
      <p:sp>
        <p:nvSpPr>
          <p:cNvPr id="80" name="tb8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Boas práticas: documentar e versionar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separa um tratamento defensável de um tratamento perdido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3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Mantenha sempre a base bruta intacta em uma aba/arquivo separado. Toda transformação acontece em uma cópia.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Documente cada decisão de padronização (regra, motivo, autor, data) em uma aba 'Documentação'. Esse é o equivalente jurídico da cadeia de custódia.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Versione: salve cópias da base após cada etapa do pipeline (1_importada, 2_datas, 3_valores, 4_categorias, 5_derivadas), para conseguir voltar.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Nunes (2019); CNJ (2024)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Dados não mentem; quem mente é quem trata mal os dados.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Por que a Etapa 4 sustenta o resto do ciclo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30000"/>
            <a:ext cx="5950000" cy="242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frase de Huff (1954/2016) é uma síntese da Etapa 4: a maior parte dos números enganosos não nasce de má-fé na análise, mas de tratamento descuidado da base.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Para o operador do Direito, isso significa que defender um número exige defender o tratamento que produziu o número. Sem rastro, não há defesa.</a:t>
            </a:r>
          </a:p>
          <a:p>
            <a:pPr lvl="0" marL="0" indent="0" algn="l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sz="15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Por isso, todo trabalho final desta disciplina exige documentação explícita da Etapa 4.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Silver (2013)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b20"/>
          <p:cNvSpPr txBox="1"/>
          <p:nvPr/>
        </p:nvSpPr>
        <p:spPr>
          <a:xfrm>
            <a:off x="1097275" y="900000"/>
            <a:ext cx="24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96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05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97275" y="2100000"/>
            <a:ext cx="6500000" cy="11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Etapa 5: análise</a:t>
            </a:r>
          </a:p>
        </p:txBody>
      </p:sp>
      <p:sp>
        <p:nvSpPr>
          <p:cNvPr id="22" name="rect22"/>
          <p:cNvSpPr/>
          <p:nvPr/>
        </p:nvSpPr>
        <p:spPr>
          <a:xfrm>
            <a:off x="1097280" y="3250000"/>
            <a:ext cx="1500000" cy="54864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23" name="tb23"/>
          <p:cNvSpPr txBox="1"/>
          <p:nvPr/>
        </p:nvSpPr>
        <p:spPr>
          <a:xfrm>
            <a:off x="1097280" y="3400000"/>
            <a:ext cx="5486400" cy="5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Estatística descritiva como primeira leitura da base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Três modos de olhar para os dados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Descrever (foco de hoje)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Inferir e prever (Aula 4)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Resumir o que está na base: médias, medianas, frequências.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Não pretende generalizar para fora da base.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É a leitura inicial obrigatória de qualquer projeto.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Aula 3 inteira gira em torno daqui.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Inferir: testar hipóteses sobre a população a partir de uma amostra.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Prever: estimar desfecho, tempo, valor e propensão de acordo.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Exigem que a Etapa 4 tenha sido bem feita.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Voltam na Aula 4 com p-valor, regressão e sobrevivência.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James et al. (2021)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Medidas de posição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Onde está o 'centro' da distribuição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3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Média: soma dos valores dividida pela quantidade. É sensível a valores extremos.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Mediana: valor que divide a base ao meio quando ordenada. É robusta a outliers.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Moda: valor mais frequente. Útil em variáveis categóricas (ex.: vara que mais aparece).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Percentis (p25, p50, p75): pontos de corte que mostram como a base se distribui.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Medidas de dispersão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Quão espalhada está a distribuição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2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Amplitude: diferença entre o maior e o menor valor. Dá a ordem de grandeza, mas é dominada por extremos.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Desvio-padrão: quão longe, em média, cada valor está da média. Útil quando a distribuição é simétrica.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Quartis e intervalo interquartílico (IQR, definido como p75 menos p25): janela onde estão 50% dos casos, preferida em distribuições assimétricas como tempo de processo.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Tempo de tramitação (XY&amp;A)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15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Medida</a:t>
            </a:r>
          </a:p>
        </p:txBody>
      </p:sp>
      <p:sp>
        <p:nvSpPr>
          <p:cNvPr id="51" name="rect51"/>
          <p:cNvSpPr/>
          <p:nvPr/>
        </p:nvSpPr>
        <p:spPr>
          <a:xfrm>
            <a:off x="2250000" y="1780000"/>
            <a:ext cx="130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Valor (dias)</a:t>
            </a:r>
          </a:p>
        </p:txBody>
      </p:sp>
      <p:sp>
        <p:nvSpPr>
          <p:cNvPr id="52" name="rect52"/>
          <p:cNvSpPr/>
          <p:nvPr/>
        </p:nvSpPr>
        <p:spPr>
          <a:xfrm>
            <a:off x="3550000" y="1780000"/>
            <a:ext cx="3150000" cy="3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300" b="1" i="0">
                <a:solidFill>
                  <a:srgbClr val="FFFFFF"/>
                </a:solidFill>
                <a:latin typeface="Arial Black"/>
              </a:rPr>
              <a:t>Leitura jurídica</a:t>
            </a:r>
          </a:p>
        </p:txBody>
      </p:sp>
      <p:sp>
        <p:nvSpPr>
          <p:cNvPr id="53" name="rect53"/>
          <p:cNvSpPr/>
          <p:nvPr/>
        </p:nvSpPr>
        <p:spPr>
          <a:xfrm>
            <a:off x="750000" y="216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Média</a:t>
            </a:r>
          </a:p>
        </p:txBody>
      </p:sp>
      <p:sp>
        <p:nvSpPr>
          <p:cNvPr id="54" name="rect54"/>
          <p:cNvSpPr/>
          <p:nvPr/>
        </p:nvSpPr>
        <p:spPr>
          <a:xfrm>
            <a:off x="2250000" y="216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742</a:t>
            </a:r>
          </a:p>
        </p:txBody>
      </p:sp>
      <p:sp>
        <p:nvSpPr>
          <p:cNvPr id="55" name="rect55"/>
          <p:cNvSpPr/>
          <p:nvPr/>
        </p:nvSpPr>
        <p:spPr>
          <a:xfrm>
            <a:off x="3550000" y="2160000"/>
            <a:ext cx="31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Puxada por casos extremos.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2480000"/>
            <a:ext cx="15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Mediana</a:t>
            </a:r>
          </a:p>
        </p:txBody>
      </p:sp>
      <p:sp>
        <p:nvSpPr>
          <p:cNvPr id="57" name="rect57"/>
          <p:cNvSpPr/>
          <p:nvPr/>
        </p:nvSpPr>
        <p:spPr>
          <a:xfrm>
            <a:off x="2250000" y="248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612</a:t>
            </a:r>
          </a:p>
        </p:txBody>
      </p:sp>
      <p:sp>
        <p:nvSpPr>
          <p:cNvPr id="58" name="rect58"/>
          <p:cNvSpPr/>
          <p:nvPr/>
        </p:nvSpPr>
        <p:spPr>
          <a:xfrm>
            <a:off x="3550000" y="2480000"/>
            <a:ext cx="31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Metade termina em até ~1 ano e 8 meses.</a:t>
            </a:r>
          </a:p>
        </p:txBody>
      </p:sp>
      <p:sp>
        <p:nvSpPr>
          <p:cNvPr id="59" name="rect59"/>
          <p:cNvSpPr/>
          <p:nvPr/>
        </p:nvSpPr>
        <p:spPr>
          <a:xfrm>
            <a:off x="750000" y="280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P25</a:t>
            </a:r>
          </a:p>
        </p:txBody>
      </p:sp>
      <p:sp>
        <p:nvSpPr>
          <p:cNvPr id="60" name="rect60"/>
          <p:cNvSpPr/>
          <p:nvPr/>
        </p:nvSpPr>
        <p:spPr>
          <a:xfrm>
            <a:off x="2250000" y="280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415</a:t>
            </a:r>
          </a:p>
        </p:txBody>
      </p:sp>
      <p:sp>
        <p:nvSpPr>
          <p:cNvPr id="61" name="rect61"/>
          <p:cNvSpPr/>
          <p:nvPr/>
        </p:nvSpPr>
        <p:spPr>
          <a:xfrm>
            <a:off x="3550000" y="2800000"/>
            <a:ext cx="31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25% mais rápidos: até ~1 ano e 1 mês.</a:t>
            </a:r>
          </a:p>
        </p:txBody>
      </p:sp>
      <p:sp>
        <p:nvSpPr>
          <p:cNvPr id="62" name="rect62"/>
          <p:cNvSpPr/>
          <p:nvPr/>
        </p:nvSpPr>
        <p:spPr>
          <a:xfrm>
            <a:off x="750000" y="3120000"/>
            <a:ext cx="15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P75</a:t>
            </a:r>
          </a:p>
        </p:txBody>
      </p:sp>
      <p:sp>
        <p:nvSpPr>
          <p:cNvPr id="63" name="rect63"/>
          <p:cNvSpPr/>
          <p:nvPr/>
        </p:nvSpPr>
        <p:spPr>
          <a:xfrm>
            <a:off x="2250000" y="3120000"/>
            <a:ext cx="130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894</a:t>
            </a:r>
          </a:p>
        </p:txBody>
      </p:sp>
      <p:sp>
        <p:nvSpPr>
          <p:cNvPr id="64" name="rect64"/>
          <p:cNvSpPr/>
          <p:nvPr/>
        </p:nvSpPr>
        <p:spPr>
          <a:xfrm>
            <a:off x="3550000" y="3120000"/>
            <a:ext cx="3150000" cy="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25% mais lentos: a partir de ~2 anos e 5 meses.</a:t>
            </a:r>
          </a:p>
        </p:txBody>
      </p:sp>
      <p:sp>
        <p:nvSpPr>
          <p:cNvPr id="65" name="rect65"/>
          <p:cNvSpPr/>
          <p:nvPr/>
        </p:nvSpPr>
        <p:spPr>
          <a:xfrm>
            <a:off x="750000" y="3440000"/>
            <a:ext cx="15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IQR (P75-P25)</a:t>
            </a:r>
          </a:p>
        </p:txBody>
      </p:sp>
      <p:sp>
        <p:nvSpPr>
          <p:cNvPr id="66" name="rect66"/>
          <p:cNvSpPr/>
          <p:nvPr/>
        </p:nvSpPr>
        <p:spPr>
          <a:xfrm>
            <a:off x="2250000" y="3440000"/>
            <a:ext cx="130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479</a:t>
            </a:r>
          </a:p>
        </p:txBody>
      </p:sp>
      <p:sp>
        <p:nvSpPr>
          <p:cNvPr id="67" name="rect67"/>
          <p:cNvSpPr/>
          <p:nvPr/>
        </p:nvSpPr>
        <p:spPr>
          <a:xfrm>
            <a:off x="3550000" y="3440000"/>
            <a:ext cx="3150000" cy="320000"/>
          </a:xfrm>
          <a:prstGeom prst="rect">
            <a:avLst/>
          </a:prstGeom>
          <a:solidFill>
            <a:srgbClr val="F4F4F4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200" b="0" i="0">
                <a:solidFill>
                  <a:srgbClr val="333333"/>
                </a:solidFill>
                <a:latin typeface="Arial"/>
              </a:rPr>
              <a:t>Janela típica: ~14 a ~30 meses.</a:t>
            </a:r>
          </a:p>
        </p:txBody>
      </p:sp>
      <p:sp>
        <p:nvSpPr>
          <p:cNvPr id="68" name="tb68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CNJ (2024); Wheelan (2016)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Quando a média engana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tb50"/>
          <p:cNvSpPr txBox="1"/>
          <p:nvPr/>
        </p:nvSpPr>
        <p:spPr>
          <a:xfrm>
            <a:off x="750000" y="1800000"/>
            <a:ext cx="5800000" cy="14000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72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+130 dias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33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6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é a diferença entre a média e a mediana do tempo entre distribuição e sentença no XY&amp;A. Casos muito longos puxam a média; a mediana descreve melhor a realidade da maioria.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CNJ (2024)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Média ou mediana?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2870000" cy="480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FFFFFF"/>
                </a:solidFill>
                <a:latin typeface="Arial Black"/>
              </a:rPr>
              <a:t>Quando a média engana</a:t>
            </a:r>
          </a:p>
        </p:txBody>
      </p:sp>
      <p:sp>
        <p:nvSpPr>
          <p:cNvPr id="51" name="rect51"/>
          <p:cNvSpPr/>
          <p:nvPr/>
        </p:nvSpPr>
        <p:spPr>
          <a:xfrm>
            <a:off x="3830000" y="1780000"/>
            <a:ext cx="2870000" cy="48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/>
            <a:r>
              <a:rPr lang="pt-BR" sz="1700" b="1" i="0">
                <a:solidFill>
                  <a:srgbClr val="1B2A4A"/>
                </a:solidFill>
                <a:latin typeface="Arial Black"/>
              </a:rPr>
              <a:t>Quando a média ajuda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Distribuições assimétricas (tempo, valor da condenação).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Bases com poucos extremos muito altos.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Comparações entre juízos com perfis distintos.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1B2A4A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Cliente perguntando pelo 'caso típico'.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3830000" y="2260000"/>
            <a:ext cx="287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Distribuições aproximadamente simétricas.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Cálculos que dependem de soma (provisão total).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Indicadores estáveis, com pouca variação.</a:t>
            </a:r>
          </a:p>
          <a:p>
            <a:pPr lvl="0" marL="285750" indent="-285750" algn="l">
              <a:lnSpc>
                <a:spcPct val="120000"/>
              </a:lnSpc>
              <a:spcBef>
                <a:spcPts val="400"/>
              </a:spcBef>
              <a:buClr>
                <a:srgbClr val="E8A317"/>
              </a:buClr>
              <a:buFont typeface="Arial"/>
              <a:buChar char="•"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Quando o que importa é o total por casos.</a:t>
            </a:r>
          </a:p>
        </p:txBody>
      </p:sp>
      <p:sp>
        <p:nvSpPr>
          <p:cNvPr id="54" name="tb54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XY&amp;A: o juízo que parecia rápido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Quando a média leva a uma decisão errada</a:t>
            </a:r>
          </a:p>
        </p:txBody>
      </p:sp>
      <p:sp>
        <p:nvSpPr>
          <p:cNvPr id="50" name="rect50"/>
          <p:cNvSpPr/>
          <p:nvPr/>
        </p:nvSpPr>
        <p:spPr>
          <a:xfrm>
            <a:off x="800000" y="1800000"/>
            <a:ext cx="5850000" cy="2200000"/>
          </a:xfrm>
          <a:prstGeom prst="roundRect">
            <a:avLst>
              <a:gd name="adj" fmla="val 6500"/>
            </a:avLst>
          </a:prstGeom>
          <a:solidFill>
            <a:srgbClr val="F4F4F4"/>
          </a:solidFill>
          <a:ln w="9525">
            <a:solidFill>
              <a:srgbClr val="1B2A4A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Em uma comarca específica, a média do tempo de tramitação é 510 dias, abaixo da média geral. Parece um juízo rápido.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Olhando a mediana: 720 dias. A média foi puxada para baixo por 6 processos extintos sem mérito em menos de 30 dias.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400" b="0" i="0">
                <a:solidFill>
                  <a:srgbClr val="333333"/>
                </a:solidFill>
                <a:latin typeface="Arial"/>
              </a:rPr>
              <a:t>A decisão correta de provisão e de estratégia é usar a mediana, não a média. A diferença muda a recomendação para o cliente.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Huff (2016); Wheelan (2016)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Exercício dirigido: que medida usar?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Vamos pensar juntos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4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base tem valores entre R$ 6 mil e R$ 18 milhões, com 80% concentrados abaixo de R$ 250 mil.</a:t>
            </a:r>
          </a:p>
        </p:txBody>
      </p:sp>
      <p:sp>
        <p:nvSpPr>
          <p:cNvPr id="51" name="rect51"/>
          <p:cNvSpPr/>
          <p:nvPr/>
        </p:nvSpPr>
        <p:spPr>
          <a:xfrm>
            <a:off x="750000" y="2200000"/>
            <a:ext cx="5950000" cy="1700000"/>
          </a:xfrm>
          <a:prstGeom prst="roundRect">
            <a:avLst>
              <a:gd name="adj" fmla="val 6500"/>
            </a:avLst>
          </a:prstGeom>
          <a:solidFill>
            <a:srgbClr val="FCE5CD"/>
          </a:solidFill>
          <a:ln w="12700">
            <a:solidFill>
              <a:srgbClr val="E8A317"/>
            </a:solidFill>
          </a:ln>
        </p:spPr>
        <p:txBody>
          <a:bodyPr wrap="square" anchor="t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200" b="1" i="0">
                <a:solidFill>
                  <a:srgbClr val="E8A317"/>
                </a:solidFill>
                <a:latin typeface="Arial Black"/>
              </a:rPr>
              <a:t>Pergunta dirigida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500" b="1" i="0">
                <a:solidFill>
                  <a:srgbClr val="1B2A4A"/>
                </a:solidFill>
                <a:latin typeface="Arial Black"/>
              </a:rPr>
              <a:t>Para descrever o 'valor da causa' das renovatórias do XY&amp;A para um cliente locador, qual medida você usaria e por quê?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080000"/>
            <a:ext cx="5950000" cy="2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→ Caminho de resposta no próximo slide.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Que medida usar? Resposta dirigida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Caminho de resposta comentado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80000"/>
            <a:ext cx="5950000" cy="56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lang="pt-BR" sz="1300" b="1" i="0">
                <a:solidFill>
                  <a:srgbClr val="1B2A4A"/>
                </a:solidFill>
                <a:latin typeface="Arial Black"/>
              </a:rPr>
              <a:t>Como descrever 'valor da causa' das renovatórias para um cliente locador?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2400000"/>
            <a:ext cx="5950000" cy="18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Diagnóstico: distribuição assimétrica, com valores extremos (R$ 18 mi) puxando a média.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Mediana é a primeira leitura: valor central que 50% dos casos não ultrapassam.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P25 e P75 mostram a janela típica: comunicam volatilidade sem esconder os extremos.</a:t>
            </a:r>
          </a:p>
          <a:p>
            <a:pPr lvl="0" marL="0" indent="0" algn="l">
              <a:lnSpc>
                <a:spcPct val="120000"/>
              </a:lnSpc>
              <a:spcBef>
                <a:spcPts val="300"/>
              </a:spcBef>
              <a:buNone/>
            </a:pPr>
            <a:r>
              <a:rPr lang="pt-BR" sz="11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▶  </a:t>
            </a:r>
            <a:r>
              <a:rPr lang="pt-BR" sz="12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Média entra como informação complementar, sempre rotulada como 'puxada por extremos'.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750000" y="4350000"/>
            <a:ext cx="5950000" cy="220000"/>
          </a:xfrm>
          <a:prstGeom prst="rect">
            <a:avLst/>
          </a:prstGeom>
          <a:noFill/>
        </p:spPr>
        <p:txBody>
          <a:bodyPr wrap="square" anchor="b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1">
                <a:solidFill>
                  <a:srgbClr val="666666"/>
                </a:solidFill>
                <a:latin typeface="Arial"/>
                <a:ea typeface="Arial"/>
                <a:cs typeface="Arial"/>
              </a:rPr>
              <a:t>Wheelan (2016); Huff (2016)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Síntese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Cinco pontos para levar para casa</a:t>
            </a:r>
          </a:p>
        </p:txBody>
      </p:sp>
      <p:sp>
        <p:nvSpPr>
          <p:cNvPr id="50" name="rect50"/>
          <p:cNvSpPr/>
          <p:nvPr/>
        </p:nvSpPr>
        <p:spPr>
          <a:xfrm>
            <a:off x="750000" y="175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1350000" y="181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Tratar e estruturar consome 60–80% do tempo: é a fundação do ciclo, não um detalhe operacional.</a:t>
            </a:r>
          </a:p>
        </p:txBody>
      </p:sp>
      <p:sp>
        <p:nvSpPr>
          <p:cNvPr id="52" name="rect52"/>
          <p:cNvSpPr/>
          <p:nvPr/>
        </p:nvSpPr>
        <p:spPr>
          <a:xfrm>
            <a:off x="750000" y="232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1350000" y="238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Padronização disciplinada de datas, valores e categorias é o que separa uma base defensável de uma base perdida.</a:t>
            </a:r>
          </a:p>
        </p:txBody>
      </p:sp>
      <p:sp>
        <p:nvSpPr>
          <p:cNvPr id="54" name="rect54"/>
          <p:cNvSpPr/>
          <p:nvPr/>
        </p:nvSpPr>
        <p:spPr>
          <a:xfrm>
            <a:off x="750000" y="289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1350000" y="295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Documentar cada decisão é o equivalente jurídico da cadeia de custódia: sem rastro, o número não se sustenta.</a:t>
            </a:r>
          </a:p>
        </p:txBody>
      </p:sp>
      <p:sp>
        <p:nvSpPr>
          <p:cNvPr id="56" name="rect56"/>
          <p:cNvSpPr/>
          <p:nvPr/>
        </p:nvSpPr>
        <p:spPr>
          <a:xfrm>
            <a:off x="750000" y="346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1350000" y="352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Estatística descritiva é a primeira leitura obrigatória: posição (onde está o centro) e dispersão (quão espalhado).</a:t>
            </a:r>
          </a:p>
        </p:txBody>
      </p:sp>
      <p:sp>
        <p:nvSpPr>
          <p:cNvPr id="58" name="rect58"/>
          <p:cNvSpPr/>
          <p:nvPr/>
        </p:nvSpPr>
        <p:spPr>
          <a:xfrm>
            <a:off x="750000" y="4030000"/>
            <a:ext cx="500000" cy="5000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pPr algn="ctr"/>
            <a:r>
              <a:rPr lang="pt-BR" sz="2000" b="1" i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59" name="tb59"/>
          <p:cNvSpPr txBox="1"/>
          <p:nvPr/>
        </p:nvSpPr>
        <p:spPr>
          <a:xfrm>
            <a:off x="1350000" y="4090000"/>
            <a:ext cx="5300000" cy="4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 escolha entre média e mediana muda a decisão prática: em distribuições assimétricas, a mediana fala a verdade.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Ponte para o Bloco 2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O que vem a seguir, depois do intervalo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585100"/>
            <a:ext cx="1500000" cy="594900"/>
          </a:xfrm>
          <a:prstGeom prst="rect">
            <a:avLst/>
          </a:prstGeom>
          <a:noFill/>
        </p:spPr>
        <p:txBody>
          <a:bodyPr wrap="square" anchor="ctr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6000" b="1" i="0">
                <a:solidFill>
                  <a:srgbClr val="E8A317"/>
                </a:solidFill>
                <a:latin typeface="Arial Black"/>
                <a:ea typeface="Arial Black"/>
                <a:cs typeface="Arial Black"/>
              </a:rPr>
              <a:t>➜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2200000" y="1780000"/>
            <a:ext cx="450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Da descrição à apresentação</a:t>
            </a:r>
          </a:p>
        </p:txBody>
      </p:sp>
      <p:sp>
        <p:nvSpPr>
          <p:cNvPr id="52" name="tb52"/>
          <p:cNvSpPr txBox="1"/>
          <p:nvPr/>
        </p:nvSpPr>
        <p:spPr>
          <a:xfrm>
            <a:off x="2200000" y="2100000"/>
            <a:ext cx="4500000" cy="3999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Etapa 6 do ciclo no Bloco 2</a:t>
            </a:r>
          </a:p>
        </p:txBody>
      </p:sp>
      <p:sp>
        <p:nvSpPr>
          <p:cNvPr id="53" name="el53"/>
          <p:cNvSpPr/>
          <p:nvPr/>
        </p:nvSpPr>
        <p:spPr>
          <a:xfrm>
            <a:off x="790000" y="265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4" name="tb54"/>
          <p:cNvSpPr txBox="1"/>
          <p:nvPr/>
        </p:nvSpPr>
        <p:spPr>
          <a:xfrm>
            <a:off x="1075695" y="260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Distribuições</a:t>
            </a:r>
          </a:p>
        </p:txBody>
      </p:sp>
      <p:sp>
        <p:nvSpPr>
          <p:cNvPr id="55" name="tb55"/>
          <p:cNvSpPr txBox="1"/>
          <p:nvPr/>
        </p:nvSpPr>
        <p:spPr>
          <a:xfrm>
            <a:off x="3822762" y="260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Normal, Poisson, Weibull e analogias jurídicas.</a:t>
            </a:r>
          </a:p>
        </p:txBody>
      </p:sp>
      <p:sp>
        <p:nvSpPr>
          <p:cNvPr id="56" name="el56"/>
          <p:cNvSpPr/>
          <p:nvPr/>
        </p:nvSpPr>
        <p:spPr>
          <a:xfrm>
            <a:off x="790000" y="308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57" name="tb57"/>
          <p:cNvSpPr txBox="1"/>
          <p:nvPr/>
        </p:nvSpPr>
        <p:spPr>
          <a:xfrm>
            <a:off x="1075695" y="303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Visualização</a:t>
            </a:r>
          </a:p>
        </p:txBody>
      </p:sp>
      <p:sp>
        <p:nvSpPr>
          <p:cNvPr id="58" name="tb58"/>
          <p:cNvSpPr txBox="1"/>
          <p:nvPr/>
        </p:nvSpPr>
        <p:spPr>
          <a:xfrm>
            <a:off x="3822762" y="303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Qual gráfico para qual pergunta.</a:t>
            </a:r>
          </a:p>
        </p:txBody>
      </p:sp>
      <p:sp>
        <p:nvSpPr>
          <p:cNvPr id="59" name="el59"/>
          <p:cNvSpPr/>
          <p:nvPr/>
        </p:nvSpPr>
        <p:spPr>
          <a:xfrm>
            <a:off x="790000" y="351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0" name="tb60"/>
          <p:cNvSpPr txBox="1"/>
          <p:nvPr/>
        </p:nvSpPr>
        <p:spPr>
          <a:xfrm>
            <a:off x="1075695" y="346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Boas práticas</a:t>
            </a:r>
          </a:p>
        </p:txBody>
      </p:sp>
      <p:sp>
        <p:nvSpPr>
          <p:cNvPr id="61" name="tb61"/>
          <p:cNvSpPr txBox="1"/>
          <p:nvPr/>
        </p:nvSpPr>
        <p:spPr>
          <a:xfrm>
            <a:off x="3822762" y="346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 que comunica e o que distrai.</a:t>
            </a:r>
          </a:p>
        </p:txBody>
      </p:sp>
      <p:sp>
        <p:nvSpPr>
          <p:cNvPr id="62" name="el62"/>
          <p:cNvSpPr/>
          <p:nvPr/>
        </p:nvSpPr>
        <p:spPr>
          <a:xfrm>
            <a:off x="790000" y="3940000"/>
            <a:ext cx="197700" cy="180000"/>
          </a:xfrm>
          <a:prstGeom prst="ellipse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36000" rIns="36000" tIns="36000" bIns="36000"/>
          <a:lstStyle/>
          <a:p>
            <a:endParaRPr lang="pt-BR"/>
          </a:p>
        </p:txBody>
      </p:sp>
      <p:sp>
        <p:nvSpPr>
          <p:cNvPr id="63" name="tb63"/>
          <p:cNvSpPr txBox="1"/>
          <p:nvPr/>
        </p:nvSpPr>
        <p:spPr>
          <a:xfrm>
            <a:off x="1075695" y="3890000"/>
            <a:ext cx="26373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250" b="0" i="0">
                <a:solidFill>
                  <a:srgbClr val="1B2A4A"/>
                </a:solidFill>
                <a:latin typeface="Arial"/>
                <a:ea typeface="Arial"/>
                <a:cs typeface="Arial"/>
              </a:rPr>
              <a:t>Leitura crítica</a:t>
            </a:r>
          </a:p>
        </p:txBody>
      </p:sp>
      <p:sp>
        <p:nvSpPr>
          <p:cNvPr id="64" name="tb64"/>
          <p:cNvSpPr txBox="1"/>
          <p:nvPr/>
        </p:nvSpPr>
        <p:spPr>
          <a:xfrm>
            <a:off x="3822762" y="3890000"/>
            <a:ext cx="34065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15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Como não ser enganado por gráficos.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b10"/>
          <p:cNvSpPr txBox="1"/>
          <p:nvPr/>
        </p:nvSpPr>
        <p:spPr>
          <a:xfrm>
            <a:off x="750000" y="500000"/>
            <a:ext cx="5950000" cy="9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4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Referências do Bloco</a:t>
            </a:r>
          </a:p>
        </p:txBody>
      </p:sp>
      <p:sp>
        <p:nvSpPr>
          <p:cNvPr id="11" name="rect11"/>
          <p:cNvSpPr/>
          <p:nvPr/>
        </p:nvSpPr>
        <p:spPr>
          <a:xfrm>
            <a:off x="750005" y="905100"/>
            <a:ext cx="15000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12" name="tb12"/>
          <p:cNvSpPr txBox="1"/>
          <p:nvPr/>
        </p:nvSpPr>
        <p:spPr>
          <a:xfrm>
            <a:off x="750000" y="1330000"/>
            <a:ext cx="5950000" cy="4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400" b="1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Fontes citadas ao longo do conteúdo</a:t>
            </a:r>
          </a:p>
        </p:txBody>
      </p:sp>
      <p:sp>
        <p:nvSpPr>
          <p:cNvPr id="50" name="tb50"/>
          <p:cNvSpPr txBox="1"/>
          <p:nvPr/>
        </p:nvSpPr>
        <p:spPr>
          <a:xfrm>
            <a:off x="750000" y="1780000"/>
            <a:ext cx="7025100" cy="235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HUFF, D. Como mentir com estatística. Rio de Janeiro: Intrínseca, 2016. (Original: How to Lie with Statistics, 1954.)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WHEELAN, C. Estatística: o que é, para que serve, como funciona. Rio de Janeiro: Zahar, 2016.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NUNES, M. Jurimetria: como a estatística pode reinventar o Direito. 2. ed. São Paulo: Revista dos Tribunais, 2019.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SILVER, N. O sinal e o ruído: por que tantas previsões falham e outras não. Rio de Janeiro: Intrínseca, 2013.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JAMES, G.; WITTEN, D.; HASTIE, T.; TIBSHIRANI, R. An Introduction to Statistical Learning. 2. ed. New York: Springer, 2021.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CONSELHO NACIONAL DE JUSTIÇA. Justiça em Números 2024. Brasília: CNJ, 2024.</a:t>
            </a:r>
          </a:p>
          <a:p>
            <a:pPr lvl="0" marL="0" indent="0" algn="l">
              <a:lnSpc>
                <a:spcPct val="115000"/>
              </a:lnSpc>
              <a:spcBef>
                <a:spcPts val="250"/>
              </a:spcBef>
              <a:buNone/>
            </a:pPr>
            <a:r>
              <a:rPr lang="pt-BR" sz="1000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KATZ, D.; BOMMARITO, M. Quantitative Legal Prediction. Emory Law Journal, v. 62, 2013.</a:t>
            </a:r>
          </a:p>
        </p:txBody>
      </p:sp>
      <p:sp>
        <p:nvSpPr>
          <p:cNvPr id="51" name="tb51"/>
          <p:cNvSpPr txBox="1"/>
          <p:nvPr/>
        </p:nvSpPr>
        <p:spPr>
          <a:xfrm>
            <a:off x="750000" y="4250000"/>
            <a:ext cx="5950000" cy="30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0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Leituras complementares estarão indicadas ao longo dos próximos blocos.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" name="gr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b30"/>
          <p:cNvSpPr txBox="1"/>
          <p:nvPr/>
        </p:nvSpPr>
        <p:spPr>
          <a:xfrm>
            <a:off x="822950" y="914400"/>
            <a:ext cx="5486400" cy="7314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3600" b="1" i="0">
                <a:solidFill>
                  <a:srgbClr val="1B2A4A"/>
                </a:solidFill>
                <a:latin typeface="Arial Black"/>
                <a:ea typeface="Arial Black"/>
                <a:cs typeface="Arial Black"/>
              </a:rPr>
              <a:t>Fim do Bloco 1</a:t>
            </a:r>
          </a:p>
        </p:txBody>
      </p:sp>
      <p:sp>
        <p:nvSpPr>
          <p:cNvPr id="31" name="rect31"/>
          <p:cNvSpPr/>
          <p:nvPr/>
        </p:nvSpPr>
        <p:spPr>
          <a:xfrm>
            <a:off x="822950" y="1691640"/>
            <a:ext cx="1828800" cy="54900"/>
          </a:xfrm>
          <a:prstGeom prst="rect">
            <a:avLst/>
          </a:prstGeom>
          <a:solidFill>
            <a:srgbClr val="E8A317"/>
          </a:solidFill>
          <a:ln>
            <a:noFill/>
          </a:ln>
        </p:spPr>
        <p:txBody>
          <a:bodyPr wrap="square" anchor="ctr" lIns="180000" rIns="180000" tIns="120000" bIns="120000"/>
          <a:lstStyle/>
          <a:p>
            <a:endParaRPr lang="pt-BR"/>
          </a:p>
        </p:txBody>
      </p:sp>
      <p:sp>
        <p:nvSpPr>
          <p:cNvPr id="32" name="tb32"/>
          <p:cNvSpPr txBox="1"/>
          <p:nvPr/>
        </p:nvSpPr>
        <p:spPr>
          <a:xfrm>
            <a:off x="822950" y="2391995"/>
            <a:ext cx="5486400" cy="4572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2000" b="0" i="0">
                <a:solidFill>
                  <a:srgbClr val="E8A317"/>
                </a:solidFill>
                <a:latin typeface="Arial"/>
                <a:ea typeface="Arial"/>
                <a:cs typeface="Arial"/>
              </a:rPr>
              <a:t>Intervalo de 15 minutos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822945" y="2849200"/>
            <a:ext cx="5486400" cy="360000"/>
          </a:xfrm>
          <a:prstGeom prst="rect">
            <a:avLst/>
          </a:prstGeom>
          <a:noFill/>
        </p:spPr>
        <p:txBody>
          <a:bodyPr wrap="square" anchor="t" lIns="91440" rIns="91440" tIns="45720" bIns="45720"/>
          <a:lstStyle/>
          <a:p>
            <a:pPr lvl="0"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pt-BR" sz="1300" b="0" i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 Bloco 2: Etapa 6 do ciclo (apresentação dos resultados), distribuições e visualização para o operador do Direito.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2026-02-14T20:12:37Z</dcterms:created>
  <dc:creator>Bruno Daleffi</dc:creator>
</cp:coreProperties>
</file>